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heme/theme2.xml" ContentType="application/vnd.openxmlformats-officedocument.theme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74" r:id="rId5"/>
    <p:sldId id="281" r:id="rId6"/>
    <p:sldId id="270" r:id="rId7"/>
    <p:sldId id="275" r:id="rId8"/>
    <p:sldId id="276" r:id="rId9"/>
    <p:sldId id="277" r:id="rId10"/>
    <p:sldId id="271" r:id="rId11"/>
    <p:sldId id="278" r:id="rId12"/>
    <p:sldId id="279" r:id="rId13"/>
    <p:sldId id="280" r:id="rId14"/>
    <p:sldId id="282" r:id="rId15"/>
    <p:sldId id="283" r:id="rId16"/>
    <p:sldId id="284" r:id="rId17"/>
    <p:sldId id="285" r:id="rId18"/>
    <p:sldId id="272" r:id="rId19"/>
    <p:sldId id="273" r:id="rId20"/>
    <p:sldId id="259" r:id="rId21"/>
    <p:sldId id="261" r:id="rId22"/>
    <p:sldId id="262" r:id="rId23"/>
    <p:sldId id="263" r:id="rId24"/>
    <p:sldId id="265" r:id="rId25"/>
    <p:sldId id="266" r:id="rId26"/>
    <p:sldId id="268" r:id="rId27"/>
    <p:sldId id="269" r:id="rId28"/>
    <p:sldId id="267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引入" id="{7B3DE477-2212-43AF-87AE-903F0FA47FF9}">
          <p14:sldIdLst>
            <p14:sldId id="256"/>
            <p14:sldId id="257"/>
          </p14:sldIdLst>
        </p14:section>
        <p14:section name="课题概述" id="{3922FD5A-147A-486D-8B24-8BB0BABCC2F4}">
          <p14:sldIdLst>
            <p14:sldId id="258"/>
            <p14:sldId id="274"/>
            <p14:sldId id="281"/>
          </p14:sldIdLst>
        </p14:section>
        <p14:section name="项目结构" id="{944A7B21-9A08-4765-A417-277EBC268A32}">
          <p14:sldIdLst>
            <p14:sldId id="270"/>
            <p14:sldId id="275"/>
            <p14:sldId id="276"/>
            <p14:sldId id="277"/>
          </p14:sldIdLst>
        </p14:section>
        <p14:section name="实验过程" id="{035F7B5E-5809-4D70-AC42-04E6C5771A80}">
          <p14:sldIdLst>
            <p14:sldId id="271"/>
            <p14:sldId id="278"/>
            <p14:sldId id="279"/>
            <p14:sldId id="280"/>
            <p14:sldId id="282"/>
            <p14:sldId id="283"/>
            <p14:sldId id="284"/>
            <p14:sldId id="285"/>
          </p14:sldIdLst>
        </p14:section>
        <p14:section name="实验结果与结论" id="{4F8FB5E8-29D8-40F7-84DF-DA85B461F1C3}">
          <p14:sldIdLst>
            <p14:sldId id="272"/>
          </p14:sldIdLst>
        </p14:section>
        <p14:section name="小组分工" id="{4D295109-4428-4BAE-9725-20A8B7A30473}">
          <p14:sldIdLst>
            <p14:sldId id="273"/>
          </p14:sldIdLst>
        </p14:section>
        <p14:section name="模板" id="{B926E4A8-2C35-462F-9D3B-1403B3A46BA2}">
          <p14:sldIdLst>
            <p14:sldId id="259"/>
            <p14:sldId id="261"/>
            <p14:sldId id="262"/>
            <p14:sldId id="263"/>
            <p14:sldId id="265"/>
            <p14:sldId id="266"/>
            <p14:sldId id="268"/>
            <p14:sldId id="269"/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75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4273"/>
    <a:srgbClr val="D9D9D9"/>
    <a:srgbClr val="F2F2F2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220" y="80"/>
      </p:cViewPr>
      <p:guideLst>
        <p:guide orient="horz" pos="2275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>
                <a:sym typeface="+mn-ea"/>
              </a:rP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2025/6/2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  <a:t>2025/6/2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022465"/>
            <a:ext cx="12192000" cy="255158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961991" y="2083376"/>
            <a:ext cx="8268018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zh-CN" altLang="en-US" sz="6000" b="1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算法设计与分析大作业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3930173" y="3106024"/>
            <a:ext cx="43316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微软雅黑" panose="020B0503020204020204" pitchFamily="34" charset="-122"/>
              </a:rPr>
              <a:t>选题：算法改进</a:t>
            </a:r>
            <a:endParaRPr lang="en-US" altLang="zh-CN" sz="2800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  <a:cs typeface="微软雅黑" panose="020B0503020204020204" pitchFamily="3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3060700" y="3688805"/>
            <a:ext cx="60458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组长：谢雨航</a:t>
            </a:r>
            <a:r>
              <a:rPr lang="en-US" altLang="zh-CN" sz="20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 </a:t>
            </a:r>
            <a:r>
              <a:rPr lang="zh-CN" altLang="en-US" sz="20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组员：陈添硕、许英帅</a:t>
            </a:r>
            <a:endParaRPr lang="en-US" altLang="zh-CN" sz="2000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7" name="直角三角形 16"/>
          <p:cNvSpPr/>
          <p:nvPr/>
        </p:nvSpPr>
        <p:spPr>
          <a:xfrm rot="16200000">
            <a:off x="11381740" y="3763794"/>
            <a:ext cx="791845" cy="828675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3" name="直角三角形 2">
            <a:extLst>
              <a:ext uri="{FF2B5EF4-FFF2-40B4-BE49-F238E27FC236}">
                <a16:creationId xmlns:a16="http://schemas.microsoft.com/office/drawing/2014/main" id="{BDA7E4ED-7CB7-76DF-3B72-3386C8C83C89}"/>
              </a:ext>
            </a:extLst>
          </p:cNvPr>
          <p:cNvSpPr/>
          <p:nvPr/>
        </p:nvSpPr>
        <p:spPr>
          <a:xfrm rot="5400000">
            <a:off x="18415" y="2003881"/>
            <a:ext cx="791845" cy="828675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5" name="直角三角形 14">
            <a:extLst>
              <a:ext uri="{FF2B5EF4-FFF2-40B4-BE49-F238E27FC236}">
                <a16:creationId xmlns:a16="http://schemas.microsoft.com/office/drawing/2014/main" id="{57387F93-FBA5-01FE-2DAE-B4D5AA6B0E33}"/>
              </a:ext>
            </a:extLst>
          </p:cNvPr>
          <p:cNvSpPr/>
          <p:nvPr/>
        </p:nvSpPr>
        <p:spPr>
          <a:xfrm>
            <a:off x="0" y="3745379"/>
            <a:ext cx="791845" cy="828675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8" name="直角三角形 17">
            <a:extLst>
              <a:ext uri="{FF2B5EF4-FFF2-40B4-BE49-F238E27FC236}">
                <a16:creationId xmlns:a16="http://schemas.microsoft.com/office/drawing/2014/main" id="{5D6FA338-F817-A726-BC16-8526A0AA422C}"/>
              </a:ext>
            </a:extLst>
          </p:cNvPr>
          <p:cNvSpPr/>
          <p:nvPr/>
        </p:nvSpPr>
        <p:spPr>
          <a:xfrm rot="10800000">
            <a:off x="11400155" y="2022296"/>
            <a:ext cx="791845" cy="828675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97E5150-7ABE-AF3F-2D75-452179B6F00F}"/>
              </a:ext>
            </a:extLst>
          </p:cNvPr>
          <p:cNvSpPr txBox="1"/>
          <p:nvPr/>
        </p:nvSpPr>
        <p:spPr>
          <a:xfrm>
            <a:off x="3073081" y="4135776"/>
            <a:ext cx="60458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任课教师：刘春凤、宫秀军</a:t>
            </a:r>
            <a:endParaRPr lang="en-US" altLang="zh-CN" sz="2000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E2BAD8C3-CF28-63B3-7247-28FB09BB31A4}"/>
              </a:ext>
            </a:extLst>
          </p:cNvPr>
          <p:cNvGrpSpPr/>
          <p:nvPr/>
        </p:nvGrpSpPr>
        <p:grpSpPr>
          <a:xfrm rot="5400000">
            <a:off x="1472130" y="-1105776"/>
            <a:ext cx="1740535" cy="4251960"/>
            <a:chOff x="3263900" y="1682750"/>
            <a:chExt cx="1740535" cy="4251960"/>
          </a:xfrm>
        </p:grpSpPr>
        <p:sp>
          <p:nvSpPr>
            <p:cNvPr id="4" name="矩形 3"/>
            <p:cNvSpPr/>
            <p:nvPr/>
          </p:nvSpPr>
          <p:spPr>
            <a:xfrm rot="16200000">
              <a:off x="2260233" y="3187199"/>
              <a:ext cx="3735804" cy="1243061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zh-CN" altLang="en-US" sz="4000">
                  <a:latin typeface="Consolas" panose="020B0609020204030204" pitchFamily="49" charset="0"/>
                  <a:ea typeface="华文中宋" panose="02010600040101010101" pitchFamily="2" charset="-122"/>
                </a:rPr>
                <a:t>目录</a:t>
              </a:r>
              <a:endParaRPr lang="en-US" altLang="zh-CN" sz="4000"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algn="ctr"/>
              <a:r>
                <a:rPr lang="en-US" altLang="zh-CN" sz="2800">
                  <a:latin typeface="Consolas" panose="020B0609020204030204" pitchFamily="49" charset="0"/>
                  <a:ea typeface="华文中宋" panose="02010600040101010101" pitchFamily="2" charset="-122"/>
                </a:rPr>
                <a:t>Content</a:t>
              </a:r>
              <a:endParaRPr lang="zh-CN" altLang="en-US" sz="2800">
                <a:latin typeface="Consolas" panose="020B0609020204030204" pitchFamily="49" charset="0"/>
                <a:ea typeface="华文中宋" panose="02010600040101010101" pitchFamily="2" charset="-122"/>
              </a:endParaRPr>
            </a:p>
          </p:txBody>
        </p:sp>
        <p:grpSp>
          <p:nvGrpSpPr>
            <p:cNvPr id="19" name="组合 18"/>
            <p:cNvGrpSpPr/>
            <p:nvPr/>
          </p:nvGrpSpPr>
          <p:grpSpPr>
            <a:xfrm>
              <a:off x="3263900" y="4796790"/>
              <a:ext cx="1734820" cy="1137920"/>
              <a:chOff x="5056" y="7512"/>
              <a:chExt cx="2732" cy="1792"/>
            </a:xfrm>
          </p:grpSpPr>
          <p:sp>
            <p:nvSpPr>
              <p:cNvPr id="16" name="矩形 15"/>
              <p:cNvSpPr/>
              <p:nvPr/>
            </p:nvSpPr>
            <p:spPr>
              <a:xfrm>
                <a:off x="5056" y="7512"/>
                <a:ext cx="143" cy="179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矩形 16"/>
              <p:cNvSpPr/>
              <p:nvPr/>
            </p:nvSpPr>
            <p:spPr>
              <a:xfrm>
                <a:off x="7646" y="7512"/>
                <a:ext cx="143" cy="179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5198" y="9162"/>
                <a:ext cx="2438" cy="13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0" name="组合 19"/>
            <p:cNvGrpSpPr/>
            <p:nvPr/>
          </p:nvGrpSpPr>
          <p:grpSpPr>
            <a:xfrm rot="10800000">
              <a:off x="3269615" y="1682750"/>
              <a:ext cx="1734820" cy="1137920"/>
              <a:chOff x="5056" y="7512"/>
              <a:chExt cx="2732" cy="1792"/>
            </a:xfrm>
          </p:grpSpPr>
          <p:sp>
            <p:nvSpPr>
              <p:cNvPr id="21" name="矩形 20"/>
              <p:cNvSpPr/>
              <p:nvPr/>
            </p:nvSpPr>
            <p:spPr>
              <a:xfrm>
                <a:off x="5056" y="7512"/>
                <a:ext cx="143" cy="179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/>
              <p:cNvSpPr/>
              <p:nvPr/>
            </p:nvSpPr>
            <p:spPr>
              <a:xfrm>
                <a:off x="7646" y="7512"/>
                <a:ext cx="143" cy="179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/>
              <p:cNvSpPr/>
              <p:nvPr/>
            </p:nvSpPr>
            <p:spPr>
              <a:xfrm>
                <a:off x="5198" y="9162"/>
                <a:ext cx="2438" cy="13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7" name="文本框 6"/>
          <p:cNvSpPr txBox="1"/>
          <p:nvPr/>
        </p:nvSpPr>
        <p:spPr>
          <a:xfrm>
            <a:off x="6186420" y="1014171"/>
            <a:ext cx="311287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课题概述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25FE752-5C58-1213-81E7-4EBE80162276}"/>
              </a:ext>
            </a:extLst>
          </p:cNvPr>
          <p:cNvSpPr txBox="1"/>
          <p:nvPr/>
        </p:nvSpPr>
        <p:spPr>
          <a:xfrm>
            <a:off x="6186420" y="2121225"/>
            <a:ext cx="311287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项目结构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6560D94-2051-E6E9-A0FD-4AD3EA7CFE16}"/>
              </a:ext>
            </a:extLst>
          </p:cNvPr>
          <p:cNvSpPr txBox="1"/>
          <p:nvPr/>
        </p:nvSpPr>
        <p:spPr>
          <a:xfrm>
            <a:off x="6186420" y="3228279"/>
            <a:ext cx="311287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实验过程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9B4B0DB-8BB1-843F-1C54-791777F3137A}"/>
              </a:ext>
            </a:extLst>
          </p:cNvPr>
          <p:cNvSpPr txBox="1"/>
          <p:nvPr/>
        </p:nvSpPr>
        <p:spPr>
          <a:xfrm>
            <a:off x="6186420" y="4335333"/>
            <a:ext cx="6066622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实验结果与结论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C6E0942-1125-3FBB-BA47-2819B7D2D73E}"/>
              </a:ext>
            </a:extLst>
          </p:cNvPr>
          <p:cNvSpPr txBox="1"/>
          <p:nvPr/>
        </p:nvSpPr>
        <p:spPr>
          <a:xfrm>
            <a:off x="6186420" y="5442387"/>
            <a:ext cx="311287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小组分工</a:t>
            </a: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FBCF5B5-B5A4-455B-B97F-18E88E1C03E9}"/>
              </a:ext>
            </a:extLst>
          </p:cNvPr>
          <p:cNvSpPr/>
          <p:nvPr/>
        </p:nvSpPr>
        <p:spPr>
          <a:xfrm>
            <a:off x="-622601" y="4667773"/>
            <a:ext cx="2964999" cy="2964999"/>
          </a:xfrm>
          <a:prstGeom prst="ellipse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39AC8301-9510-161D-FEEF-F431D61F01F9}"/>
              </a:ext>
            </a:extLst>
          </p:cNvPr>
          <p:cNvSpPr/>
          <p:nvPr/>
        </p:nvSpPr>
        <p:spPr>
          <a:xfrm>
            <a:off x="673801" y="3598563"/>
            <a:ext cx="637641" cy="637641"/>
          </a:xfrm>
          <a:prstGeom prst="ellipse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8660DB20-53EB-C18D-7524-C28FEB8BA3C2}"/>
              </a:ext>
            </a:extLst>
          </p:cNvPr>
          <p:cNvSpPr/>
          <p:nvPr/>
        </p:nvSpPr>
        <p:spPr>
          <a:xfrm>
            <a:off x="1508242" y="4315018"/>
            <a:ext cx="400437" cy="400437"/>
          </a:xfrm>
          <a:prstGeom prst="ellipse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BB0D9B69-6AD1-227A-E5A5-801E28A43263}"/>
              </a:ext>
            </a:extLst>
          </p:cNvPr>
          <p:cNvSpPr/>
          <p:nvPr/>
        </p:nvSpPr>
        <p:spPr>
          <a:xfrm>
            <a:off x="2454833" y="3740218"/>
            <a:ext cx="1550036" cy="1550036"/>
          </a:xfrm>
          <a:prstGeom prst="ellipse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14:prism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课题概述</a:t>
            </a:r>
          </a:p>
        </p:txBody>
      </p:sp>
      <p:cxnSp>
        <p:nvCxnSpPr>
          <p:cNvPr id="32" name="直接连接符 31"/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3FC41E73-E696-1B9B-DF68-1722D0B3B147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/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/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/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3C4DAB68-012D-6D3A-1BBC-850CD14F3125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817E435F-C114-793C-3DDA-7F94390B42CF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F7898038-EF49-FBEE-0FFC-C5BB598055F8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CDAB24DD-6E19-B5E2-6242-AA569DCFC750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DA63B20D-4ACF-967B-3F6B-69F75BA59E2D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DF6DC-26F0-C637-C427-0CFF929B5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6132503D-962F-32D0-DB3E-F677B5E17EA9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D3A0BD0-4840-3088-71AD-2F68699F198C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001313F-C381-124A-5B6C-798640FAAC8F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37820FC6-ECDB-8480-FAA1-09B795787D48}"/>
                </a:ext>
              </a:extLst>
            </p:cNvPr>
            <p:cNvSpPr txBox="1"/>
            <p:nvPr/>
          </p:nvSpPr>
          <p:spPr>
            <a:xfrm>
              <a:off x="861695" y="0"/>
              <a:ext cx="2887980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课题概述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91582667-BC46-A5EA-25DE-DDFD422074F9}"/>
              </a:ext>
            </a:extLst>
          </p:cNvPr>
          <p:cNvGrpSpPr/>
          <p:nvPr/>
        </p:nvGrpSpPr>
        <p:grpSpPr>
          <a:xfrm>
            <a:off x="861695" y="1154538"/>
            <a:ext cx="4901799" cy="5114645"/>
            <a:chOff x="3756602" y="1237665"/>
            <a:chExt cx="4901799" cy="5114645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1BD4A0A6-1790-ACBB-803B-CECA7F9A8788}"/>
                </a:ext>
              </a:extLst>
            </p:cNvPr>
            <p:cNvGrpSpPr/>
            <p:nvPr/>
          </p:nvGrpSpPr>
          <p:grpSpPr>
            <a:xfrm>
              <a:off x="3756602" y="1237665"/>
              <a:ext cx="4901799" cy="5114645"/>
              <a:chOff x="3201664" y="1914282"/>
              <a:chExt cx="7576826" cy="3823578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6972625F-BB3D-34D1-7521-AF8AD401E68A}"/>
                  </a:ext>
                </a:extLst>
              </p:cNvPr>
              <p:cNvSpPr/>
              <p:nvPr/>
            </p:nvSpPr>
            <p:spPr>
              <a:xfrm>
                <a:off x="320167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B75AEBD1-3645-766F-BD8C-509A811A9D7A}"/>
                  </a:ext>
                </a:extLst>
              </p:cNvPr>
              <p:cNvSpPr/>
              <p:nvPr/>
            </p:nvSpPr>
            <p:spPr>
              <a:xfrm>
                <a:off x="1067816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28627D4-941A-00AE-03E8-7D7B0CC4C0B7}"/>
                  </a:ext>
                </a:extLst>
              </p:cNvPr>
              <p:cNvSpPr/>
              <p:nvPr/>
            </p:nvSpPr>
            <p:spPr>
              <a:xfrm rot="5400000">
                <a:off x="4822825" y="67373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A83372DF-717F-68DE-6B6D-D8B7A426ED6D}"/>
                  </a:ext>
                </a:extLst>
              </p:cNvPr>
              <p:cNvSpPr/>
              <p:nvPr/>
            </p:nvSpPr>
            <p:spPr>
              <a:xfrm rot="5400000">
                <a:off x="8956675" y="401637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3241292-B850-4FC5-F0AB-312C925C241A}"/>
                  </a:ext>
                </a:extLst>
              </p:cNvPr>
              <p:cNvSpPr txBox="1"/>
              <p:nvPr/>
            </p:nvSpPr>
            <p:spPr>
              <a:xfrm>
                <a:off x="3201664" y="1914282"/>
                <a:ext cx="3342641" cy="391146"/>
              </a:xfrm>
              <a:prstGeom prst="rect">
                <a:avLst/>
              </a:prstGeom>
              <a:noFill/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800" b="1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微软雅黑" panose="020B0503020204020204" pitchFamily="34" charset="-122"/>
                  </a:rPr>
                  <a:t>主题选择</a:t>
                </a:r>
                <a:endParaRPr lang="en-US" altLang="zh-CN" sz="2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微软雅黑" panose="020B0503020204020204" pitchFamily="34" charset="-122"/>
                </a:endParaRPr>
              </a:p>
            </p:txBody>
          </p:sp>
        </p:grp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24E2E0F9-D960-ED9F-154C-7B6D233345B2}"/>
                </a:ext>
              </a:extLst>
            </p:cNvPr>
            <p:cNvSpPr txBox="1"/>
            <p:nvPr/>
          </p:nvSpPr>
          <p:spPr>
            <a:xfrm>
              <a:off x="4117754" y="2270008"/>
              <a:ext cx="4179488" cy="33509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我们选择了第</a:t>
              </a:r>
              <a:r>
                <a:rPr lang="en-US" altLang="zh-CN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1</a:t>
              </a: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个主题：算法改进类。我们希望在某一个</a:t>
              </a:r>
              <a:r>
                <a:rPr lang="en-US" altLang="zh-CN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NP</a:t>
              </a: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难问题上，通过不同的算法策略，以及针对某一算法策略进行改进，以得到更好的性能与更准确的结果。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32B3607B-ED81-AB21-4F07-1F71AE3614F5}"/>
              </a:ext>
            </a:extLst>
          </p:cNvPr>
          <p:cNvGrpSpPr/>
          <p:nvPr/>
        </p:nvGrpSpPr>
        <p:grpSpPr>
          <a:xfrm>
            <a:off x="6428508" y="1154538"/>
            <a:ext cx="4901799" cy="5114645"/>
            <a:chOff x="3756602" y="1237665"/>
            <a:chExt cx="4901799" cy="5114645"/>
          </a:xfrm>
        </p:grpSpPr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BB451057-AFDD-3442-D613-3B4F8DB8D07C}"/>
                </a:ext>
              </a:extLst>
            </p:cNvPr>
            <p:cNvGrpSpPr/>
            <p:nvPr/>
          </p:nvGrpSpPr>
          <p:grpSpPr>
            <a:xfrm>
              <a:off x="3756602" y="1237665"/>
              <a:ext cx="4901799" cy="5114645"/>
              <a:chOff x="3201664" y="1914282"/>
              <a:chExt cx="7576826" cy="3823578"/>
            </a:xfrm>
          </p:grpSpPr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96B2A680-E930-4C27-A50C-9903AD080C88}"/>
                  </a:ext>
                </a:extLst>
              </p:cNvPr>
              <p:cNvSpPr/>
              <p:nvPr/>
            </p:nvSpPr>
            <p:spPr>
              <a:xfrm>
                <a:off x="320167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9C2D55F9-8B88-CE16-ACB9-C336EB92FFA3}"/>
                  </a:ext>
                </a:extLst>
              </p:cNvPr>
              <p:cNvSpPr/>
              <p:nvPr/>
            </p:nvSpPr>
            <p:spPr>
              <a:xfrm>
                <a:off x="1067816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C5105E90-62F5-15A4-95E4-2B8A7983FA48}"/>
                  </a:ext>
                </a:extLst>
              </p:cNvPr>
              <p:cNvSpPr/>
              <p:nvPr/>
            </p:nvSpPr>
            <p:spPr>
              <a:xfrm rot="5400000">
                <a:off x="4822825" y="67373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721D68F6-D4D8-A5B3-9107-C650C5B19D13}"/>
                  </a:ext>
                </a:extLst>
              </p:cNvPr>
              <p:cNvSpPr/>
              <p:nvPr/>
            </p:nvSpPr>
            <p:spPr>
              <a:xfrm rot="5400000">
                <a:off x="8956675" y="401637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6F694131-CC42-076B-D925-445BF1684233}"/>
                  </a:ext>
                </a:extLst>
              </p:cNvPr>
              <p:cNvSpPr txBox="1"/>
              <p:nvPr/>
            </p:nvSpPr>
            <p:spPr>
              <a:xfrm>
                <a:off x="3201664" y="1914282"/>
                <a:ext cx="3342641" cy="391146"/>
              </a:xfrm>
              <a:prstGeom prst="rect">
                <a:avLst/>
              </a:prstGeom>
              <a:noFill/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800" b="1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微软雅黑" panose="020B0503020204020204" pitchFamily="34" charset="-122"/>
                  </a:rPr>
                  <a:t>问题选择</a:t>
                </a:r>
                <a:endParaRPr lang="en-US" altLang="zh-CN" sz="2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微软雅黑" panose="020B0503020204020204" pitchFamily="34" charset="-122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3F102A5C-5341-56DA-08AA-C39B2B6D1381}"/>
                </a:ext>
              </a:extLst>
            </p:cNvPr>
            <p:cNvSpPr txBox="1"/>
            <p:nvPr/>
          </p:nvSpPr>
          <p:spPr>
            <a:xfrm>
              <a:off x="4117754" y="2374091"/>
              <a:ext cx="4179488" cy="33509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我们选择了</a:t>
              </a:r>
              <a:r>
                <a:rPr lang="en-US" altLang="zh-CN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TSP</a:t>
              </a: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（旅行商）问题。我们注意到该问题数据集的的大部分数据来源于现实，具有很好的数学性质，而且扩展性强，是个很有研究意义的问题。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755067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D4EC9-11E9-3945-7DFF-0490A3105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3C7BFDC5-1F9F-E4A6-7AEC-415A9DD03E59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6DA288C-DCCC-CD73-DFF8-848FCC05AE0F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4DB24D56-F122-7388-15C6-16F37E74155C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0216B8B6-05C1-F45F-7DC8-56476184ADE8}"/>
                </a:ext>
              </a:extLst>
            </p:cNvPr>
            <p:cNvSpPr txBox="1"/>
            <p:nvPr/>
          </p:nvSpPr>
          <p:spPr>
            <a:xfrm>
              <a:off x="861695" y="0"/>
              <a:ext cx="2887980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课题概述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0DCDF4AD-0ABA-19A7-090D-98219F328FE6}"/>
              </a:ext>
            </a:extLst>
          </p:cNvPr>
          <p:cNvGrpSpPr/>
          <p:nvPr/>
        </p:nvGrpSpPr>
        <p:grpSpPr>
          <a:xfrm>
            <a:off x="1549733" y="1440335"/>
            <a:ext cx="9092533" cy="4632805"/>
            <a:chOff x="3756602" y="1237665"/>
            <a:chExt cx="4901799" cy="5114645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0E656DA3-CCFC-2E60-0157-611503CBC1BC}"/>
                </a:ext>
              </a:extLst>
            </p:cNvPr>
            <p:cNvGrpSpPr/>
            <p:nvPr/>
          </p:nvGrpSpPr>
          <p:grpSpPr>
            <a:xfrm>
              <a:off x="3756602" y="1237665"/>
              <a:ext cx="4901799" cy="5114645"/>
              <a:chOff x="3201664" y="1914282"/>
              <a:chExt cx="7576826" cy="3823578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81E3E32-B3F7-56AF-9916-A96E80D0802B}"/>
                  </a:ext>
                </a:extLst>
              </p:cNvPr>
              <p:cNvSpPr/>
              <p:nvPr/>
            </p:nvSpPr>
            <p:spPr>
              <a:xfrm>
                <a:off x="320167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765A923C-A3E8-A093-6B3D-3B8A44225E96}"/>
                  </a:ext>
                </a:extLst>
              </p:cNvPr>
              <p:cNvSpPr/>
              <p:nvPr/>
            </p:nvSpPr>
            <p:spPr>
              <a:xfrm>
                <a:off x="1067816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B48CD2FB-1EAD-A47C-116F-DF8BCE8BE663}"/>
                  </a:ext>
                </a:extLst>
              </p:cNvPr>
              <p:cNvSpPr/>
              <p:nvPr/>
            </p:nvSpPr>
            <p:spPr>
              <a:xfrm rot="5400000">
                <a:off x="4822825" y="67373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F32F2524-9A31-A06A-1986-481AC08E4831}"/>
                  </a:ext>
                </a:extLst>
              </p:cNvPr>
              <p:cNvSpPr/>
              <p:nvPr/>
            </p:nvSpPr>
            <p:spPr>
              <a:xfrm rot="5400000">
                <a:off x="8956675" y="401637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CF3495BF-E8E6-7B23-325E-8A3B4F213989}"/>
                  </a:ext>
                </a:extLst>
              </p:cNvPr>
              <p:cNvSpPr txBox="1"/>
              <p:nvPr/>
            </p:nvSpPr>
            <p:spPr>
              <a:xfrm>
                <a:off x="3201664" y="1914282"/>
                <a:ext cx="3342641" cy="391146"/>
              </a:xfrm>
              <a:prstGeom prst="rect">
                <a:avLst/>
              </a:prstGeom>
              <a:noFill/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800" b="1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微软雅黑" panose="020B0503020204020204" pitchFamily="34" charset="-122"/>
                  </a:rPr>
                  <a:t>数据特点</a:t>
                </a:r>
                <a:endParaRPr lang="en-US" altLang="zh-CN" sz="2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微软雅黑" panose="020B0503020204020204" pitchFamily="34" charset="-122"/>
                </a:endParaRPr>
              </a:p>
            </p:txBody>
          </p:sp>
        </p:grp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C7E1A786-5179-0E62-9A69-95B6B40C42AE}"/>
                </a:ext>
              </a:extLst>
            </p:cNvPr>
            <p:cNvSpPr txBox="1"/>
            <p:nvPr/>
          </p:nvSpPr>
          <p:spPr>
            <a:xfrm>
              <a:off x="4117759" y="2629243"/>
              <a:ext cx="4179488" cy="2476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我们使用的数据集具有以下特点：</a:t>
              </a:r>
              <a:endPara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457200" indent="-457200" algn="just">
                <a:lnSpc>
                  <a:spcPct val="150000"/>
                </a:lnSpc>
                <a:buAutoNum type="arabicPeriod"/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节点均为现实中的城市，坐标为真实二维坐标。</a:t>
              </a:r>
              <a:endPara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457200" indent="-457200" algn="just">
                <a:lnSpc>
                  <a:spcPct val="150000"/>
                </a:lnSpc>
                <a:buAutoNum type="arabicPeriod"/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节点间距离为欧式几何距离，满足三角不等式。</a:t>
              </a:r>
              <a:endPara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457200" indent="-457200" algn="just">
                <a:lnSpc>
                  <a:spcPct val="150000"/>
                </a:lnSpc>
                <a:buAutoNum type="arabicPeriod"/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图为无向完全图。</a:t>
              </a:r>
              <a:endPara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8744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5BFB8-9E65-42FB-EF3D-D1F95681F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F031A07-3333-20B7-13D5-BB84F74C1CAD}"/>
              </a:ext>
            </a:extLst>
          </p:cNvPr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6B9BEB7-84B2-3FDB-A6B7-6863AF772212}"/>
              </a:ext>
            </a:extLst>
          </p:cNvPr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20F147-F58F-C736-D38A-4F739E3812F4}"/>
              </a:ext>
            </a:extLst>
          </p:cNvPr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项目结构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394437A-17B0-289E-ECCA-0503EEC3F8CB}"/>
              </a:ext>
            </a:extLst>
          </p:cNvPr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0D8447C8-811B-BE2E-42CD-4253AE36C225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9F0E39C1-6109-125C-90A5-B79E085B87A4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41DDCB7B-F528-1425-A0D0-7EA880672185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406330B6-6460-BC36-394A-053A2BE08B8A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A3F42675-5DBC-A9F0-9914-61ED7B233A17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ADBB94D3-D94D-D9F4-B08D-3518FCFEF2BB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0AA7F8C9-0E6A-7655-2DBF-419ECD0AE286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5CB4EE99-DF8A-8B9F-2F8E-0882DEDF4F3E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DEDEA2F8-C427-ABBC-4164-8237F161280B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1C85C8F3-3DC1-EBD5-445B-D6DCE6B93A91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550808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911C116B-BF6D-C61A-AC17-E7000936C9AA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F4125912-149F-E893-E13B-1F21BA8B3197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8831377-1D47-FD30-4F8C-18EF0CBDD60B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8169FA98-7C38-D62B-ECAB-133A028B8FFC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项目结构</a:t>
              </a:r>
            </a:p>
          </p:txBody>
        </p:sp>
      </p:grpSp>
      <p:sp>
        <p:nvSpPr>
          <p:cNvPr id="17" name="文本框 16">
            <a:extLst>
              <a:ext uri="{FF2B5EF4-FFF2-40B4-BE49-F238E27FC236}">
                <a16:creationId xmlns:a16="http://schemas.microsoft.com/office/drawing/2014/main" id="{33B7D07C-C3E7-288C-AD24-742EF91EA55A}"/>
              </a:ext>
            </a:extLst>
          </p:cNvPr>
          <p:cNvSpPr txBox="1"/>
          <p:nvPr/>
        </p:nvSpPr>
        <p:spPr>
          <a:xfrm>
            <a:off x="1575954" y="1945933"/>
            <a:ext cx="9040091" cy="29661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 algn="just">
              <a:lnSpc>
                <a:spcPct val="150000"/>
              </a:lnSpc>
            </a:pPr>
            <a:r>
              <a:rPr lang="zh-CN" altLang="en-US" sz="320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我们使用</a:t>
            </a:r>
            <a:r>
              <a:rPr lang="en-US" altLang="zh-CN" sz="320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git</a:t>
            </a:r>
            <a:r>
              <a:rPr lang="zh-CN" altLang="en-US" sz="320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工具管理原始项目，并使用分支来管理项目进行的各个阶段。这不仅有助于清晰地规划项目，更有利于多人协作时的有痕工作和版本控制。</a:t>
            </a:r>
          </a:p>
        </p:txBody>
      </p:sp>
    </p:spTree>
    <p:extLst>
      <p:ext uri="{BB962C8B-B14F-4D97-AF65-F5344CB8AC3E}">
        <p14:creationId xmlns:p14="http://schemas.microsoft.com/office/powerpoint/2010/main" val="3280202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22415-EC18-158B-E9B0-067BE49E7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9DAC46F0-CAB7-839B-91DB-586807794EA5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23A53701-9260-6794-9033-D36E5D0A0178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145FB856-7A78-624D-60D8-DC66AA693026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145F95E-FB4B-C99D-A198-7B989C37ECAA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项目结构</a:t>
              </a:r>
            </a:p>
          </p:txBody>
        </p:sp>
      </p:grp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1C8A602-2E1E-F335-7396-BFEC3F0FBA40}"/>
              </a:ext>
            </a:extLst>
          </p:cNvPr>
          <p:cNvSpPr/>
          <p:nvPr/>
        </p:nvSpPr>
        <p:spPr>
          <a:xfrm>
            <a:off x="1128082" y="1615857"/>
            <a:ext cx="9935836" cy="4675909"/>
          </a:xfrm>
          <a:prstGeom prst="roundRect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8A7CF51-B93E-21D7-0DE5-55BE9CECC449}"/>
              </a:ext>
            </a:extLst>
          </p:cNvPr>
          <p:cNvSpPr/>
          <p:nvPr/>
        </p:nvSpPr>
        <p:spPr>
          <a:xfrm>
            <a:off x="10286999" y="838938"/>
            <a:ext cx="1553837" cy="1553837"/>
          </a:xfrm>
          <a:prstGeom prst="ellipse">
            <a:avLst/>
          </a:prstGeom>
          <a:solidFill>
            <a:srgbClr val="32427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>
                <a:latin typeface="华文中宋" panose="02010600040101010101" pitchFamily="2" charset="-122"/>
                <a:ea typeface="华文中宋" panose="02010600040101010101" pitchFamily="2" charset="-122"/>
              </a:rPr>
              <a:t>目录</a:t>
            </a:r>
            <a:endParaRPr lang="en-US" altLang="zh-CN" sz="320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/>
            <a:r>
              <a:rPr lang="zh-CN" altLang="en-US" sz="3200">
                <a:latin typeface="华文中宋" panose="02010600040101010101" pitchFamily="2" charset="-122"/>
                <a:ea typeface="华文中宋" panose="02010600040101010101" pitchFamily="2" charset="-122"/>
              </a:rPr>
              <a:t>结构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052EA92-18AD-4531-C35D-25946785DAE3}"/>
              </a:ext>
            </a:extLst>
          </p:cNvPr>
          <p:cNvSpPr txBox="1"/>
          <p:nvPr/>
        </p:nvSpPr>
        <p:spPr>
          <a:xfrm>
            <a:off x="1887682" y="1659255"/>
            <a:ext cx="8416636" cy="446372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Project</a:t>
            </a: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- resource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项目资源文件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  - papers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论文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  - testcases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测试用例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- src	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算法代码源文件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  - EXACT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可求得精确解的算法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  - APPRO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可求得近似解的算法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- result	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输出文件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43466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D14BF-E3DC-2BDD-4A8C-159509908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F2B03387-808B-2B51-C2FA-DB3E0B8A2288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7FBDFE2B-A637-FABE-3DAC-4028B4D5A2D9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88550C8-ABA1-9E63-AC78-22793760B769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83CB1C7-5E5B-18E5-2B4C-1EB47F914050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项目结构</a:t>
              </a:r>
            </a:p>
          </p:txBody>
        </p:sp>
      </p:grp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8D811EF-D1B5-A419-562E-AA372EE12416}"/>
              </a:ext>
            </a:extLst>
          </p:cNvPr>
          <p:cNvSpPr/>
          <p:nvPr/>
        </p:nvSpPr>
        <p:spPr>
          <a:xfrm>
            <a:off x="1128082" y="1615857"/>
            <a:ext cx="9935836" cy="4675909"/>
          </a:xfrm>
          <a:prstGeom prst="roundRect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EC4E714-A654-AAF5-7F02-17AF16C757F1}"/>
              </a:ext>
            </a:extLst>
          </p:cNvPr>
          <p:cNvSpPr/>
          <p:nvPr/>
        </p:nvSpPr>
        <p:spPr>
          <a:xfrm>
            <a:off x="10286999" y="838938"/>
            <a:ext cx="1553837" cy="1553837"/>
          </a:xfrm>
          <a:prstGeom prst="ellipse">
            <a:avLst/>
          </a:prstGeom>
          <a:solidFill>
            <a:srgbClr val="32427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>
                <a:latin typeface="华文中宋" panose="02010600040101010101" pitchFamily="2" charset="-122"/>
                <a:ea typeface="华文中宋" panose="02010600040101010101" pitchFamily="2" charset="-122"/>
              </a:rPr>
              <a:t>分支</a:t>
            </a:r>
            <a:endParaRPr lang="en-US" altLang="zh-CN" sz="320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/>
            <a:r>
              <a:rPr lang="zh-CN" altLang="en-US" sz="3200">
                <a:latin typeface="华文中宋" panose="02010600040101010101" pitchFamily="2" charset="-122"/>
                <a:ea typeface="华文中宋" panose="02010600040101010101" pitchFamily="2" charset="-122"/>
              </a:rPr>
              <a:t>结构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9C417FE9-FE9E-F3C8-AF75-48F6520B2644}"/>
              </a:ext>
            </a:extLst>
          </p:cNvPr>
          <p:cNvGrpSpPr/>
          <p:nvPr/>
        </p:nvGrpSpPr>
        <p:grpSpPr>
          <a:xfrm>
            <a:off x="2305685" y="1776358"/>
            <a:ext cx="2959042" cy="2289951"/>
            <a:chOff x="2305685" y="1776358"/>
            <a:chExt cx="2959042" cy="2289951"/>
          </a:xfrm>
        </p:grpSpPr>
        <p:sp>
          <p:nvSpPr>
            <p:cNvPr id="9" name="箭头: 手杖形 8">
              <a:extLst>
                <a:ext uri="{FF2B5EF4-FFF2-40B4-BE49-F238E27FC236}">
                  <a16:creationId xmlns:a16="http://schemas.microsoft.com/office/drawing/2014/main" id="{8CE4C88A-B085-1A56-9A71-EDCD0030FFAD}"/>
                </a:ext>
              </a:extLst>
            </p:cNvPr>
            <p:cNvSpPr/>
            <p:nvPr/>
          </p:nvSpPr>
          <p:spPr>
            <a:xfrm>
              <a:off x="2305685" y="1898073"/>
              <a:ext cx="2959042" cy="2168236"/>
            </a:xfrm>
            <a:prstGeom prst="uturnArrow">
              <a:avLst>
                <a:gd name="adj1" fmla="val 12857"/>
                <a:gd name="adj2" fmla="val 22744"/>
                <a:gd name="adj3" fmla="val 26504"/>
                <a:gd name="adj4" fmla="val 28712"/>
                <a:gd name="adj5" fmla="val 86821"/>
              </a:avLst>
            </a:prstGeom>
            <a:solidFill>
              <a:srgbClr val="D9D9D9"/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E1F52208-75E3-2816-9F30-F6DF84071191}"/>
                </a:ext>
              </a:extLst>
            </p:cNvPr>
            <p:cNvGrpSpPr/>
            <p:nvPr/>
          </p:nvGrpSpPr>
          <p:grpSpPr>
            <a:xfrm>
              <a:off x="2454793" y="1776358"/>
              <a:ext cx="2300605" cy="893618"/>
              <a:chOff x="2634903" y="1854980"/>
              <a:chExt cx="2300605" cy="1297202"/>
            </a:xfrm>
          </p:grpSpPr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FE8CFD4E-3009-85A9-7B5C-3DA63A2F22A3}"/>
                  </a:ext>
                </a:extLst>
              </p:cNvPr>
              <p:cNvSpPr/>
              <p:nvPr/>
            </p:nvSpPr>
            <p:spPr>
              <a:xfrm>
                <a:off x="2634903" y="1854980"/>
                <a:ext cx="2300605" cy="1297202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6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CE21E16C-0FE5-74C4-4ECD-17011568764B}"/>
                  </a:ext>
                </a:extLst>
              </p:cNvPr>
              <p:cNvSpPr txBox="1"/>
              <p:nvPr/>
            </p:nvSpPr>
            <p:spPr>
              <a:xfrm>
                <a:off x="2634903" y="2168497"/>
                <a:ext cx="2300605" cy="6701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rgbClr val="324273"/>
                    </a:solidFill>
                    <a:latin typeface="Consolas" panose="020B0609020204030204" pitchFamily="49" charset="0"/>
                  </a:rPr>
                  <a:t>data-process</a:t>
                </a:r>
                <a:endParaRPr lang="zh-CN" altLang="en-US" sz="2400">
                  <a:solidFill>
                    <a:srgbClr val="324273"/>
                  </a:solidFill>
                  <a:latin typeface="Consolas" panose="020B0609020204030204" pitchFamily="49" charset="0"/>
                </a:endParaRPr>
              </a:p>
            </p:txBody>
          </p:sp>
        </p:grp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865BC3C4-C855-F144-D680-793B17EB810C}"/>
              </a:ext>
            </a:extLst>
          </p:cNvPr>
          <p:cNvGrpSpPr/>
          <p:nvPr/>
        </p:nvGrpSpPr>
        <p:grpSpPr>
          <a:xfrm flipV="1">
            <a:off x="3106229" y="3872429"/>
            <a:ext cx="2959042" cy="2289951"/>
            <a:chOff x="2305685" y="1776358"/>
            <a:chExt cx="2959042" cy="2289951"/>
          </a:xfrm>
        </p:grpSpPr>
        <p:sp>
          <p:nvSpPr>
            <p:cNvPr id="25" name="箭头: 手杖形 24">
              <a:extLst>
                <a:ext uri="{FF2B5EF4-FFF2-40B4-BE49-F238E27FC236}">
                  <a16:creationId xmlns:a16="http://schemas.microsoft.com/office/drawing/2014/main" id="{01CBA651-BB08-4F6D-3920-3B64A7632564}"/>
                </a:ext>
              </a:extLst>
            </p:cNvPr>
            <p:cNvSpPr/>
            <p:nvPr/>
          </p:nvSpPr>
          <p:spPr>
            <a:xfrm>
              <a:off x="2305685" y="1898073"/>
              <a:ext cx="2959042" cy="2168236"/>
            </a:xfrm>
            <a:prstGeom prst="uturnArrow">
              <a:avLst>
                <a:gd name="adj1" fmla="val 12857"/>
                <a:gd name="adj2" fmla="val 22744"/>
                <a:gd name="adj3" fmla="val 26504"/>
                <a:gd name="adj4" fmla="val 28712"/>
                <a:gd name="adj5" fmla="val 86821"/>
              </a:avLst>
            </a:prstGeom>
            <a:solidFill>
              <a:srgbClr val="D9D9D9"/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93C4ED80-A076-C045-8D40-1EC57495B06D}"/>
                </a:ext>
              </a:extLst>
            </p:cNvPr>
            <p:cNvGrpSpPr/>
            <p:nvPr/>
          </p:nvGrpSpPr>
          <p:grpSpPr>
            <a:xfrm>
              <a:off x="2454793" y="1776358"/>
              <a:ext cx="2300605" cy="893618"/>
              <a:chOff x="2634903" y="1854980"/>
              <a:chExt cx="2300605" cy="1297202"/>
            </a:xfrm>
          </p:grpSpPr>
          <p:sp>
            <p:nvSpPr>
              <p:cNvPr id="27" name="椭圆 26">
                <a:extLst>
                  <a:ext uri="{FF2B5EF4-FFF2-40B4-BE49-F238E27FC236}">
                    <a16:creationId xmlns:a16="http://schemas.microsoft.com/office/drawing/2014/main" id="{76A608DA-C687-7E3B-3AD4-080C2F79EC46}"/>
                  </a:ext>
                </a:extLst>
              </p:cNvPr>
              <p:cNvSpPr/>
              <p:nvPr/>
            </p:nvSpPr>
            <p:spPr>
              <a:xfrm>
                <a:off x="2634903" y="1854980"/>
                <a:ext cx="2300605" cy="1297202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6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47A4E97D-5F22-5BA5-EB17-40B17365A69B}"/>
                  </a:ext>
                </a:extLst>
              </p:cNvPr>
              <p:cNvSpPr txBox="1"/>
              <p:nvPr/>
            </p:nvSpPr>
            <p:spPr>
              <a:xfrm rot="10800000">
                <a:off x="2634903" y="2168497"/>
                <a:ext cx="2300605" cy="6701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rgbClr val="324273"/>
                    </a:solidFill>
                    <a:latin typeface="Consolas" panose="020B0609020204030204" pitchFamily="49" charset="0"/>
                  </a:rPr>
                  <a:t>code</a:t>
                </a:r>
                <a:endParaRPr lang="zh-CN" altLang="en-US" sz="2400">
                  <a:solidFill>
                    <a:srgbClr val="324273"/>
                  </a:solidFill>
                  <a:latin typeface="Consolas" panose="020B0609020204030204" pitchFamily="49" charset="0"/>
                </a:endParaRPr>
              </a:p>
            </p:txBody>
          </p:sp>
        </p:grp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2374CAC1-A167-729F-9578-AA5E8F158DEE}"/>
              </a:ext>
            </a:extLst>
          </p:cNvPr>
          <p:cNvGrpSpPr/>
          <p:nvPr/>
        </p:nvGrpSpPr>
        <p:grpSpPr>
          <a:xfrm>
            <a:off x="6231749" y="1794129"/>
            <a:ext cx="2300605" cy="2289951"/>
            <a:chOff x="2305685" y="1776358"/>
            <a:chExt cx="2959042" cy="2289951"/>
          </a:xfrm>
        </p:grpSpPr>
        <p:sp>
          <p:nvSpPr>
            <p:cNvPr id="30" name="箭头: 手杖形 29">
              <a:extLst>
                <a:ext uri="{FF2B5EF4-FFF2-40B4-BE49-F238E27FC236}">
                  <a16:creationId xmlns:a16="http://schemas.microsoft.com/office/drawing/2014/main" id="{FB620023-A22A-3201-1346-67F3C63270DD}"/>
                </a:ext>
              </a:extLst>
            </p:cNvPr>
            <p:cNvSpPr/>
            <p:nvPr/>
          </p:nvSpPr>
          <p:spPr>
            <a:xfrm>
              <a:off x="2305685" y="1898073"/>
              <a:ext cx="2959042" cy="2168236"/>
            </a:xfrm>
            <a:prstGeom prst="uturnArrow">
              <a:avLst>
                <a:gd name="adj1" fmla="val 12857"/>
                <a:gd name="adj2" fmla="val 22744"/>
                <a:gd name="adj3" fmla="val 26504"/>
                <a:gd name="adj4" fmla="val 28712"/>
                <a:gd name="adj5" fmla="val 86821"/>
              </a:avLst>
            </a:prstGeom>
            <a:solidFill>
              <a:srgbClr val="D9D9D9"/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18FD736E-66F2-B0C7-F8D1-FD73E306EA81}"/>
                </a:ext>
              </a:extLst>
            </p:cNvPr>
            <p:cNvGrpSpPr/>
            <p:nvPr/>
          </p:nvGrpSpPr>
          <p:grpSpPr>
            <a:xfrm>
              <a:off x="2454793" y="1776358"/>
              <a:ext cx="2300605" cy="893618"/>
              <a:chOff x="2634903" y="1854980"/>
              <a:chExt cx="2300605" cy="1297202"/>
            </a:xfrm>
          </p:grpSpPr>
          <p:sp>
            <p:nvSpPr>
              <p:cNvPr id="32" name="椭圆 31">
                <a:extLst>
                  <a:ext uri="{FF2B5EF4-FFF2-40B4-BE49-F238E27FC236}">
                    <a16:creationId xmlns:a16="http://schemas.microsoft.com/office/drawing/2014/main" id="{E1EE8BFB-CE39-6C32-CF70-131C502CF0AE}"/>
                  </a:ext>
                </a:extLst>
              </p:cNvPr>
              <p:cNvSpPr/>
              <p:nvPr/>
            </p:nvSpPr>
            <p:spPr>
              <a:xfrm>
                <a:off x="2634903" y="1854980"/>
                <a:ext cx="2300605" cy="1297202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6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D28F2464-870A-33A2-8377-6BE3D27C2A0D}"/>
                  </a:ext>
                </a:extLst>
              </p:cNvPr>
              <p:cNvSpPr txBox="1"/>
              <p:nvPr/>
            </p:nvSpPr>
            <p:spPr>
              <a:xfrm>
                <a:off x="2634903" y="2168497"/>
                <a:ext cx="2300605" cy="6701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rgbClr val="324273"/>
                    </a:solidFill>
                    <a:latin typeface="Consolas" panose="020B0609020204030204" pitchFamily="49" charset="0"/>
                  </a:rPr>
                  <a:t>output</a:t>
                </a:r>
                <a:endParaRPr lang="zh-CN" altLang="en-US" sz="2400">
                  <a:solidFill>
                    <a:srgbClr val="324273"/>
                  </a:solidFill>
                  <a:latin typeface="Consolas" panose="020B0609020204030204" pitchFamily="49" charset="0"/>
                </a:endParaRPr>
              </a:p>
            </p:txBody>
          </p:sp>
        </p:grp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A652E499-80FF-A0C5-B90C-4544F4D91BA5}"/>
              </a:ext>
            </a:extLst>
          </p:cNvPr>
          <p:cNvGrpSpPr/>
          <p:nvPr/>
        </p:nvGrpSpPr>
        <p:grpSpPr>
          <a:xfrm flipV="1">
            <a:off x="8532353" y="3845060"/>
            <a:ext cx="1883831" cy="2289951"/>
            <a:chOff x="2305685" y="1776358"/>
            <a:chExt cx="2959042" cy="2289951"/>
          </a:xfrm>
        </p:grpSpPr>
        <p:sp>
          <p:nvSpPr>
            <p:cNvPr id="35" name="箭头: 手杖形 34">
              <a:extLst>
                <a:ext uri="{FF2B5EF4-FFF2-40B4-BE49-F238E27FC236}">
                  <a16:creationId xmlns:a16="http://schemas.microsoft.com/office/drawing/2014/main" id="{A2AC05B5-AC4B-D578-9A0A-978AE90D4A5F}"/>
                </a:ext>
              </a:extLst>
            </p:cNvPr>
            <p:cNvSpPr/>
            <p:nvPr/>
          </p:nvSpPr>
          <p:spPr>
            <a:xfrm>
              <a:off x="2305685" y="1898073"/>
              <a:ext cx="2959042" cy="2168236"/>
            </a:xfrm>
            <a:prstGeom prst="uturnArrow">
              <a:avLst>
                <a:gd name="adj1" fmla="val 12857"/>
                <a:gd name="adj2" fmla="val 22744"/>
                <a:gd name="adj3" fmla="val 26504"/>
                <a:gd name="adj4" fmla="val 28712"/>
                <a:gd name="adj5" fmla="val 86821"/>
              </a:avLst>
            </a:prstGeom>
            <a:solidFill>
              <a:srgbClr val="D9D9D9"/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B060758C-77C0-7A30-432A-2388E0AB6279}"/>
                </a:ext>
              </a:extLst>
            </p:cNvPr>
            <p:cNvGrpSpPr/>
            <p:nvPr/>
          </p:nvGrpSpPr>
          <p:grpSpPr>
            <a:xfrm>
              <a:off x="2454793" y="1776358"/>
              <a:ext cx="2300605" cy="893618"/>
              <a:chOff x="2634903" y="1854980"/>
              <a:chExt cx="2300605" cy="1297202"/>
            </a:xfrm>
          </p:grpSpPr>
          <p:sp>
            <p:nvSpPr>
              <p:cNvPr id="37" name="椭圆 36">
                <a:extLst>
                  <a:ext uri="{FF2B5EF4-FFF2-40B4-BE49-F238E27FC236}">
                    <a16:creationId xmlns:a16="http://schemas.microsoft.com/office/drawing/2014/main" id="{05D8B4C8-1919-E977-C843-3634755DC7CF}"/>
                  </a:ext>
                </a:extLst>
              </p:cNvPr>
              <p:cNvSpPr/>
              <p:nvPr/>
            </p:nvSpPr>
            <p:spPr>
              <a:xfrm>
                <a:off x="2634903" y="1854980"/>
                <a:ext cx="2300605" cy="1297202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6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AEDC9C31-7957-7293-5666-E6B10CFB05F9}"/>
                  </a:ext>
                </a:extLst>
              </p:cNvPr>
              <p:cNvSpPr txBox="1"/>
              <p:nvPr/>
            </p:nvSpPr>
            <p:spPr>
              <a:xfrm rot="10800000">
                <a:off x="2634903" y="2168497"/>
                <a:ext cx="2300605" cy="6701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rgbClr val="324273"/>
                    </a:solidFill>
                    <a:latin typeface="Consolas" panose="020B0609020204030204" pitchFamily="49" charset="0"/>
                  </a:rPr>
                  <a:t>submit</a:t>
                </a:r>
                <a:endParaRPr lang="zh-CN" altLang="en-US" sz="2400">
                  <a:solidFill>
                    <a:srgbClr val="324273"/>
                  </a:solidFill>
                  <a:latin typeface="Consolas" panose="020B0609020204030204" pitchFamily="49" charset="0"/>
                </a:endParaRPr>
              </a:p>
            </p:txBody>
          </p:sp>
        </p:grp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02501279-8362-DB79-555C-930C9949C924}"/>
              </a:ext>
            </a:extLst>
          </p:cNvPr>
          <p:cNvGrpSpPr/>
          <p:nvPr/>
        </p:nvGrpSpPr>
        <p:grpSpPr>
          <a:xfrm>
            <a:off x="719687" y="3286440"/>
            <a:ext cx="11121150" cy="1304680"/>
            <a:chOff x="719687" y="3286440"/>
            <a:chExt cx="11121150" cy="1304680"/>
          </a:xfrm>
        </p:grpSpPr>
        <p:sp>
          <p:nvSpPr>
            <p:cNvPr id="4" name="箭头: 上 3">
              <a:extLst>
                <a:ext uri="{FF2B5EF4-FFF2-40B4-BE49-F238E27FC236}">
                  <a16:creationId xmlns:a16="http://schemas.microsoft.com/office/drawing/2014/main" id="{23F4E7DF-4E1C-B930-B49F-F7E817732B67}"/>
                </a:ext>
              </a:extLst>
            </p:cNvPr>
            <p:cNvSpPr/>
            <p:nvPr/>
          </p:nvSpPr>
          <p:spPr>
            <a:xfrm rot="5400000">
              <a:off x="5674501" y="-1575216"/>
              <a:ext cx="1274617" cy="11058055"/>
            </a:xfrm>
            <a:prstGeom prst="upArrow">
              <a:avLst>
                <a:gd name="adj1" fmla="val 27778"/>
                <a:gd name="adj2" fmla="val 88104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10D935E9-3B65-3118-A366-EED49860BC69}"/>
                </a:ext>
              </a:extLst>
            </p:cNvPr>
            <p:cNvSpPr/>
            <p:nvPr/>
          </p:nvSpPr>
          <p:spPr>
            <a:xfrm>
              <a:off x="719687" y="3286440"/>
              <a:ext cx="1297202" cy="1297202"/>
            </a:xfrm>
            <a:prstGeom prst="ellipse">
              <a:avLst/>
            </a:prstGeom>
            <a:solidFill>
              <a:srgbClr val="D9D9D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>
                  <a:solidFill>
                    <a:srgbClr val="324273"/>
                  </a:solidFill>
                  <a:latin typeface="Consolas" panose="020B0609020204030204" pitchFamily="49" charset="0"/>
                </a:rPr>
                <a:t>main</a:t>
              </a:r>
              <a:endParaRPr lang="zh-CN" altLang="en-US" sz="2400">
                <a:solidFill>
                  <a:srgbClr val="324273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1493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5E9D6-E445-0EF3-C41B-181467F12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0C36FB3-F075-6F0A-184D-D9BE167FAF1E}"/>
              </a:ext>
            </a:extLst>
          </p:cNvPr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E688E38-D42B-D1B6-F1DD-5C5D0B73E9A6}"/>
              </a:ext>
            </a:extLst>
          </p:cNvPr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1A8E25B-4851-CEEB-CC4F-A89BB8898A5F}"/>
              </a:ext>
            </a:extLst>
          </p:cNvPr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实验过程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C784289-EAFE-2C2C-BC13-A9039C20352C}"/>
              </a:ext>
            </a:extLst>
          </p:cNvPr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C58DA6AC-634E-2C43-6581-2E7711B870C1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9ED8CC34-3218-42BA-10B6-3914AC3EB1C1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3D87FC31-BCC2-F8B2-AC1B-71E6A7F461B1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FCC240CD-0A90-765D-53AE-68B2A5085A42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3F81400C-DF87-70FF-0A59-DFBDA01D0C5D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E401BFAD-7B8B-9B21-D577-D6DADB62D49C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314ECC4B-0218-1DF4-7226-442B39954564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AA2931EF-FC3F-E183-A54B-CBA2E0B35D84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B75F8B55-5964-3D8B-E43D-5E8B6BF71FA7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99B02B05-E412-C5A8-C8CF-ED2A84AC07EC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189564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46009-1FF5-CD84-DE35-0202377C5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9DD7718C-326D-FDFD-41AA-123327A6B01D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837064C-FAA6-9585-0FF1-67C7CFE29B32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D5F2967-8429-B365-B64E-86D71443C98A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E9588F53-F718-466A-493B-956268601F86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1B6444A6-C1F1-ED6A-E46B-48560692CBD3}"/>
              </a:ext>
            </a:extLst>
          </p:cNvPr>
          <p:cNvGrpSpPr/>
          <p:nvPr/>
        </p:nvGrpSpPr>
        <p:grpSpPr>
          <a:xfrm>
            <a:off x="861695" y="1539502"/>
            <a:ext cx="10468609" cy="1856958"/>
            <a:chOff x="861695" y="1246460"/>
            <a:chExt cx="10468609" cy="1856958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E1079BA2-7AB8-D21B-8016-393361CCE229}"/>
                </a:ext>
              </a:extLst>
            </p:cNvPr>
            <p:cNvSpPr/>
            <p:nvPr/>
          </p:nvSpPr>
          <p:spPr>
            <a:xfrm>
              <a:off x="2445327" y="1565229"/>
              <a:ext cx="8884977" cy="1538189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29A35B39-6CB2-9FA3-95A8-8879BAC15B5F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DE34FD45-3C04-67A1-359A-A9206388D7BF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一、项目初期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0323AFC2-DB98-7666-9A8F-77AFC467A9BB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5CE4184E-F854-63D4-C0E1-DE2083DA1CBB}"/>
                </a:ext>
              </a:extLst>
            </p:cNvPr>
            <p:cNvSpPr txBox="1"/>
            <p:nvPr/>
          </p:nvSpPr>
          <p:spPr>
            <a:xfrm>
              <a:off x="2682960" y="1985254"/>
              <a:ext cx="8409710" cy="9651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在主题和问题确定之前，建立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git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仓库，并准备所有可能需要使用到的论文和数据集。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88C0CF39-0D29-EF45-A190-45E53E8F3E02}"/>
              </a:ext>
            </a:extLst>
          </p:cNvPr>
          <p:cNvGrpSpPr/>
          <p:nvPr/>
        </p:nvGrpSpPr>
        <p:grpSpPr>
          <a:xfrm>
            <a:off x="1481340" y="4216182"/>
            <a:ext cx="10468609" cy="1856958"/>
            <a:chOff x="861695" y="1246460"/>
            <a:chExt cx="10468609" cy="1856958"/>
          </a:xfrm>
        </p:grpSpPr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54A7B9EF-6803-57EE-96D6-5DAA15C4D98B}"/>
                </a:ext>
              </a:extLst>
            </p:cNvPr>
            <p:cNvSpPr/>
            <p:nvPr/>
          </p:nvSpPr>
          <p:spPr>
            <a:xfrm>
              <a:off x="2445327" y="1565229"/>
              <a:ext cx="8884977" cy="1538189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B0B18FDE-C0C5-A0DC-A5C6-6842CBF3C7F1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C4B4664F-875E-B718-CDD5-31F7A76A7236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二、数据处理（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data-process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18" name="L 形 17">
                <a:extLst>
                  <a:ext uri="{FF2B5EF4-FFF2-40B4-BE49-F238E27FC236}">
                    <a16:creationId xmlns:a16="http://schemas.microsoft.com/office/drawing/2014/main" id="{1B28E74A-8190-A861-BBA4-0791F0A36963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427C89CD-0BA3-D964-A6AA-0168F292AF6A}"/>
                </a:ext>
              </a:extLst>
            </p:cNvPr>
            <p:cNvSpPr txBox="1"/>
            <p:nvPr/>
          </p:nvSpPr>
          <p:spPr>
            <a:xfrm>
              <a:off x="2682960" y="1985254"/>
              <a:ext cx="8409710" cy="9651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确定研究主题和问题之后，对输入数据文件和对照文件做标准化处理，以便于代码的统一输入以及调试对照。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68704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FD527-AC5C-13CF-FAEB-1F4EBC5DB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BBB72144-FFC6-3A27-D49A-16AD0266E459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B5BD1BC-4EB4-295D-1ED1-C3799A7A2D2C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58E0793E-99DA-0B6B-BF03-8769F691E4CD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86EAE3E5-97A7-4522-28D6-43271DAFE888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ECE3490B-4BB3-42B1-5607-6A442C70A593}"/>
              </a:ext>
            </a:extLst>
          </p:cNvPr>
          <p:cNvGrpSpPr/>
          <p:nvPr/>
        </p:nvGrpSpPr>
        <p:grpSpPr>
          <a:xfrm>
            <a:off x="861695" y="1053366"/>
            <a:ext cx="10468609" cy="1834080"/>
            <a:chOff x="861695" y="1246460"/>
            <a:chExt cx="10468609" cy="1834080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507586F8-9B45-DBEF-379F-C88869A02332}"/>
                </a:ext>
              </a:extLst>
            </p:cNvPr>
            <p:cNvSpPr/>
            <p:nvPr/>
          </p:nvSpPr>
          <p:spPr>
            <a:xfrm>
              <a:off x="2445327" y="1565229"/>
              <a:ext cx="8884977" cy="1515311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259D5F51-5A13-ACF6-7081-D71944E6B2FB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02CB0E92-D69C-ECBD-2F3D-0A0FB92978E6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三、代码编写（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code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3674CEF9-6B98-6C41-1F45-0B89899602CC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7F6CAE1F-CF0C-B3D7-1A19-826946AB0A2E}"/>
                </a:ext>
              </a:extLst>
            </p:cNvPr>
            <p:cNvSpPr txBox="1"/>
            <p:nvPr/>
          </p:nvSpPr>
          <p:spPr>
            <a:xfrm>
              <a:off x="3227932" y="2018456"/>
              <a:ext cx="6724276" cy="5045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我们决定采用多种不同的策略求解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TSP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问题。</a:t>
              </a:r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8B99F299-5E5B-29CA-23F4-FDC40E7AAAE2}"/>
              </a:ext>
            </a:extLst>
          </p:cNvPr>
          <p:cNvGrpSpPr/>
          <p:nvPr/>
        </p:nvGrpSpPr>
        <p:grpSpPr>
          <a:xfrm>
            <a:off x="826367" y="2522084"/>
            <a:ext cx="3231919" cy="3943770"/>
            <a:chOff x="844031" y="2642858"/>
            <a:chExt cx="3231919" cy="3943770"/>
          </a:xfrm>
        </p:grpSpPr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8D70F280-70B4-D284-FA70-4967C0CF8167}"/>
                </a:ext>
              </a:extLst>
            </p:cNvPr>
            <p:cNvGrpSpPr/>
            <p:nvPr/>
          </p:nvGrpSpPr>
          <p:grpSpPr>
            <a:xfrm>
              <a:off x="861695" y="2642858"/>
              <a:ext cx="3214255" cy="3943770"/>
              <a:chOff x="1171517" y="2642858"/>
              <a:chExt cx="3214255" cy="3943770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FEBA9793-26C4-3749-8940-ACB91AE54452}"/>
                  </a:ext>
                </a:extLst>
              </p:cNvPr>
              <p:cNvSpPr/>
              <p:nvPr/>
            </p:nvSpPr>
            <p:spPr>
              <a:xfrm>
                <a:off x="1171517" y="2642858"/>
                <a:ext cx="3214255" cy="3943770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4318373-B746-B3EF-1ED6-75A0EB7C136E}"/>
                  </a:ext>
                </a:extLst>
              </p:cNvPr>
              <p:cNvSpPr txBox="1"/>
              <p:nvPr/>
            </p:nvSpPr>
            <p:spPr>
              <a:xfrm>
                <a:off x="1711844" y="2776587"/>
                <a:ext cx="2133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DFS</a:t>
                </a:r>
                <a:endParaRPr lang="zh-CN" altLang="en-US"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endParaRPr>
              </a:p>
            </p:txBody>
          </p:sp>
        </p:grp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0E2A269C-2F80-7CFF-148D-5AE8B96C1064}"/>
                </a:ext>
              </a:extLst>
            </p:cNvPr>
            <p:cNvSpPr txBox="1"/>
            <p:nvPr/>
          </p:nvSpPr>
          <p:spPr>
            <a:xfrm>
              <a:off x="844031" y="3373582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优点：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D1BFB850-34AA-AA74-012E-E7B921574542}"/>
                </a:ext>
              </a:extLst>
            </p:cNvPr>
            <p:cNvSpPr txBox="1"/>
            <p:nvPr/>
          </p:nvSpPr>
          <p:spPr>
            <a:xfrm>
              <a:off x="844031" y="4790818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缺点：</a:t>
              </a: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4C8A254B-1D6D-96AC-03E5-9E3C30E053BC}"/>
                </a:ext>
              </a:extLst>
            </p:cNvPr>
            <p:cNvSpPr txBox="1"/>
            <p:nvPr/>
          </p:nvSpPr>
          <p:spPr>
            <a:xfrm>
              <a:off x="1586258" y="3330584"/>
              <a:ext cx="2472027" cy="1215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状态空间树占用空间较少，且易于用递归实现。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850BCE0A-3889-79CE-33A4-92C8FCBC0458}"/>
                </a:ext>
              </a:extLst>
            </p:cNvPr>
            <p:cNvSpPr txBox="1"/>
            <p:nvPr/>
          </p:nvSpPr>
          <p:spPr>
            <a:xfrm>
              <a:off x="1581811" y="4747844"/>
              <a:ext cx="2472027" cy="15999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当状态空间树很高时，函数调用栈可能溢出，并且难以在全局上进行优化。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B5DA57BA-1AA9-B9A1-C4EB-18EA32D95BF4}"/>
              </a:ext>
            </a:extLst>
          </p:cNvPr>
          <p:cNvGrpSpPr/>
          <p:nvPr/>
        </p:nvGrpSpPr>
        <p:grpSpPr>
          <a:xfrm>
            <a:off x="4616277" y="2522084"/>
            <a:ext cx="3231919" cy="3943770"/>
            <a:chOff x="844031" y="2642858"/>
            <a:chExt cx="3231919" cy="3943770"/>
          </a:xfrm>
        </p:grpSpPr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CBCCA810-30DD-26AF-CEE2-C0C41007BEE6}"/>
                </a:ext>
              </a:extLst>
            </p:cNvPr>
            <p:cNvGrpSpPr/>
            <p:nvPr/>
          </p:nvGrpSpPr>
          <p:grpSpPr>
            <a:xfrm>
              <a:off x="861695" y="2642858"/>
              <a:ext cx="3214255" cy="3943770"/>
              <a:chOff x="1171517" y="2642858"/>
              <a:chExt cx="3214255" cy="3943770"/>
            </a:xfrm>
          </p:grpSpPr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ABD18F83-8A1D-6FA4-4912-6003ADACF677}"/>
                  </a:ext>
                </a:extLst>
              </p:cNvPr>
              <p:cNvSpPr/>
              <p:nvPr/>
            </p:nvSpPr>
            <p:spPr>
              <a:xfrm>
                <a:off x="1171517" y="2642858"/>
                <a:ext cx="3214255" cy="3943770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D8390C8-ECD2-FF16-0E80-4AE7E25BDB60}"/>
                  </a:ext>
                </a:extLst>
              </p:cNvPr>
              <p:cNvSpPr txBox="1"/>
              <p:nvPr/>
            </p:nvSpPr>
            <p:spPr>
              <a:xfrm>
                <a:off x="1711844" y="2776587"/>
                <a:ext cx="2133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BFS</a:t>
                </a:r>
                <a:endParaRPr lang="zh-CN" altLang="en-US"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endParaRPr>
              </a:p>
            </p:txBody>
          </p: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459C16CC-006A-272D-B2B2-4C72E78FA384}"/>
                </a:ext>
              </a:extLst>
            </p:cNvPr>
            <p:cNvSpPr txBox="1"/>
            <p:nvPr/>
          </p:nvSpPr>
          <p:spPr>
            <a:xfrm>
              <a:off x="844031" y="3373582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优点：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4E11960-4CD2-D0E2-7548-7B300F1949A3}"/>
                </a:ext>
              </a:extLst>
            </p:cNvPr>
            <p:cNvSpPr txBox="1"/>
            <p:nvPr/>
          </p:nvSpPr>
          <p:spPr>
            <a:xfrm>
              <a:off x="844031" y="4790818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缺点：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C9112854-082B-F8FD-3016-3313414BBE9B}"/>
                </a:ext>
              </a:extLst>
            </p:cNvPr>
            <p:cNvSpPr txBox="1"/>
            <p:nvPr/>
          </p:nvSpPr>
          <p:spPr>
            <a:xfrm>
              <a:off x="1586258" y="3330584"/>
              <a:ext cx="2472027" cy="830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易于在全局上进行简单优化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72DA64B-CAD4-EB07-9A05-4B8C62E20CBE}"/>
                </a:ext>
              </a:extLst>
            </p:cNvPr>
            <p:cNvSpPr txBox="1"/>
            <p:nvPr/>
          </p:nvSpPr>
          <p:spPr>
            <a:xfrm>
              <a:off x="1581811" y="4747844"/>
              <a:ext cx="2472027" cy="1215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难以用代码实现分支限界优化，并且占用空间往往较大。</a:t>
              </a: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32EB3F3-F66D-F921-A117-B7CADDD419E6}"/>
              </a:ext>
            </a:extLst>
          </p:cNvPr>
          <p:cNvGrpSpPr/>
          <p:nvPr/>
        </p:nvGrpSpPr>
        <p:grpSpPr>
          <a:xfrm>
            <a:off x="8400864" y="2522084"/>
            <a:ext cx="3231919" cy="3943770"/>
            <a:chOff x="844031" y="2642858"/>
            <a:chExt cx="3231919" cy="3943770"/>
          </a:xfrm>
        </p:grpSpPr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BD6D0FFB-5192-4DA6-A1C6-987BD5FFDC61}"/>
                </a:ext>
              </a:extLst>
            </p:cNvPr>
            <p:cNvGrpSpPr/>
            <p:nvPr/>
          </p:nvGrpSpPr>
          <p:grpSpPr>
            <a:xfrm>
              <a:off x="861695" y="2642858"/>
              <a:ext cx="3214255" cy="3943770"/>
              <a:chOff x="1171517" y="2642858"/>
              <a:chExt cx="3214255" cy="3943770"/>
            </a:xfrm>
          </p:grpSpPr>
          <p:sp>
            <p:nvSpPr>
              <p:cNvPr id="29" name="矩形: 圆角 28">
                <a:extLst>
                  <a:ext uri="{FF2B5EF4-FFF2-40B4-BE49-F238E27FC236}">
                    <a16:creationId xmlns:a16="http://schemas.microsoft.com/office/drawing/2014/main" id="{94571047-28BB-8400-B0C7-D94086F06452}"/>
                  </a:ext>
                </a:extLst>
              </p:cNvPr>
              <p:cNvSpPr/>
              <p:nvPr/>
            </p:nvSpPr>
            <p:spPr>
              <a:xfrm>
                <a:off x="1171517" y="2642858"/>
                <a:ext cx="3214255" cy="3943770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0236804A-DEEE-FDF2-0BC5-73D39C256459}"/>
                  </a:ext>
                </a:extLst>
              </p:cNvPr>
              <p:cNvSpPr txBox="1"/>
              <p:nvPr/>
            </p:nvSpPr>
            <p:spPr>
              <a:xfrm>
                <a:off x="1711844" y="2776587"/>
                <a:ext cx="2133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DP</a:t>
                </a:r>
                <a:endParaRPr lang="zh-CN" altLang="en-US"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endParaRPr>
              </a:p>
            </p:txBody>
          </p:sp>
        </p:grp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4B794C33-365E-4E7F-A0FD-FED7AD1C64C2}"/>
                </a:ext>
              </a:extLst>
            </p:cNvPr>
            <p:cNvSpPr txBox="1"/>
            <p:nvPr/>
          </p:nvSpPr>
          <p:spPr>
            <a:xfrm>
              <a:off x="844031" y="3373582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优点：</a:t>
              </a: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40A52881-409B-265E-2614-4DA60E9DE0B0}"/>
                </a:ext>
              </a:extLst>
            </p:cNvPr>
            <p:cNvSpPr txBox="1"/>
            <p:nvPr/>
          </p:nvSpPr>
          <p:spPr>
            <a:xfrm>
              <a:off x="844031" y="4790818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缺点：</a:t>
              </a: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CBAD3ECE-8FB2-235E-288C-90B642308304}"/>
                </a:ext>
              </a:extLst>
            </p:cNvPr>
            <p:cNvSpPr txBox="1"/>
            <p:nvPr/>
          </p:nvSpPr>
          <p:spPr>
            <a:xfrm>
              <a:off x="1586258" y="3330584"/>
              <a:ext cx="2472027" cy="4457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执行速度较快。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2E0DD4EA-36C2-0C47-3BF6-0E4E44CDFB3E}"/>
                </a:ext>
              </a:extLst>
            </p:cNvPr>
            <p:cNvSpPr txBox="1"/>
            <p:nvPr/>
          </p:nvSpPr>
          <p:spPr>
            <a:xfrm>
              <a:off x="1581811" y="4747844"/>
              <a:ext cx="2472027" cy="830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是空间换时间的算法，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求解规模有限。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88676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A0568-0D1D-3D8A-7632-0E01CC40A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3B4AA251-A0E2-CCAF-3BAB-36D416AFBA09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7E0A6CFC-0B2D-8AB7-7271-A2EBFB6BA47B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6D108BF-8332-3194-835C-011CAD2D9006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8DB8101-7D21-F0C0-8F7C-B81A210670A9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F3F204FB-CC7A-6D8A-552E-7F5984D41001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929193EF-45FD-2D4D-E0C0-6238468E4DE7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98D72A79-15CC-C595-8867-A31133EE908A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E0380CBB-CF52-FD32-4770-C9D6F27C22D2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dfs-0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463D95EA-2146-E17E-EAB6-0029C1A31581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9771FA46-9026-B9F3-5EA3-EF6C0E5CE266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9B16B16C-0DD2-686E-C36A-227CF20D0499}"/>
                  </a:ext>
                </a:extLst>
              </p:cNvPr>
              <p:cNvSpPr txBox="1"/>
              <p:nvPr/>
            </p:nvSpPr>
            <p:spPr>
              <a:xfrm>
                <a:off x="1052985" y="2953022"/>
                <a:ext cx="2505395" cy="18884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使用深度优先搜索并简单剪枝，能够正确求解</a:t>
                </a:r>
                <a:r>
                  <a:rPr lang="en-US" altLang="zh-CN" sz="2000" b="0"/>
                  <a:t>n&lt;=15</a:t>
                </a:r>
                <a:r>
                  <a:rPr lang="zh-CN" altLang="en-US" sz="2000" b="0"/>
                  <a:t>（</a:t>
                </a:r>
                <a:r>
                  <a:rPr lang="en-US" altLang="zh-CN" sz="2000" b="0"/>
                  <a:t>n</a:t>
                </a:r>
                <a:r>
                  <a:rPr lang="zh-CN" altLang="en-US" sz="2000" b="0"/>
                  <a:t>为节点数）规模的问题。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C0B932C-8FB6-DA3E-7832-E06989FEE0FB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A15485D-983A-D521-973A-244F81E127D3}"/>
              </a:ext>
            </a:extLst>
          </p:cNvPr>
          <p:cNvSpPr txBox="1"/>
          <p:nvPr/>
        </p:nvSpPr>
        <p:spPr>
          <a:xfrm>
            <a:off x="5538507" y="2074191"/>
            <a:ext cx="6566969" cy="4004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void dfs(int node, int cost, int len, int cur_path[])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if (len &gt;= n)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if (grid[1][node] != 0 &amp;&amp; cost + grid[1][node] &lt; minn)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minn = cost + grid[1][node];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for (int i = 1; i &lt;= n; ++i) path[i] = cur_path[i]; }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return; 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}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if (cost &gt;= minn) return;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for (int i = 1; i &lt;= n; ++i)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if (!vis[i] &amp;&amp; grid[node][i] != 0)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vis[i] = 1;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cur_path[len + 1] = i;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dfs(i, cost + grid[node][i], len + 1, cur_path);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vis[i] = 0; 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}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}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}</a:t>
            </a:r>
            <a:endParaRPr lang="zh-CN" altLang="en-US" sz="1200">
              <a:latin typeface="Fira Code Medium" pitchFamily="1" charset="0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13FD1747-7181-6873-DCF5-AAAB191E29D4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5812D197-F380-0F6D-1E24-60B175EC064B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FC8CC08B-BAD6-D24D-95B7-EB73D979A3BB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012055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B3613-645D-F3BA-77FA-A87215A02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DDC392B2-7844-BFB0-4704-73D581EF71AF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30BED7E-98B0-E054-F502-27D7C933D279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F944961A-1D60-4B19-07F6-02B1A438D32C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6670D75E-2ABF-863A-B24F-3B305E53D598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A803D593-744F-2378-1F60-7ED55DEB0828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E0FA8C27-A2B9-3556-1D25-308A002CB921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1D1E4960-623C-B5C1-1A71-3599C7306CB7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228A33AB-9807-CB16-2F7D-6AD6015D3229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dfs-1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D0C393D3-2BED-A0BB-A8C3-51D67B6248F6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55DBEA15-859D-2D43-FD52-0A1FE1459C9B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7E4BB564-FB8F-22C3-F6A9-AB9A70D59E2D}"/>
                  </a:ext>
                </a:extLst>
              </p:cNvPr>
              <p:cNvSpPr txBox="1"/>
              <p:nvPr/>
            </p:nvSpPr>
            <p:spPr>
              <a:xfrm>
                <a:off x="1052985" y="2881982"/>
                <a:ext cx="2505395" cy="188955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在</a:t>
                </a:r>
                <a:r>
                  <a:rPr lang="en-US" altLang="zh-CN" sz="2000" b="0"/>
                  <a:t>dfs-0</a:t>
                </a:r>
                <a:r>
                  <a:rPr lang="zh-CN" altLang="en-US" sz="2000" b="0"/>
                  <a:t>基础上进一步优化，加强约束条件，能够正确求解</a:t>
                </a:r>
                <a:r>
                  <a:rPr lang="en-US" altLang="zh-CN" sz="2000" b="0"/>
                  <a:t>n&lt;=17</a:t>
                </a:r>
                <a:r>
                  <a:rPr lang="zh-CN" altLang="en-US" sz="2000" b="0"/>
                  <a:t>规模的问题。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D53B98DD-2D5E-88F2-E8DD-1E0EF51EB655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98FB44A-C0D2-0521-E67E-30F27CB6C603}"/>
              </a:ext>
            </a:extLst>
          </p:cNvPr>
          <p:cNvSpPr txBox="1"/>
          <p:nvPr/>
        </p:nvSpPr>
        <p:spPr>
          <a:xfrm>
            <a:off x="5274401" y="1816869"/>
            <a:ext cx="6516060" cy="45897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int minn_grid[MAXN][MAXN];      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// minn_grid[i][j]: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从节点</a:t>
            </a: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i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出发，经过</a:t>
            </a: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j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条边，回到节点</a:t>
            </a: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1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的最短距离</a:t>
            </a:r>
            <a:endParaRPr lang="en-US" altLang="zh-CN" sz="14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  <a:p>
            <a:pPr>
              <a:lnSpc>
                <a:spcPct val="150000"/>
              </a:lnSpc>
            </a:pPr>
            <a:endParaRPr lang="en-US" altLang="zh-CN" sz="14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getMinnGrid(int node, int dist, int len)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if (len &gt;= n) return;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i = 2; i &lt;= n; ++i)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(i == node) continue;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(minn_grid[i][len + 1] == 0 || dist + grid[node][i] &lt; minn_grid[i][len + 1])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minn_grid[i][len + 1] = dist + grid[node][i];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getMinnGrid(i, dist + grid[node][i], len + 1);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lang="zh-CN" altLang="en-US" sz="14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F9C7206F-370B-3371-792F-BFFA370A068B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62A98181-FC85-66DB-B8F9-E1B0A2CDB1D6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2D335DBF-611E-A75C-86FD-19C2CD231E5D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26789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46DB4-FCB6-24BB-BC9C-43C616FB5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3ACB42BA-0F31-EABA-4754-CB673A4FAEAA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B1A73B29-8CCC-607B-0F9A-2E92D208D018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9C1A1078-29D8-5A22-0450-81F61E371693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0FFEEB8-8008-B1A9-2FC5-19E96EA44C0D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E18B9812-0170-3867-2393-97B2261B75F5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8D0F7A51-F037-5F50-3B37-DBE27A675BCA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1563C23E-A89A-3BDE-DAD8-D0D8C9BE26E3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06296D61-42C8-8DB9-F806-134F1AB7280F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dfs-2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7DACAB0A-30BD-3BE4-6F44-5281744114AB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60F84D3D-D9AD-294B-9C8D-1AE82186EB66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D0E7AED8-7BEF-4F79-0513-B5B200BCE238}"/>
                  </a:ext>
                </a:extLst>
              </p:cNvPr>
              <p:cNvSpPr txBox="1"/>
              <p:nvPr/>
            </p:nvSpPr>
            <p:spPr>
              <a:xfrm>
                <a:off x="1052985" y="2837498"/>
                <a:ext cx="2505395" cy="281288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在</a:t>
                </a:r>
                <a:r>
                  <a:rPr lang="en-US" altLang="zh-CN" sz="2000" b="0"/>
                  <a:t>dfs-1</a:t>
                </a:r>
                <a:r>
                  <a:rPr lang="zh-CN" altLang="en-US" sz="2000" b="0"/>
                  <a:t>基础加入贪心选择，每次优先选择总花费最少的分支。失败的尝试，由于阶乘级的排序操作，性能远不如</a:t>
                </a:r>
                <a:r>
                  <a:rPr lang="en-US" altLang="zh-CN" sz="2000" b="0"/>
                  <a:t>dfs-1</a:t>
                </a:r>
                <a:r>
                  <a:rPr lang="zh-CN" altLang="en-US" sz="2000" b="0"/>
                  <a:t>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DFD61215-E462-F63B-B731-81CAB27BAFC2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232FBF14-1D18-FD54-5184-AD62EB662F30}"/>
              </a:ext>
            </a:extLst>
          </p:cNvPr>
          <p:cNvSpPr txBox="1"/>
          <p:nvPr/>
        </p:nvSpPr>
        <p:spPr>
          <a:xfrm>
            <a:off x="5356246" y="1916081"/>
            <a:ext cx="6352369" cy="43877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dfs(int node, int cost, int len, int cur_path[]) {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/* 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前略 </a:t>
            </a: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*/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vector&lt;pair&lt;int, int&gt;&gt; next;        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// pair: &lt;node, cost&gt;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i = 1; i &lt;= n; ++i) {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(!vis[i] &amp;&amp; grid[node][i] != 0)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next.emplace_back(i, cost + grid[node][i]);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sort(next.begin(), next.end(), cmp);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(auto &amp;p : next) {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vis[p.first] = 1;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cur_path[len + 1] = p.first;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dfs(p.first, p.second, len + 1, cur_path);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vis[p.first] = 0;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lang="zh-CN" altLang="en-US" sz="14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99C4798A-6979-69A7-3AD5-1EFF19AECD78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ED7915FE-AC6E-BBCD-A9D6-D7C1D5A0407B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9F59AE8F-EA2E-95F3-4082-693C1BCD23BA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6216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763E-B774-44DC-0EE7-C48EE4D32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F45AE42A-65C9-5B59-B2FE-9ACA894255A5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175CFAD9-6C83-A24B-ED38-066CE7FE2911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69CF55FC-DC53-5191-12AA-EDA6C45B13D3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35D9FEC-AF35-B8E7-E3CA-04792AB207F8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B6571AC2-DAD3-DD3B-5AE0-0484F656552B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D1394D90-14A9-B8A9-574A-987C79710FB1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0758423B-5F51-CDBC-FA4B-65C6485A818C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EA6273A8-A8A3-B3B2-CF5E-B04CC9BC3427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bfs-0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5C803410-D98B-6021-447F-BD27832D4E3E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0E8BC257-FA20-FC0A-EFCA-144872D822D0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21B633E6-36CC-F803-2DED-EE5F06151AF2}"/>
                  </a:ext>
                </a:extLst>
              </p:cNvPr>
              <p:cNvSpPr txBox="1"/>
              <p:nvPr/>
            </p:nvSpPr>
            <p:spPr>
              <a:xfrm>
                <a:off x="1052985" y="2606668"/>
                <a:ext cx="2505395" cy="327455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使用优先队列的广度优先搜索，每次优先选择总花费最少的分支。实现得并不好，只能正确求解</a:t>
                </a:r>
                <a:r>
                  <a:rPr lang="en-US" altLang="zh-CN" sz="2000" b="0"/>
                  <a:t>n&lt;=5</a:t>
                </a:r>
                <a:r>
                  <a:rPr lang="zh-CN" altLang="en-US" sz="2000" b="0"/>
                  <a:t>规模的问题，往后内存不足。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71577B41-0F01-A824-5A28-CB0F4A7443B8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487669FE-2052-6E1C-C73A-146A047C86A6}"/>
              </a:ext>
            </a:extLst>
          </p:cNvPr>
          <p:cNvSpPr txBox="1"/>
          <p:nvPr/>
        </p:nvSpPr>
        <p:spPr>
          <a:xfrm>
            <a:off x="5161444" y="1720847"/>
            <a:ext cx="6741973" cy="4736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while (!qwq.empty())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Status cur = qwq.top();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qwq.pop();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node_num++;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(cur.cost &gt; minn) continue;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(cur.len &gt;= n)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(cur.cost + grid[1][cur.node] &lt; minn)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minn = cur.cost + grid[1][cur.node];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for (int i = 1; i &lt;= n; ++i) path[i] = cur.cur_path[i];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continue;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for (int i = 1; i &lt;= n; ++i)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(!cur.vis[i] &amp;&amp; grid[cur.node][i] != 0 &amp;&amp; cur.cost &lt; minn)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int tmp_vis[MAXN], tmp_path[MAXN];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for (int k = 1; k &lt;= n; ++k)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tmp_vis[k] = cur.vis[k];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tmp_path[k] = cur.cur_path[k];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tmp_vis[i] = 1;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tmp_path[cur.len + 1] = i;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qwq.emplace(i, cur.cost + grid[cur.node][i], 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        cur.len + 1, tmp_vis, tmp_path);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  <a:endParaRPr lang="zh-CN" altLang="en-US" sz="11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60BFF45A-F643-02CB-9927-17EC38E9CE84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FFB899BA-E4C7-5C8D-41EB-3ADA9C5BE777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A1B118F-3A26-686A-BB0B-F0EC030418B4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76481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6705F-D38C-B6C8-C93B-0BB9270E5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17E5E765-BD66-E1DD-3294-D93B0E8454E2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2B3AB6A6-B5DB-07A6-CD7A-683EEC265B1B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C98917A-9355-85A0-A2B2-241F8ABBD601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3D9EBAF3-8BDA-1D9A-8C1F-CF4B0C5B907F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B53BEF69-A66F-7190-3B00-F7F380AC8CE4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C2A947BA-B9CD-DB7D-CBBC-75E4A4B580EE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CAE2C724-AAB7-91F2-062A-BC3891EA66BC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74841AB-1527-0CAE-316E-907E3544CAE9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dp-0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1EC58863-6BCA-127B-2989-82FE1F23AD8B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9AEB56BF-177E-3ACF-2716-C639571FE2D0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341A0107-1A96-387A-C1CE-BE1E98BB8536}"/>
                  </a:ext>
                </a:extLst>
              </p:cNvPr>
              <p:cNvSpPr txBox="1"/>
              <p:nvPr/>
            </p:nvSpPr>
            <p:spPr>
              <a:xfrm>
                <a:off x="1052985" y="2838047"/>
                <a:ext cx="2505395" cy="281179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使用递推实现的动态规划算法，需要回溯倒推最优路径。尽管使用了状压</a:t>
                </a:r>
                <a:r>
                  <a:rPr lang="en-US" altLang="zh-CN" sz="2000" b="0"/>
                  <a:t>DP</a:t>
                </a:r>
                <a:r>
                  <a:rPr lang="zh-CN" altLang="en-US" sz="2000" b="0"/>
                  <a:t>，还是只能求解</a:t>
                </a:r>
                <a:r>
                  <a:rPr lang="en-US" altLang="zh-CN" sz="2000" b="0"/>
                  <a:t>n&lt;=17</a:t>
                </a:r>
                <a:r>
                  <a:rPr lang="zh-CN" altLang="en-US" sz="2000" b="0"/>
                  <a:t>规模的问题。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E69B2A2B-C9E3-8FD2-9607-7D5C069A52A7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853652C4-61DE-B966-4799-5411DE5300A5}"/>
              </a:ext>
            </a:extLst>
          </p:cNvPr>
          <p:cNvSpPr txBox="1"/>
          <p:nvPr/>
        </p:nvSpPr>
        <p:spPr>
          <a:xfrm>
            <a:off x="5161444" y="1916081"/>
            <a:ext cx="6741973" cy="4224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solve() {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// initialize dp[i][0]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i = 0; i &lt; n; ++i) dp[i][0] = grid[i][0];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// solve dp[i][j], update column first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j = 1; j &lt; m; ++j) {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for (int i = 0; i &lt; n; ++i) {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dp[i][j] = INF;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(((j &gt;&gt; (i - 1)) &amp; 1) == 1) continue;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for (int k = 1; k &lt; n; ++k) {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if (((j &gt;&gt; (k - 1)) &amp; 1) == 0) continue;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dp[i][j] = min(dp[i][j], grid[i][k] + dp[k][j ^ (1 &lt;&lt; (k - 1))]);}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lang="zh-CN" altLang="en-US" sz="12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AF5A7A6D-A305-12C1-B3AC-8CFF85BF3A11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B215D7A7-8472-481A-446D-1B4308771110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61A6146E-F509-AFE4-3C0F-06E83D87775F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03440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F3D6D-4807-8E72-A998-9F38DFD31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10682FB-D959-3869-A4F0-56A56A420529}"/>
              </a:ext>
            </a:extLst>
          </p:cNvPr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B69523A-4F29-5776-0B78-E961AA483387}"/>
              </a:ext>
            </a:extLst>
          </p:cNvPr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60CD464-CA55-4A83-C60C-D58DAC6212B4}"/>
              </a:ext>
            </a:extLst>
          </p:cNvPr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课题概述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930C7C9-0577-687B-FD2C-4EF9C49B270E}"/>
              </a:ext>
            </a:extLst>
          </p:cNvPr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3E921E6E-A17C-A9ED-6B31-858A9602915A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33DBF714-09EE-A448-AA1D-D038BAA4E31D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1EB7F226-7EEC-E326-5CA7-9CC953FBA6FC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B1F10DAB-CD46-6DF6-54BC-DA994F6D7EE5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CDDB4395-2A22-B791-D76E-5F5CEC82F56D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C5F8AF41-AC0A-6A1E-EFF6-EAFB6A27B736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0507291B-0AF1-30F0-62E1-37B9687B8A4C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A29F9145-29E4-3B94-7EEA-F1704F5F3AA6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3B21B63A-40A0-CB30-083A-891EC4C460C5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96989900-7094-2B0E-A785-A5CB6588272D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387263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68714-57B7-2984-E3A9-FEE01A43C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4DC4617-0632-1B5B-7CA6-7B151A8C76DD}"/>
              </a:ext>
            </a:extLst>
          </p:cNvPr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D5371B-778B-C510-01BC-53F4F7F35B88}"/>
              </a:ext>
            </a:extLst>
          </p:cNvPr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532D57BF-61D7-23CD-BD59-C03361283987}"/>
              </a:ext>
            </a:extLst>
          </p:cNvPr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课题概述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CD597479-C386-0447-C2AD-06100BE1938E}"/>
              </a:ext>
            </a:extLst>
          </p:cNvPr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3D2A1CF4-D4C2-EBE0-D45B-FDD0DE19520C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0E821FAF-CA88-FFB8-6EF6-B6838E7F2AFB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2A65AC81-AB4D-F92F-52FB-D46D163DBDA1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CB12682F-1B45-E84F-788A-16C71AF092C3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951C68F1-067C-FCE5-0699-49B764CDBC68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45E217B4-2B81-F26C-E383-A009995C52B4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58961870-BAB5-336F-FBF6-987439C279F8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470B7823-8666-B924-9F8A-A36D66F56B07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14B67B9D-EC9E-1ED1-BCAC-5E109731AF3A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3C39D7B2-007E-B164-9E3B-253B5A48F0C9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33996147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-12700" y="-13335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995045" y="0"/>
            <a:ext cx="391668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800" b="1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</a:p>
        </p:txBody>
      </p:sp>
      <p:sp>
        <p:nvSpPr>
          <p:cNvPr id="5" name="矩形 4"/>
          <p:cNvSpPr/>
          <p:nvPr/>
        </p:nvSpPr>
        <p:spPr>
          <a:xfrm>
            <a:off x="-12700" y="940435"/>
            <a:ext cx="3762375" cy="76200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3641725" y="2728595"/>
            <a:ext cx="6630035" cy="26765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▲一个简约风的</a:t>
            </a:r>
            <a:r>
              <a: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PPT</a:t>
            </a:r>
            <a:r>
              <a:rPr lang="zh-CN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，让我想想该放点啥形状，让它不那么</a:t>
            </a:r>
            <a:r>
              <a:rPr lang="zh-CN" altLang="en-US" sz="240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单调</a:t>
            </a:r>
            <a:endParaRPr lang="zh-CN" altLang="en-US" sz="2400">
              <a:solidFill>
                <a:schemeClr val="tx2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just"/>
            <a:r>
              <a:rPr lang="zh-CN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▲基本原则是，只用</a:t>
            </a:r>
            <a:r>
              <a: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2-3</a:t>
            </a:r>
            <a:r>
              <a:rPr lang="zh-CN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种颜色，常用两种颜色，第</a:t>
            </a:r>
            <a:r>
              <a: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3</a:t>
            </a:r>
            <a:r>
              <a:rPr lang="zh-CN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种颜色作为重点内容的</a:t>
            </a:r>
            <a:r>
              <a:rPr lang="zh-CN" altLang="en-US" sz="240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突出显示</a:t>
            </a:r>
            <a:r>
              <a:rPr lang="zh-CN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，比如这一个，可以用蓝色</a:t>
            </a:r>
            <a:r>
              <a: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+</a:t>
            </a:r>
            <a:r>
              <a:rPr lang="zh-CN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白色</a:t>
            </a:r>
            <a:r>
              <a: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+</a:t>
            </a:r>
            <a:r>
              <a:rPr lang="zh-CN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红色（少用）</a:t>
            </a:r>
          </a:p>
          <a:p>
            <a:pPr algn="just"/>
            <a:r>
              <a:rPr lang="zh-CN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▲基本图形可以随意添加组合，看起来顺眼就行</a:t>
            </a:r>
          </a:p>
          <a:p>
            <a:pPr algn="just"/>
            <a:r>
              <a:rPr lang="zh-CN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▲可以留些空白部分，插入需要展示的图片</a:t>
            </a:r>
          </a:p>
        </p:txBody>
      </p:sp>
      <p:sp>
        <p:nvSpPr>
          <p:cNvPr id="4" name="矩形 3"/>
          <p:cNvSpPr/>
          <p:nvPr/>
        </p:nvSpPr>
        <p:spPr>
          <a:xfrm>
            <a:off x="3566160" y="-28575"/>
            <a:ext cx="75565" cy="1101090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3201670" y="2395220"/>
            <a:ext cx="100330" cy="334264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0678160" y="2395220"/>
            <a:ext cx="100330" cy="334264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 rot="5400000">
            <a:off x="4822825" y="673735"/>
            <a:ext cx="100330" cy="334264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 rot="5400000">
            <a:off x="8956675" y="4016375"/>
            <a:ext cx="100330" cy="334264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" name="直接连接符 11"/>
          <p:cNvCxnSpPr>
            <a:stCxn id="8" idx="2"/>
          </p:cNvCxnSpPr>
          <p:nvPr/>
        </p:nvCxnSpPr>
        <p:spPr>
          <a:xfrm>
            <a:off x="3251835" y="5737860"/>
            <a:ext cx="4239260" cy="0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/>
        </p:nvCxnSpPr>
        <p:spPr>
          <a:xfrm>
            <a:off x="6438900" y="2395220"/>
            <a:ext cx="4239260" cy="0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3201670" y="1834515"/>
            <a:ext cx="2668270" cy="460375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2400" b="1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小标题</a:t>
            </a:r>
            <a:r>
              <a:rPr lang="en-US" altLang="zh-CN" sz="2400" b="1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-12700" y="-13335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995045" y="0"/>
            <a:ext cx="391668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800" b="1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研究目的</a:t>
            </a:r>
          </a:p>
        </p:txBody>
      </p:sp>
      <p:sp>
        <p:nvSpPr>
          <p:cNvPr id="5" name="矩形 4"/>
          <p:cNvSpPr/>
          <p:nvPr/>
        </p:nvSpPr>
        <p:spPr>
          <a:xfrm>
            <a:off x="-12700" y="940435"/>
            <a:ext cx="3762375" cy="76200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3566160" y="-28575"/>
            <a:ext cx="75565" cy="1101090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070610" y="2122170"/>
            <a:ext cx="8233410" cy="63754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①目的</a:t>
            </a:r>
          </a:p>
        </p:txBody>
      </p:sp>
      <p:sp>
        <p:nvSpPr>
          <p:cNvPr id="16" name="矩形 15"/>
          <p:cNvSpPr/>
          <p:nvPr/>
        </p:nvSpPr>
        <p:spPr>
          <a:xfrm>
            <a:off x="1726565" y="3490595"/>
            <a:ext cx="8233410" cy="63754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②目的</a:t>
            </a:r>
          </a:p>
        </p:txBody>
      </p:sp>
      <p:sp>
        <p:nvSpPr>
          <p:cNvPr id="17" name="矩形 16"/>
          <p:cNvSpPr/>
          <p:nvPr/>
        </p:nvSpPr>
        <p:spPr>
          <a:xfrm>
            <a:off x="2638425" y="4859020"/>
            <a:ext cx="8233410" cy="63754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>
                <a:latin typeface="微软雅黑" panose="020B0503020204020204" pitchFamily="34" charset="-122"/>
                <a:ea typeface="微软雅黑" panose="020B0503020204020204" pitchFamily="34" charset="-122"/>
              </a:rPr>
              <a:t>③目的</a:t>
            </a:r>
          </a:p>
        </p:txBody>
      </p:sp>
      <p:sp>
        <p:nvSpPr>
          <p:cNvPr id="18" name="L 形 17"/>
          <p:cNvSpPr/>
          <p:nvPr/>
        </p:nvSpPr>
        <p:spPr>
          <a:xfrm>
            <a:off x="1070610" y="2122170"/>
            <a:ext cx="384117" cy="637540"/>
          </a:xfrm>
          <a:prstGeom prst="corner">
            <a:avLst>
              <a:gd name="adj1" fmla="val 44610"/>
              <a:gd name="adj2" fmla="val 48191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L 形 18"/>
          <p:cNvSpPr/>
          <p:nvPr/>
        </p:nvSpPr>
        <p:spPr>
          <a:xfrm>
            <a:off x="1726565" y="3032125"/>
            <a:ext cx="382905" cy="1096010"/>
          </a:xfrm>
          <a:prstGeom prst="corner">
            <a:avLst>
              <a:gd name="adj1" fmla="val 4461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L 形 19"/>
          <p:cNvSpPr/>
          <p:nvPr/>
        </p:nvSpPr>
        <p:spPr>
          <a:xfrm>
            <a:off x="2638425" y="4400550"/>
            <a:ext cx="382905" cy="1096010"/>
          </a:xfrm>
          <a:prstGeom prst="corner">
            <a:avLst>
              <a:gd name="adj1" fmla="val 44610"/>
              <a:gd name="adj2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6" grpId="0" animBg="1"/>
      <p:bldP spid="16" grpId="1" animBg="1"/>
      <p:bldP spid="17" grpId="0" animBg="1"/>
      <p:bldP spid="17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3921760" y="2786380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4929505" y="2799715"/>
            <a:ext cx="391668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800" b="1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研究方法</a:t>
            </a:r>
          </a:p>
        </p:txBody>
      </p:sp>
      <p:sp>
        <p:nvSpPr>
          <p:cNvPr id="24" name="等腰三角形 23"/>
          <p:cNvSpPr/>
          <p:nvPr/>
        </p:nvSpPr>
        <p:spPr>
          <a:xfrm rot="10800000">
            <a:off x="0" y="-17780"/>
            <a:ext cx="1593850" cy="121094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2" name="直接连接符 31"/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200025" y="2540"/>
            <a:ext cx="0" cy="6075045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409575" y="348615"/>
            <a:ext cx="0" cy="4763135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/>
          <p:cNvCxnSpPr/>
          <p:nvPr/>
        </p:nvCxnSpPr>
        <p:spPr>
          <a:xfrm>
            <a:off x="628015" y="576580"/>
            <a:ext cx="0" cy="3105150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-12700" y="-13335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995045" y="0"/>
            <a:ext cx="391668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800" b="1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研究方法</a:t>
            </a:r>
          </a:p>
        </p:txBody>
      </p:sp>
      <p:sp>
        <p:nvSpPr>
          <p:cNvPr id="5" name="矩形 4"/>
          <p:cNvSpPr/>
          <p:nvPr/>
        </p:nvSpPr>
        <p:spPr>
          <a:xfrm>
            <a:off x="-12700" y="940435"/>
            <a:ext cx="3762375" cy="76200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3566160" y="-28575"/>
            <a:ext cx="75565" cy="1101090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菱形 1"/>
          <p:cNvSpPr/>
          <p:nvPr/>
        </p:nvSpPr>
        <p:spPr>
          <a:xfrm>
            <a:off x="2736850" y="1917700"/>
            <a:ext cx="3164840" cy="3164840"/>
          </a:xfrm>
          <a:prstGeom prst="diamond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菱形 7"/>
          <p:cNvSpPr/>
          <p:nvPr/>
        </p:nvSpPr>
        <p:spPr>
          <a:xfrm>
            <a:off x="4415790" y="3606800"/>
            <a:ext cx="3164840" cy="3164840"/>
          </a:xfrm>
          <a:prstGeom prst="diamond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菱形 8"/>
          <p:cNvSpPr/>
          <p:nvPr/>
        </p:nvSpPr>
        <p:spPr>
          <a:xfrm>
            <a:off x="4415790" y="274955"/>
            <a:ext cx="3164840" cy="3164840"/>
          </a:xfrm>
          <a:prstGeom prst="diamond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菱形 9"/>
          <p:cNvSpPr/>
          <p:nvPr/>
        </p:nvSpPr>
        <p:spPr>
          <a:xfrm>
            <a:off x="6125210" y="1917700"/>
            <a:ext cx="3164840" cy="3164840"/>
          </a:xfrm>
          <a:prstGeom prst="diamond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323205" y="1596390"/>
            <a:ext cx="175450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方法一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5218430" y="4928235"/>
            <a:ext cx="175450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方法三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3329940" y="3168015"/>
            <a:ext cx="175450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方法二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6972935" y="3239135"/>
            <a:ext cx="175450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方法四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14:prism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-12700" y="-13335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995045" y="0"/>
            <a:ext cx="391668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800" b="1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研究结论</a:t>
            </a:r>
          </a:p>
        </p:txBody>
      </p:sp>
      <p:sp>
        <p:nvSpPr>
          <p:cNvPr id="5" name="矩形 4"/>
          <p:cNvSpPr/>
          <p:nvPr/>
        </p:nvSpPr>
        <p:spPr>
          <a:xfrm>
            <a:off x="-12700" y="940435"/>
            <a:ext cx="3762375" cy="76200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3566160" y="-28575"/>
            <a:ext cx="75565" cy="1101090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367790" y="1996440"/>
            <a:ext cx="3296920" cy="31076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spAutoFit/>
          </a:bodyPr>
          <a:lstStyle/>
          <a:p>
            <a:r>
              <a:rPr lang="zh-CN" altLang="en-US" sz="2800">
                <a:solidFill>
                  <a:schemeClr val="tx2">
                    <a:lumMod val="75000"/>
                    <a:lumOff val="25000"/>
                  </a:schemeClr>
                </a:solidFill>
              </a:rPr>
              <a:t>结果一</a:t>
            </a:r>
          </a:p>
          <a:p>
            <a:endParaRPr lang="zh-CN" altLang="en-US" sz="280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r>
              <a:rPr lang="zh-CN" altLang="en-US" sz="2800">
                <a:solidFill>
                  <a:schemeClr val="tx2">
                    <a:lumMod val="75000"/>
                    <a:lumOff val="25000"/>
                  </a:schemeClr>
                </a:solidFill>
              </a:rPr>
              <a:t>结果二</a:t>
            </a:r>
          </a:p>
          <a:p>
            <a:endParaRPr lang="zh-CN" altLang="en-US" sz="280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r>
              <a:rPr lang="zh-CN" altLang="en-US" sz="2800">
                <a:solidFill>
                  <a:schemeClr val="tx2">
                    <a:lumMod val="75000"/>
                    <a:lumOff val="25000"/>
                  </a:schemeClr>
                </a:solidFill>
              </a:rPr>
              <a:t>结果三</a:t>
            </a:r>
          </a:p>
          <a:p>
            <a:endParaRPr lang="zh-CN" altLang="en-US" sz="280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r>
              <a:rPr lang="zh-CN" altLang="en-US" sz="2800">
                <a:solidFill>
                  <a:schemeClr val="tx2">
                    <a:lumMod val="75000"/>
                    <a:lumOff val="25000"/>
                  </a:schemeClr>
                </a:solidFill>
              </a:rPr>
              <a:t>结果四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5758815" y="1996440"/>
            <a:ext cx="4777740" cy="3107690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28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结论一</a:t>
            </a:r>
          </a:p>
          <a:p>
            <a:endParaRPr lang="zh-CN" altLang="en-US" sz="2800">
              <a:solidFill>
                <a:schemeClr val="tx2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8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结论二</a:t>
            </a:r>
          </a:p>
          <a:p>
            <a:endParaRPr lang="zh-CN" altLang="en-US" sz="2800">
              <a:solidFill>
                <a:schemeClr val="tx2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r>
              <a:rPr lang="zh-CN" altLang="en-US" sz="28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结论三</a:t>
            </a:r>
          </a:p>
          <a:p>
            <a:endParaRPr lang="zh-CN" altLang="en-US" sz="2800">
              <a:solidFill>
                <a:schemeClr val="tx2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r>
              <a:rPr lang="zh-CN" altLang="en-US" sz="280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结论四</a:t>
            </a:r>
          </a:p>
        </p:txBody>
      </p:sp>
      <p:sp>
        <p:nvSpPr>
          <p:cNvPr id="8" name="右箭头 7"/>
          <p:cNvSpPr/>
          <p:nvPr/>
        </p:nvSpPr>
        <p:spPr>
          <a:xfrm>
            <a:off x="3791585" y="2215515"/>
            <a:ext cx="1967230" cy="132080"/>
          </a:xfrm>
          <a:prstGeom prst="rightArrow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右箭头 8"/>
          <p:cNvSpPr/>
          <p:nvPr/>
        </p:nvSpPr>
        <p:spPr>
          <a:xfrm>
            <a:off x="3791585" y="3058160"/>
            <a:ext cx="1967230" cy="132080"/>
          </a:xfrm>
          <a:prstGeom prst="rightArrow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右箭头 9"/>
          <p:cNvSpPr/>
          <p:nvPr/>
        </p:nvSpPr>
        <p:spPr>
          <a:xfrm>
            <a:off x="3791585" y="3910330"/>
            <a:ext cx="1967230" cy="132080"/>
          </a:xfrm>
          <a:prstGeom prst="rightArrow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右箭头 10"/>
          <p:cNvSpPr/>
          <p:nvPr/>
        </p:nvSpPr>
        <p:spPr>
          <a:xfrm>
            <a:off x="3791585" y="4762500"/>
            <a:ext cx="1967230" cy="132080"/>
          </a:xfrm>
          <a:prstGeom prst="rightArrow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829945" y="2016760"/>
            <a:ext cx="537210" cy="318452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56310" y="2112010"/>
            <a:ext cx="284480" cy="3046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随便放点文字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-12700" y="-13335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995045" y="0"/>
            <a:ext cx="391668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800" b="1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研究结论</a:t>
            </a:r>
          </a:p>
        </p:txBody>
      </p:sp>
      <p:sp>
        <p:nvSpPr>
          <p:cNvPr id="5" name="矩形 4"/>
          <p:cNvSpPr/>
          <p:nvPr/>
        </p:nvSpPr>
        <p:spPr>
          <a:xfrm>
            <a:off x="-12700" y="940435"/>
            <a:ext cx="3762375" cy="76200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3566160" y="-28575"/>
            <a:ext cx="75565" cy="1101090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等腰三角形 6"/>
          <p:cNvSpPr/>
          <p:nvPr/>
        </p:nvSpPr>
        <p:spPr>
          <a:xfrm>
            <a:off x="1766570" y="2171065"/>
            <a:ext cx="3540125" cy="3540125"/>
          </a:xfrm>
          <a:prstGeom prst="triangle">
            <a:avLst/>
          </a:prstGeom>
          <a:solidFill>
            <a:schemeClr val="bg1"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等腰三角形 11"/>
          <p:cNvSpPr/>
          <p:nvPr/>
        </p:nvSpPr>
        <p:spPr>
          <a:xfrm>
            <a:off x="5449570" y="2171065"/>
            <a:ext cx="3540125" cy="3540125"/>
          </a:xfrm>
          <a:prstGeom prst="triangle">
            <a:avLst/>
          </a:prstGeom>
          <a:solidFill>
            <a:schemeClr val="bg1"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等腰三角形 12"/>
          <p:cNvSpPr/>
          <p:nvPr/>
        </p:nvSpPr>
        <p:spPr>
          <a:xfrm rot="10800000">
            <a:off x="3622675" y="1837690"/>
            <a:ext cx="3540125" cy="354012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等腰三角形 14"/>
          <p:cNvSpPr/>
          <p:nvPr/>
        </p:nvSpPr>
        <p:spPr>
          <a:xfrm rot="10800000">
            <a:off x="7277100" y="1847215"/>
            <a:ext cx="3540125" cy="354012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4175760" y="1894840"/>
            <a:ext cx="2433955" cy="2245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可以设计一些图形放上去，我用的都是最基本最简单的图形，大家可以自由发挥想象力</a:t>
            </a:r>
          </a:p>
          <a:p>
            <a:pPr algn="ctr"/>
            <a:r>
              <a:rPr lang="zh-CN" altLang="en-US" sz="20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这个比较</a:t>
            </a:r>
          </a:p>
          <a:p>
            <a:pPr algn="ctr"/>
            <a:r>
              <a:rPr lang="zh-CN" altLang="en-US" sz="20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丑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ldLvl="0" animBg="1"/>
      <p:bldP spid="7" grpId="1" animBg="1"/>
      <p:bldP spid="12" grpId="0" bldLvl="0" animBg="1"/>
      <p:bldP spid="12" grpId="1" animBg="1"/>
      <p:bldP spid="13" grpId="0" animBg="1"/>
      <p:bldP spid="13" grpId="1" animBg="1"/>
      <p:bldP spid="15" grpId="0" bldLvl="0" animBg="1"/>
      <p:bldP spid="15" grpId="1" animBg="1"/>
      <p:bldP spid="16" grpId="0"/>
      <p:bldP spid="16" grpId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 8"/>
          <p:cNvCxnSpPr/>
          <p:nvPr/>
        </p:nvCxnSpPr>
        <p:spPr>
          <a:xfrm>
            <a:off x="11330305" y="1803400"/>
            <a:ext cx="0" cy="400685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/>
          <p:cNvSpPr/>
          <p:nvPr/>
        </p:nvSpPr>
        <p:spPr>
          <a:xfrm>
            <a:off x="-12700" y="-13335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995045" y="0"/>
            <a:ext cx="391668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800" b="1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研究结论</a:t>
            </a:r>
          </a:p>
        </p:txBody>
      </p:sp>
      <p:sp>
        <p:nvSpPr>
          <p:cNvPr id="5" name="矩形 4"/>
          <p:cNvSpPr/>
          <p:nvPr/>
        </p:nvSpPr>
        <p:spPr>
          <a:xfrm>
            <a:off x="-12700" y="940435"/>
            <a:ext cx="3762375" cy="76200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3566160" y="-28575"/>
            <a:ext cx="75565" cy="1101090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2320290" y="1834515"/>
            <a:ext cx="8865235" cy="3969385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比如普通的文本框</a:t>
            </a:r>
          </a:p>
          <a:p>
            <a:pPr algn="ctr"/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个人比较喜欢矩形</a:t>
            </a:r>
          </a:p>
          <a:p>
            <a:pPr algn="ctr"/>
            <a:endParaRPr lang="zh-CN" altLang="en-US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algn="ctr"/>
            <a:endParaRPr lang="zh-CN" altLang="en-US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algn="ctr"/>
            <a:endParaRPr lang="zh-CN" altLang="en-US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algn="ctr"/>
            <a:endParaRPr lang="zh-CN" altLang="en-US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algn="ctr"/>
            <a:endParaRPr lang="zh-CN" altLang="en-US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algn="ctr"/>
            <a:endParaRPr lang="zh-CN" altLang="en-US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algn="ctr"/>
            <a:endParaRPr lang="zh-CN" altLang="en-US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algn="ctr"/>
            <a:endParaRPr lang="zh-CN" altLang="en-US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algn="ctr"/>
            <a:endParaRPr lang="zh-CN" altLang="en-US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algn="ctr"/>
            <a:endParaRPr lang="zh-CN" altLang="en-US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algn="ctr"/>
            <a:endParaRPr lang="zh-CN" altLang="en-US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algn="ctr"/>
            <a:endParaRPr lang="zh-CN" altLang="en-US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椭圆 5"/>
          <p:cNvSpPr/>
          <p:nvPr/>
        </p:nvSpPr>
        <p:spPr>
          <a:xfrm>
            <a:off x="1691640" y="1245870"/>
            <a:ext cx="1044575" cy="1044575"/>
          </a:xfrm>
          <a:prstGeom prst="ellipse">
            <a:avLst/>
          </a:prstGeom>
          <a:solidFill>
            <a:schemeClr val="tx2">
              <a:lumMod val="75000"/>
              <a:lumOff val="25000"/>
              <a:alpha val="86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>
                <a:latin typeface="微软雅黑" panose="020B0503020204020204" pitchFamily="34" charset="-122"/>
                <a:ea typeface="微软雅黑" panose="020B0503020204020204" pitchFamily="34" charset="-122"/>
              </a:rPr>
              <a:t>90%</a:t>
            </a:r>
          </a:p>
        </p:txBody>
      </p:sp>
      <p:sp>
        <p:nvSpPr>
          <p:cNvPr id="8" name="矩形 7"/>
          <p:cNvSpPr/>
          <p:nvPr/>
        </p:nvSpPr>
        <p:spPr>
          <a:xfrm>
            <a:off x="10810875" y="5465445"/>
            <a:ext cx="669290" cy="598170"/>
          </a:xfrm>
          <a:prstGeom prst="rect">
            <a:avLst/>
          </a:prstGeom>
          <a:solidFill>
            <a:schemeClr val="tx2">
              <a:lumMod val="75000"/>
              <a:lumOff val="25000"/>
              <a:alpha val="86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-12700" y="-13335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995045" y="0"/>
            <a:ext cx="391668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800" b="1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研究结论</a:t>
            </a:r>
          </a:p>
        </p:txBody>
      </p:sp>
      <p:sp>
        <p:nvSpPr>
          <p:cNvPr id="5" name="矩形 4"/>
          <p:cNvSpPr/>
          <p:nvPr/>
        </p:nvSpPr>
        <p:spPr>
          <a:xfrm>
            <a:off x="-12700" y="940435"/>
            <a:ext cx="3762375" cy="76200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3566160" y="-28575"/>
            <a:ext cx="75565" cy="1101090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3347720" y="1641475"/>
            <a:ext cx="2881630" cy="3610610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6985635" y="1623695"/>
            <a:ext cx="2881630" cy="3610610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3596640" y="5258435"/>
            <a:ext cx="2383790" cy="49720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/>
              <a:t>文字</a:t>
            </a:r>
          </a:p>
        </p:txBody>
      </p:sp>
      <p:sp>
        <p:nvSpPr>
          <p:cNvPr id="12" name="矩形 11"/>
          <p:cNvSpPr/>
          <p:nvPr/>
        </p:nvSpPr>
        <p:spPr>
          <a:xfrm>
            <a:off x="7234555" y="5229860"/>
            <a:ext cx="2383790" cy="49720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/>
              <a:t>文字</a:t>
            </a:r>
          </a:p>
        </p:txBody>
      </p:sp>
      <p:sp>
        <p:nvSpPr>
          <p:cNvPr id="13" name="直角三角形 12"/>
          <p:cNvSpPr/>
          <p:nvPr/>
        </p:nvSpPr>
        <p:spPr>
          <a:xfrm rot="5400000">
            <a:off x="3346450" y="1638935"/>
            <a:ext cx="689610" cy="689610"/>
          </a:xfrm>
          <a:prstGeom prst="rt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直角三角形 14"/>
          <p:cNvSpPr/>
          <p:nvPr/>
        </p:nvSpPr>
        <p:spPr>
          <a:xfrm rot="5400000">
            <a:off x="6985635" y="1632585"/>
            <a:ext cx="689610" cy="689610"/>
          </a:xfrm>
          <a:prstGeom prst="rt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等腰三角形 27"/>
          <p:cNvSpPr/>
          <p:nvPr/>
        </p:nvSpPr>
        <p:spPr>
          <a:xfrm rot="8220000">
            <a:off x="1287780" y="1140460"/>
            <a:ext cx="548005" cy="42862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等腰三角形 19"/>
          <p:cNvSpPr/>
          <p:nvPr/>
        </p:nvSpPr>
        <p:spPr>
          <a:xfrm rot="11520000">
            <a:off x="151765" y="1094105"/>
            <a:ext cx="548005" cy="34480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3117215" y="2297430"/>
            <a:ext cx="141605" cy="2332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3159760" y="4448175"/>
            <a:ext cx="7211695" cy="18224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3575685" y="2987675"/>
            <a:ext cx="5537835" cy="124714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900170" y="3103880"/>
            <a:ext cx="475678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b="1">
                <a:solidFill>
                  <a:schemeClr val="bg1"/>
                </a:solidFill>
              </a:rPr>
              <a:t>感谢观看</a:t>
            </a:r>
          </a:p>
        </p:txBody>
      </p:sp>
      <p:sp>
        <p:nvSpPr>
          <p:cNvPr id="8" name="矩形 7"/>
          <p:cNvSpPr/>
          <p:nvPr/>
        </p:nvSpPr>
        <p:spPr>
          <a:xfrm>
            <a:off x="-191770" y="0"/>
            <a:ext cx="13449935" cy="33972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等腰三角形 8"/>
          <p:cNvSpPr/>
          <p:nvPr/>
        </p:nvSpPr>
        <p:spPr>
          <a:xfrm rot="780000">
            <a:off x="295275" y="26035"/>
            <a:ext cx="1268095" cy="117665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2732405" y="2496820"/>
            <a:ext cx="4645660" cy="212725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9443720" y="4402455"/>
            <a:ext cx="15125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by </a:t>
            </a:r>
            <a:r>
              <a:rPr lang="zh-CN" altLang="en-US"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安梦玄汐</a:t>
            </a:r>
          </a:p>
        </p:txBody>
      </p:sp>
      <p:cxnSp>
        <p:nvCxnSpPr>
          <p:cNvPr id="16" name="直接连接符 15"/>
          <p:cNvCxnSpPr/>
          <p:nvPr/>
        </p:nvCxnSpPr>
        <p:spPr>
          <a:xfrm flipH="1">
            <a:off x="-366395" y="-129540"/>
            <a:ext cx="1074420" cy="102425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 flipH="1">
            <a:off x="-71120" y="-129540"/>
            <a:ext cx="993775" cy="100393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等腰三角形 17"/>
          <p:cNvSpPr/>
          <p:nvPr/>
        </p:nvSpPr>
        <p:spPr>
          <a:xfrm rot="20100000">
            <a:off x="654685" y="644525"/>
            <a:ext cx="548005" cy="471170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等腰三角形 18"/>
          <p:cNvSpPr/>
          <p:nvPr/>
        </p:nvSpPr>
        <p:spPr>
          <a:xfrm rot="4560000">
            <a:off x="866140" y="1127125"/>
            <a:ext cx="548005" cy="54927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等腰三角形 20"/>
          <p:cNvSpPr/>
          <p:nvPr/>
        </p:nvSpPr>
        <p:spPr>
          <a:xfrm rot="19380000">
            <a:off x="1017270" y="105410"/>
            <a:ext cx="791210" cy="962660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等腰三角形 21"/>
          <p:cNvSpPr/>
          <p:nvPr/>
        </p:nvSpPr>
        <p:spPr>
          <a:xfrm rot="20700000">
            <a:off x="1250950" y="502920"/>
            <a:ext cx="548005" cy="34480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等腰三角形 22"/>
          <p:cNvSpPr/>
          <p:nvPr/>
        </p:nvSpPr>
        <p:spPr>
          <a:xfrm rot="8400000">
            <a:off x="1769110" y="836295"/>
            <a:ext cx="386080" cy="41846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1850</Words>
  <Application>Microsoft Office PowerPoint</Application>
  <PresentationFormat>宽屏</PresentationFormat>
  <Paragraphs>254</Paragraphs>
  <Slides>28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6" baseType="lpstr">
      <vt:lpstr>华文中宋</vt:lpstr>
      <vt:lpstr>微软雅黑</vt:lpstr>
      <vt:lpstr>Arial</vt:lpstr>
      <vt:lpstr>Calibri</vt:lpstr>
      <vt:lpstr>Consolas</vt:lpstr>
      <vt:lpstr>Fira Code Medium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Linkin Florenz</cp:lastModifiedBy>
  <cp:revision>187</cp:revision>
  <dcterms:created xsi:type="dcterms:W3CDTF">2019-06-19T02:08:00Z</dcterms:created>
  <dcterms:modified xsi:type="dcterms:W3CDTF">2025-06-02T13:47:10Z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2052-11.1.0.10495</vt:lpwstr>
  </property>
  <property fmtid="{D5CDD505-2E9C-101B-9397-08002B2CF9AE}" pid="3" name="ICV">
    <vt:lpwstr>FA201EB6352946E5B532584391D68877</vt:lpwstr>
  </property>
</Properties>
</file>