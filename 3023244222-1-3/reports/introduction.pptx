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74" r:id="rId5"/>
    <p:sldId id="281" r:id="rId6"/>
    <p:sldId id="270" r:id="rId7"/>
    <p:sldId id="275" r:id="rId8"/>
    <p:sldId id="276" r:id="rId9"/>
    <p:sldId id="277" r:id="rId10"/>
    <p:sldId id="271" r:id="rId11"/>
    <p:sldId id="278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88" r:id="rId20"/>
    <p:sldId id="287" r:id="rId21"/>
    <p:sldId id="297" r:id="rId22"/>
    <p:sldId id="289" r:id="rId23"/>
    <p:sldId id="290" r:id="rId24"/>
    <p:sldId id="291" r:id="rId25"/>
    <p:sldId id="295" r:id="rId26"/>
    <p:sldId id="272" r:id="rId27"/>
    <p:sldId id="292" r:id="rId28"/>
    <p:sldId id="293" r:id="rId29"/>
    <p:sldId id="298" r:id="rId30"/>
    <p:sldId id="299" r:id="rId31"/>
    <p:sldId id="294" r:id="rId32"/>
    <p:sldId id="273" r:id="rId33"/>
    <p:sldId id="296" r:id="rId34"/>
    <p:sldId id="26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入" id="{7B3DE477-2212-43AF-87AE-903F0FA47FF9}">
          <p14:sldIdLst>
            <p14:sldId id="256"/>
            <p14:sldId id="257"/>
          </p14:sldIdLst>
        </p14:section>
        <p14:section name="课题概述" id="{3922FD5A-147A-486D-8B24-8BB0BABCC2F4}">
          <p14:sldIdLst>
            <p14:sldId id="258"/>
            <p14:sldId id="274"/>
            <p14:sldId id="281"/>
          </p14:sldIdLst>
        </p14:section>
        <p14:section name="项目结构" id="{944A7B21-9A08-4765-A417-277EBC268A32}">
          <p14:sldIdLst>
            <p14:sldId id="270"/>
            <p14:sldId id="275"/>
            <p14:sldId id="276"/>
            <p14:sldId id="277"/>
          </p14:sldIdLst>
        </p14:section>
        <p14:section name="实验过程" id="{035F7B5E-5809-4D70-AC42-04E6C5771A80}">
          <p14:sldIdLst>
            <p14:sldId id="271"/>
            <p14:sldId id="278"/>
            <p14:sldId id="279"/>
            <p14:sldId id="280"/>
            <p14:sldId id="282"/>
            <p14:sldId id="283"/>
            <p14:sldId id="284"/>
            <p14:sldId id="285"/>
            <p14:sldId id="286"/>
            <p14:sldId id="288"/>
            <p14:sldId id="287"/>
            <p14:sldId id="297"/>
            <p14:sldId id="289"/>
            <p14:sldId id="290"/>
            <p14:sldId id="291"/>
            <p14:sldId id="295"/>
          </p14:sldIdLst>
        </p14:section>
        <p14:section name="实验结果与结论" id="{4F8FB5E8-29D8-40F7-84DF-DA85B461F1C3}">
          <p14:sldIdLst>
            <p14:sldId id="272"/>
            <p14:sldId id="292"/>
            <p14:sldId id="293"/>
            <p14:sldId id="298"/>
            <p14:sldId id="299"/>
            <p14:sldId id="294"/>
          </p14:sldIdLst>
        </p14:section>
        <p14:section name="小组分工" id="{4D295109-4428-4BAE-9725-20A8B7A30473}">
          <p14:sldIdLst>
            <p14:sldId id="273"/>
            <p14:sldId id="296"/>
          </p14:sldIdLst>
        </p14:section>
        <p14:section name="结尾" id="{012F5DC4-A915-4865-A6E6-D73E942CC8E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273"/>
    <a:srgbClr val="D9D9D9"/>
    <a:srgbClr val="F2F2F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6" y="164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22465"/>
            <a:ext cx="12192000" cy="255158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61991" y="2083376"/>
            <a:ext cx="826801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60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算法设计与分析大作业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30173" y="3106024"/>
            <a:ext cx="4331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选题：算法改进</a:t>
            </a:r>
            <a:endParaRPr lang="en-US" altLang="zh-CN" sz="28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0700" y="3688805"/>
            <a:ext cx="6045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组长：谢雨航</a:t>
            </a: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组员：陈添硕、许英帅</a:t>
            </a:r>
            <a:endParaRPr lang="en-US" altLang="zh-CN" sz="20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11381740" y="3763794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BDA7E4ED-7CB7-76DF-3B72-3386C8C83C89}"/>
              </a:ext>
            </a:extLst>
          </p:cNvPr>
          <p:cNvSpPr/>
          <p:nvPr/>
        </p:nvSpPr>
        <p:spPr>
          <a:xfrm rot="5400000">
            <a:off x="18415" y="2003881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57387F93-FBA5-01FE-2DAE-B4D5AA6B0E33}"/>
              </a:ext>
            </a:extLst>
          </p:cNvPr>
          <p:cNvSpPr/>
          <p:nvPr/>
        </p:nvSpPr>
        <p:spPr>
          <a:xfrm>
            <a:off x="0" y="3745379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5D6FA338-F817-A726-BC16-8526A0AA422C}"/>
              </a:ext>
            </a:extLst>
          </p:cNvPr>
          <p:cNvSpPr/>
          <p:nvPr/>
        </p:nvSpPr>
        <p:spPr>
          <a:xfrm rot="10800000">
            <a:off x="11400155" y="2022296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7E5150-7ABE-AF3F-2D75-452179B6F00F}"/>
              </a:ext>
            </a:extLst>
          </p:cNvPr>
          <p:cNvSpPr txBox="1"/>
          <p:nvPr/>
        </p:nvSpPr>
        <p:spPr>
          <a:xfrm>
            <a:off x="3073081" y="4135776"/>
            <a:ext cx="6045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任课教师：刘春凤、宫秀军</a:t>
            </a:r>
            <a:endParaRPr lang="en-US" altLang="zh-CN" sz="20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2BAD8C3-CF28-63B3-7247-28FB09BB31A4}"/>
              </a:ext>
            </a:extLst>
          </p:cNvPr>
          <p:cNvGrpSpPr/>
          <p:nvPr/>
        </p:nvGrpSpPr>
        <p:grpSpPr>
          <a:xfrm rot="5400000">
            <a:off x="1472130" y="-1105776"/>
            <a:ext cx="1740535" cy="4251960"/>
            <a:chOff x="3263900" y="1682750"/>
            <a:chExt cx="1740535" cy="4251960"/>
          </a:xfrm>
        </p:grpSpPr>
        <p:sp>
          <p:nvSpPr>
            <p:cNvPr id="4" name="矩形 3"/>
            <p:cNvSpPr/>
            <p:nvPr/>
          </p:nvSpPr>
          <p:spPr>
            <a:xfrm rot="16200000">
              <a:off x="2260233" y="3187199"/>
              <a:ext cx="3735804" cy="124306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4000">
                  <a:latin typeface="Consolas" panose="020B0609020204030204" pitchFamily="49" charset="0"/>
                  <a:ea typeface="华文中宋" panose="02010600040101010101" pitchFamily="2" charset="-122"/>
                </a:rPr>
                <a:t>目录</a:t>
              </a:r>
              <a:endParaRPr lang="en-US" altLang="zh-CN" sz="4000"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2800">
                  <a:latin typeface="Consolas" panose="020B0609020204030204" pitchFamily="49" charset="0"/>
                  <a:ea typeface="华文中宋" panose="02010600040101010101" pitchFamily="2" charset="-122"/>
                </a:rPr>
                <a:t>Content</a:t>
              </a:r>
              <a:endParaRPr lang="zh-CN" altLang="en-US" sz="2800">
                <a:latin typeface="Consolas" panose="020B0609020204030204" pitchFamily="49" charset="0"/>
                <a:ea typeface="华文中宋" panose="02010600040101010101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3263900" y="4796790"/>
              <a:ext cx="1734820" cy="1137920"/>
              <a:chOff x="5056" y="7512"/>
              <a:chExt cx="2732" cy="179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505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764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198" y="9162"/>
                <a:ext cx="2438" cy="1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 rot="10800000">
              <a:off x="3269615" y="1682750"/>
              <a:ext cx="1734820" cy="1137920"/>
              <a:chOff x="5056" y="7512"/>
              <a:chExt cx="2732" cy="179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505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5198" y="9162"/>
                <a:ext cx="2438" cy="1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" name="文本框 6"/>
          <p:cNvSpPr txBox="1"/>
          <p:nvPr/>
        </p:nvSpPr>
        <p:spPr>
          <a:xfrm>
            <a:off x="6186420" y="1014171"/>
            <a:ext cx="31128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课题概述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5FE752-5C58-1213-81E7-4EBE80162276}"/>
              </a:ext>
            </a:extLst>
          </p:cNvPr>
          <p:cNvSpPr txBox="1"/>
          <p:nvPr/>
        </p:nvSpPr>
        <p:spPr>
          <a:xfrm>
            <a:off x="6186420" y="2121225"/>
            <a:ext cx="31128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项目结构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560D94-2051-E6E9-A0FD-4AD3EA7CFE16}"/>
              </a:ext>
            </a:extLst>
          </p:cNvPr>
          <p:cNvSpPr txBox="1"/>
          <p:nvPr/>
        </p:nvSpPr>
        <p:spPr>
          <a:xfrm>
            <a:off x="6186420" y="3228279"/>
            <a:ext cx="31128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实验过程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B4B0DB-8BB1-843F-1C54-791777F3137A}"/>
              </a:ext>
            </a:extLst>
          </p:cNvPr>
          <p:cNvSpPr txBox="1"/>
          <p:nvPr/>
        </p:nvSpPr>
        <p:spPr>
          <a:xfrm>
            <a:off x="6186420" y="4335333"/>
            <a:ext cx="606662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实验结果与结论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C6E0942-1125-3FBB-BA47-2819B7D2D73E}"/>
              </a:ext>
            </a:extLst>
          </p:cNvPr>
          <p:cNvSpPr txBox="1"/>
          <p:nvPr/>
        </p:nvSpPr>
        <p:spPr>
          <a:xfrm>
            <a:off x="6186420" y="5442387"/>
            <a:ext cx="311287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40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小组分工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FBCF5B5-B5A4-455B-B97F-18E88E1C03E9}"/>
              </a:ext>
            </a:extLst>
          </p:cNvPr>
          <p:cNvSpPr/>
          <p:nvPr/>
        </p:nvSpPr>
        <p:spPr>
          <a:xfrm>
            <a:off x="-622601" y="4667773"/>
            <a:ext cx="2964999" cy="2964999"/>
          </a:xfrm>
          <a:prstGeom prst="ellipse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9AC8301-9510-161D-FEEF-F431D61F01F9}"/>
              </a:ext>
            </a:extLst>
          </p:cNvPr>
          <p:cNvSpPr/>
          <p:nvPr/>
        </p:nvSpPr>
        <p:spPr>
          <a:xfrm>
            <a:off x="673801" y="3598563"/>
            <a:ext cx="637641" cy="637641"/>
          </a:xfrm>
          <a:prstGeom prst="ellipse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660DB20-53EB-C18D-7524-C28FEB8BA3C2}"/>
              </a:ext>
            </a:extLst>
          </p:cNvPr>
          <p:cNvSpPr/>
          <p:nvPr/>
        </p:nvSpPr>
        <p:spPr>
          <a:xfrm>
            <a:off x="1508242" y="4315018"/>
            <a:ext cx="400437" cy="400437"/>
          </a:xfrm>
          <a:prstGeom prst="ellipse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B0D9B69-6AD1-227A-E5A5-801E28A43263}"/>
              </a:ext>
            </a:extLst>
          </p:cNvPr>
          <p:cNvSpPr/>
          <p:nvPr/>
        </p:nvSpPr>
        <p:spPr>
          <a:xfrm>
            <a:off x="2454833" y="3740218"/>
            <a:ext cx="1550036" cy="1550036"/>
          </a:xfrm>
          <a:prstGeom prst="ellipse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03713" y="2679383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78108" y="2596177"/>
            <a:ext cx="391668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课题概述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C41E73-E696-1B9B-DF68-1722D0B3B147}"/>
              </a:ext>
            </a:extLst>
          </p:cNvPr>
          <p:cNvGrpSpPr/>
          <p:nvPr/>
        </p:nvGrpSpPr>
        <p:grpSpPr>
          <a:xfrm>
            <a:off x="0" y="-17780"/>
            <a:ext cx="1593850" cy="6095365"/>
            <a:chOff x="0" y="-17780"/>
            <a:chExt cx="1593850" cy="6095365"/>
          </a:xfrm>
        </p:grpSpPr>
        <p:sp>
          <p:nvSpPr>
            <p:cNvPr id="24" name="等腰三角形 23"/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C4DAB68-012D-6D3A-1BBC-850CD14F3125}"/>
              </a:ext>
            </a:extLst>
          </p:cNvPr>
          <p:cNvGrpSpPr/>
          <p:nvPr/>
        </p:nvGrpSpPr>
        <p:grpSpPr>
          <a:xfrm flipH="1">
            <a:off x="10598150" y="0"/>
            <a:ext cx="1593850" cy="6095365"/>
            <a:chOff x="0" y="-17780"/>
            <a:chExt cx="1593850" cy="6095365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817E435F-C114-793C-3DDA-7F94390B42CF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7898038-EF49-FBEE-0FFC-C5BB598055F8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DAB24DD-6E19-B5E2-6242-AA569DCFC750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A63B20D-4ACF-967B-3F6B-69F75BA59E2D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F6DC-26F0-C637-C427-0CFF929B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6132503D-962F-32D0-DB3E-F677B5E17EA9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D3A0BD0-4840-3088-71AD-2F68699F198C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001313F-C381-124A-5B6C-798640FAAC8F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7820FC6-ECDB-8480-FAA1-09B795787D48}"/>
                </a:ext>
              </a:extLst>
            </p:cNvPr>
            <p:cNvSpPr txBox="1"/>
            <p:nvPr/>
          </p:nvSpPr>
          <p:spPr>
            <a:xfrm>
              <a:off x="861695" y="0"/>
              <a:ext cx="288798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课题概述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1582667-BC46-A5EA-25DE-DDFD422074F9}"/>
              </a:ext>
            </a:extLst>
          </p:cNvPr>
          <p:cNvGrpSpPr/>
          <p:nvPr/>
        </p:nvGrpSpPr>
        <p:grpSpPr>
          <a:xfrm>
            <a:off x="861695" y="1154538"/>
            <a:ext cx="4901799" cy="5114645"/>
            <a:chOff x="3756602" y="1237665"/>
            <a:chExt cx="4901799" cy="5114645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BD4A0A6-1790-ACBB-803B-CECA7F9A8788}"/>
                </a:ext>
              </a:extLst>
            </p:cNvPr>
            <p:cNvGrpSpPr/>
            <p:nvPr/>
          </p:nvGrpSpPr>
          <p:grpSpPr>
            <a:xfrm>
              <a:off x="3756602" y="1237665"/>
              <a:ext cx="4901799" cy="5114645"/>
              <a:chOff x="3201664" y="1914282"/>
              <a:chExt cx="7576826" cy="382357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972625F-BB3D-34D1-7521-AF8AD401E68A}"/>
                  </a:ext>
                </a:extLst>
              </p:cNvPr>
              <p:cNvSpPr/>
              <p:nvPr/>
            </p:nvSpPr>
            <p:spPr>
              <a:xfrm>
                <a:off x="320167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75AEBD1-3645-766F-BD8C-509A811A9D7A}"/>
                  </a:ext>
                </a:extLst>
              </p:cNvPr>
              <p:cNvSpPr/>
              <p:nvPr/>
            </p:nvSpPr>
            <p:spPr>
              <a:xfrm>
                <a:off x="1067816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28627D4-941A-00AE-03E8-7D7B0CC4C0B7}"/>
                  </a:ext>
                </a:extLst>
              </p:cNvPr>
              <p:cNvSpPr/>
              <p:nvPr/>
            </p:nvSpPr>
            <p:spPr>
              <a:xfrm rot="5400000">
                <a:off x="4822825" y="67373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3372DF-717F-68DE-6B6D-D8B7A426ED6D}"/>
                  </a:ext>
                </a:extLst>
              </p:cNvPr>
              <p:cNvSpPr/>
              <p:nvPr/>
            </p:nvSpPr>
            <p:spPr>
              <a:xfrm rot="5400000">
                <a:off x="8956675" y="401637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3241292-B850-4FC5-F0AB-312C925C241A}"/>
                  </a:ext>
                </a:extLst>
              </p:cNvPr>
              <p:cNvSpPr txBox="1"/>
              <p:nvPr/>
            </p:nvSpPr>
            <p:spPr>
              <a:xfrm>
                <a:off x="3201664" y="1914282"/>
                <a:ext cx="3342641" cy="391146"/>
              </a:xfrm>
              <a:prstGeom prst="rect">
                <a:avLst/>
              </a:prstGeom>
              <a:noFill/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2800" b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微软雅黑" panose="020B0503020204020204" pitchFamily="34" charset="-122"/>
                  </a:rPr>
                  <a:t>主题选择</a:t>
                </a:r>
                <a:endPara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4E2E0F9-D960-ED9F-154C-7B6D233345B2}"/>
                </a:ext>
              </a:extLst>
            </p:cNvPr>
            <p:cNvSpPr txBox="1"/>
            <p:nvPr/>
          </p:nvSpPr>
          <p:spPr>
            <a:xfrm>
              <a:off x="4117754" y="2270008"/>
              <a:ext cx="4179488" cy="335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我们选择了第</a:t>
              </a:r>
              <a:r>
                <a:rPr lang="en-US" altLang="zh-CN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个主题：算法改进类。我们希望在某一个</a:t>
              </a:r>
              <a:r>
                <a:rPr lang="en-US" altLang="zh-CN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NP</a:t>
              </a: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难问题上，通过不同的算法策略，以及针对某一算法策略进行改进，以得到更好的性能与更准确的结果。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2B3607B-ED81-AB21-4F07-1F71AE3614F5}"/>
              </a:ext>
            </a:extLst>
          </p:cNvPr>
          <p:cNvGrpSpPr/>
          <p:nvPr/>
        </p:nvGrpSpPr>
        <p:grpSpPr>
          <a:xfrm>
            <a:off x="6428508" y="1154538"/>
            <a:ext cx="4901799" cy="5114645"/>
            <a:chOff x="3756602" y="1237665"/>
            <a:chExt cx="4901799" cy="5114645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451057-AFDD-3442-D613-3B4F8DB8D07C}"/>
                </a:ext>
              </a:extLst>
            </p:cNvPr>
            <p:cNvGrpSpPr/>
            <p:nvPr/>
          </p:nvGrpSpPr>
          <p:grpSpPr>
            <a:xfrm>
              <a:off x="3756602" y="1237665"/>
              <a:ext cx="4901799" cy="5114645"/>
              <a:chOff x="3201664" y="1914282"/>
              <a:chExt cx="7576826" cy="3823578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6B2A680-E930-4C27-A50C-9903AD080C88}"/>
                  </a:ext>
                </a:extLst>
              </p:cNvPr>
              <p:cNvSpPr/>
              <p:nvPr/>
            </p:nvSpPr>
            <p:spPr>
              <a:xfrm>
                <a:off x="320167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C2D55F9-8B88-CE16-ACB9-C336EB92FFA3}"/>
                  </a:ext>
                </a:extLst>
              </p:cNvPr>
              <p:cNvSpPr/>
              <p:nvPr/>
            </p:nvSpPr>
            <p:spPr>
              <a:xfrm>
                <a:off x="1067816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5105E90-62F5-15A4-95E4-2B8A7983FA48}"/>
                  </a:ext>
                </a:extLst>
              </p:cNvPr>
              <p:cNvSpPr/>
              <p:nvPr/>
            </p:nvSpPr>
            <p:spPr>
              <a:xfrm rot="5400000">
                <a:off x="4822825" y="67373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21D68F6-D4D8-A5B3-9107-C650C5B19D13}"/>
                  </a:ext>
                </a:extLst>
              </p:cNvPr>
              <p:cNvSpPr/>
              <p:nvPr/>
            </p:nvSpPr>
            <p:spPr>
              <a:xfrm rot="5400000">
                <a:off x="8956675" y="401637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F694131-CC42-076B-D925-445BF1684233}"/>
                  </a:ext>
                </a:extLst>
              </p:cNvPr>
              <p:cNvSpPr txBox="1"/>
              <p:nvPr/>
            </p:nvSpPr>
            <p:spPr>
              <a:xfrm>
                <a:off x="3201664" y="1914282"/>
                <a:ext cx="3342641" cy="391146"/>
              </a:xfrm>
              <a:prstGeom prst="rect">
                <a:avLst/>
              </a:prstGeom>
              <a:noFill/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2800" b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微软雅黑" panose="020B0503020204020204" pitchFamily="34" charset="-122"/>
                  </a:rPr>
                  <a:t>问题选择</a:t>
                </a:r>
                <a:endPara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F102A5C-5341-56DA-08AA-C39B2B6D1381}"/>
                </a:ext>
              </a:extLst>
            </p:cNvPr>
            <p:cNvSpPr txBox="1"/>
            <p:nvPr/>
          </p:nvSpPr>
          <p:spPr>
            <a:xfrm>
              <a:off x="4117754" y="2374091"/>
              <a:ext cx="4179488" cy="335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我们选择了</a:t>
              </a:r>
              <a:r>
                <a:rPr lang="en-US" altLang="zh-CN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TSP</a:t>
              </a: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（旅行商）问题。我们注意到该问题数据集的的大部分数据来源于现实，具有很好的数学性质，而且扩展性强，是个很有研究意义的问题。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5506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4EC9-11E9-3945-7DFF-0490A310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3C7BFDC5-1F9F-E4A6-7AEC-415A9DD03E59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6DA288C-DCCC-CD73-DFF8-848FCC05AE0F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DB24D56-F122-7388-15C6-16F37E74155C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216B8B6-05C1-F45F-7DC8-56476184ADE8}"/>
                </a:ext>
              </a:extLst>
            </p:cNvPr>
            <p:cNvSpPr txBox="1"/>
            <p:nvPr/>
          </p:nvSpPr>
          <p:spPr>
            <a:xfrm>
              <a:off x="861695" y="0"/>
              <a:ext cx="288798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课题概述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DCDF4AD-0ABA-19A7-090D-98219F328FE6}"/>
              </a:ext>
            </a:extLst>
          </p:cNvPr>
          <p:cNvGrpSpPr/>
          <p:nvPr/>
        </p:nvGrpSpPr>
        <p:grpSpPr>
          <a:xfrm>
            <a:off x="1549733" y="1440335"/>
            <a:ext cx="9092533" cy="4632805"/>
            <a:chOff x="3756602" y="1237665"/>
            <a:chExt cx="4901799" cy="5114645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E656DA3-CCFC-2E60-0157-611503CBC1BC}"/>
                </a:ext>
              </a:extLst>
            </p:cNvPr>
            <p:cNvGrpSpPr/>
            <p:nvPr/>
          </p:nvGrpSpPr>
          <p:grpSpPr>
            <a:xfrm>
              <a:off x="3756602" y="1237665"/>
              <a:ext cx="4901799" cy="5114645"/>
              <a:chOff x="3201664" y="1914282"/>
              <a:chExt cx="7576826" cy="382357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81E3E32-B3F7-56AF-9916-A96E80D0802B}"/>
                  </a:ext>
                </a:extLst>
              </p:cNvPr>
              <p:cNvSpPr/>
              <p:nvPr/>
            </p:nvSpPr>
            <p:spPr>
              <a:xfrm>
                <a:off x="320167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65A923C-A3E8-A093-6B3D-3B8A44225E96}"/>
                  </a:ext>
                </a:extLst>
              </p:cNvPr>
              <p:cNvSpPr/>
              <p:nvPr/>
            </p:nvSpPr>
            <p:spPr>
              <a:xfrm>
                <a:off x="10678160" y="2395220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48CD2FB-1EAD-A47C-116F-DF8BCE8BE663}"/>
                  </a:ext>
                </a:extLst>
              </p:cNvPr>
              <p:cNvSpPr/>
              <p:nvPr/>
            </p:nvSpPr>
            <p:spPr>
              <a:xfrm rot="5400000">
                <a:off x="4822825" y="67373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32F2524-9A31-A06A-1986-481AC08E4831}"/>
                  </a:ext>
                </a:extLst>
              </p:cNvPr>
              <p:cNvSpPr/>
              <p:nvPr/>
            </p:nvSpPr>
            <p:spPr>
              <a:xfrm rot="5400000">
                <a:off x="8956675" y="4016375"/>
                <a:ext cx="100330" cy="33426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F3495BF-E8E6-7B23-325E-8A3B4F213989}"/>
                  </a:ext>
                </a:extLst>
              </p:cNvPr>
              <p:cNvSpPr txBox="1"/>
              <p:nvPr/>
            </p:nvSpPr>
            <p:spPr>
              <a:xfrm>
                <a:off x="3201664" y="1914282"/>
                <a:ext cx="3342641" cy="391146"/>
              </a:xfrm>
              <a:prstGeom prst="rect">
                <a:avLst/>
              </a:prstGeom>
              <a:noFill/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2800" b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微软雅黑" panose="020B0503020204020204" pitchFamily="34" charset="-122"/>
                  </a:rPr>
                  <a:t>数据特点</a:t>
                </a:r>
                <a:endPara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E1A786-5179-0E62-9A69-95B6B40C42AE}"/>
                </a:ext>
              </a:extLst>
            </p:cNvPr>
            <p:cNvSpPr txBox="1"/>
            <p:nvPr/>
          </p:nvSpPr>
          <p:spPr>
            <a:xfrm>
              <a:off x="4117759" y="2629243"/>
              <a:ext cx="4179488" cy="2476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我们使用的数据集具有以下特点：</a:t>
              </a:r>
              <a:endPara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457200" indent="-457200" algn="just">
                <a:lnSpc>
                  <a:spcPct val="150000"/>
                </a:lnSpc>
                <a:buAutoNum type="arabicPeriod"/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节点均为现实中的城市，坐标为真实二维坐标。</a:t>
              </a:r>
              <a:endPara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457200" indent="-457200" algn="just">
                <a:lnSpc>
                  <a:spcPct val="150000"/>
                </a:lnSpc>
                <a:buAutoNum type="arabicPeriod"/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节点间距离为欧式几何距离，满足三角不等式。</a:t>
              </a:r>
              <a:endPara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457200" indent="-457200" algn="just">
                <a:lnSpc>
                  <a:spcPct val="150000"/>
                </a:lnSpc>
                <a:buAutoNum type="arabicPeriod"/>
              </a:pPr>
              <a:r>
                <a:rPr lang="zh-CN" altLang="en-US" sz="2400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图为无向完全图。</a:t>
              </a:r>
              <a:endPara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7445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5BFB8-9E65-42FB-EF3D-D1F95681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F031A07-3333-20B7-13D5-BB84F74C1CAD}"/>
              </a:ext>
            </a:extLst>
          </p:cNvPr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B9BEB7-84B2-3FDB-A6B7-6863AF772212}"/>
              </a:ext>
            </a:extLst>
          </p:cNvPr>
          <p:cNvSpPr/>
          <p:nvPr/>
        </p:nvSpPr>
        <p:spPr>
          <a:xfrm>
            <a:off x="3903713" y="2679383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20F147-F58F-C736-D38A-4F739E3812F4}"/>
              </a:ext>
            </a:extLst>
          </p:cNvPr>
          <p:cNvSpPr txBox="1"/>
          <p:nvPr/>
        </p:nvSpPr>
        <p:spPr>
          <a:xfrm>
            <a:off x="4778108" y="2596177"/>
            <a:ext cx="391668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项目结构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394437A-17B0-289E-ECCA-0503EEC3F8CB}"/>
              </a:ext>
            </a:extLst>
          </p:cNvPr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0D8447C8-811B-BE2E-42CD-4253AE36C225}"/>
              </a:ext>
            </a:extLst>
          </p:cNvPr>
          <p:cNvGrpSpPr/>
          <p:nvPr/>
        </p:nvGrpSpPr>
        <p:grpSpPr>
          <a:xfrm>
            <a:off x="0" y="-17780"/>
            <a:ext cx="1593850" cy="6095365"/>
            <a:chOff x="0" y="-17780"/>
            <a:chExt cx="1593850" cy="609536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9F0E39C1-6109-125C-90A5-B79E085B87A4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1DDCB7B-F528-1425-A0D0-7EA880672185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406330B6-6460-BC36-394A-053A2BE08B8A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3F42675-5DBC-A9F0-9914-61ED7B233A17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DBB94D3-D94D-D9F4-B08D-3518FCFEF2BB}"/>
              </a:ext>
            </a:extLst>
          </p:cNvPr>
          <p:cNvGrpSpPr/>
          <p:nvPr/>
        </p:nvGrpSpPr>
        <p:grpSpPr>
          <a:xfrm flipH="1">
            <a:off x="10598150" y="0"/>
            <a:ext cx="1593850" cy="6095365"/>
            <a:chOff x="0" y="-17780"/>
            <a:chExt cx="1593850" cy="6095365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0AA7F8C9-0E6A-7655-2DBF-419ECD0AE286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CB4EE99-DF8A-8B9F-2F8E-0882DEDF4F3E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EDEA2F8-C427-ABBC-4164-8237F161280B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C85C8F3-3DC1-EBD5-445B-D6DCE6B93A91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5080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11C116B-BF6D-C61A-AC17-E7000936C9AA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4125912-149F-E893-E13B-1F21BA8B3197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8831377-1D47-FD30-4F8C-18EF0CBDD60B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169FA98-7C38-D62B-ECAB-133A028B8FFC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项目结构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3B7D07C-C3E7-288C-AD24-742EF91EA55A}"/>
              </a:ext>
            </a:extLst>
          </p:cNvPr>
          <p:cNvSpPr txBox="1"/>
          <p:nvPr/>
        </p:nvSpPr>
        <p:spPr>
          <a:xfrm>
            <a:off x="1575954" y="1945933"/>
            <a:ext cx="9040091" cy="2966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3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我们使用</a:t>
            </a:r>
            <a:r>
              <a:rPr lang="en-US" altLang="zh-CN" sz="3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git</a:t>
            </a:r>
            <a:r>
              <a:rPr lang="zh-CN" altLang="en-US" sz="32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工具管理原始项目，并使用分支来管理项目进行的各个阶段。这不仅有助于清晰地规划项目，更有利于多人协作时的有痕工作和版本控制。</a:t>
            </a:r>
          </a:p>
        </p:txBody>
      </p:sp>
    </p:spTree>
    <p:extLst>
      <p:ext uri="{BB962C8B-B14F-4D97-AF65-F5344CB8AC3E}">
        <p14:creationId xmlns:p14="http://schemas.microsoft.com/office/powerpoint/2010/main" val="3280202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2415-EC18-158B-E9B0-067BE49E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DAC46F0-CAB7-839B-91DB-586807794EA5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3A53701-9260-6794-9033-D36E5D0A0178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45FB856-7A78-624D-60D8-DC66AA693026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145F95E-FB4B-C99D-A198-7B989C37ECAA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项目结构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1C8A602-2E1E-F335-7396-BFEC3F0FBA40}"/>
              </a:ext>
            </a:extLst>
          </p:cNvPr>
          <p:cNvSpPr/>
          <p:nvPr/>
        </p:nvSpPr>
        <p:spPr>
          <a:xfrm>
            <a:off x="1128082" y="1615857"/>
            <a:ext cx="9935836" cy="4675909"/>
          </a:xfrm>
          <a:prstGeom prst="roundRect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8A7CF51-B93E-21D7-0DE5-55BE9CECC449}"/>
              </a:ext>
            </a:extLst>
          </p:cNvPr>
          <p:cNvSpPr/>
          <p:nvPr/>
        </p:nvSpPr>
        <p:spPr>
          <a:xfrm>
            <a:off x="10286999" y="838938"/>
            <a:ext cx="1553837" cy="1553837"/>
          </a:xfrm>
          <a:prstGeom prst="ellipse">
            <a:avLst/>
          </a:prstGeom>
          <a:solidFill>
            <a:srgbClr val="3242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目录</a:t>
            </a:r>
            <a:endParaRPr lang="en-US" altLang="zh-CN" sz="32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52EA92-18AD-4531-C35D-25946785DAE3}"/>
              </a:ext>
            </a:extLst>
          </p:cNvPr>
          <p:cNvSpPr txBox="1"/>
          <p:nvPr/>
        </p:nvSpPr>
        <p:spPr>
          <a:xfrm>
            <a:off x="1887682" y="1659255"/>
            <a:ext cx="8416636" cy="44637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Project</a:t>
            </a: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- resource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项目资源文件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  - papers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论文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  - testcases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测试用例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- src	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算法代码源文件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  - EXACT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可求得精确解的算法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  - APPRO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可求得近似解的算法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  <a:p>
            <a:pPr lvl="1">
              <a:lnSpc>
                <a:spcPct val="150000"/>
              </a:lnSpc>
              <a:buClr>
                <a:schemeClr val="bg1"/>
              </a:buClr>
            </a:pPr>
            <a:r>
              <a:rPr lang="en-US" altLang="zh-CN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- result			# </a:t>
            </a:r>
            <a:r>
              <a:rPr lang="zh-CN" altLang="en-US" sz="2400">
                <a:solidFill>
                  <a:schemeClr val="bg1"/>
                </a:solidFill>
                <a:latin typeface="Consolas" panose="020B0609020204030204" pitchFamily="49" charset="0"/>
                <a:ea typeface="华文宋体" panose="02010600040101010101" pitchFamily="2" charset="-122"/>
              </a:rPr>
              <a:t>输出文件</a:t>
            </a:r>
            <a:endParaRPr lang="en-US" altLang="zh-CN" sz="2400">
              <a:solidFill>
                <a:schemeClr val="bg1"/>
              </a:solidFill>
              <a:latin typeface="Consolas" panose="020B0609020204030204" pitchFamily="49" charset="0"/>
              <a:ea typeface="华文宋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3466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14BF-E3DC-2BDD-4A8C-15950990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F2B03387-808B-2B51-C2FA-DB3E0B8A2288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FBDFE2B-A637-FABE-3DAC-4028B4D5A2D9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88550C8-ABA1-9E63-AC78-22793760B769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83CB1C7-5E5B-18E5-2B4C-1EB47F914050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项目结构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8D811EF-D1B5-A419-562E-AA372EE12416}"/>
              </a:ext>
            </a:extLst>
          </p:cNvPr>
          <p:cNvSpPr/>
          <p:nvPr/>
        </p:nvSpPr>
        <p:spPr>
          <a:xfrm>
            <a:off x="1128082" y="1615857"/>
            <a:ext cx="9935836" cy="4675909"/>
          </a:xfrm>
          <a:prstGeom prst="roundRect">
            <a:avLst/>
          </a:prstGeom>
          <a:solidFill>
            <a:srgbClr val="32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EC4E714-A654-AAF5-7F02-17AF16C757F1}"/>
              </a:ext>
            </a:extLst>
          </p:cNvPr>
          <p:cNvSpPr/>
          <p:nvPr/>
        </p:nvSpPr>
        <p:spPr>
          <a:xfrm>
            <a:off x="10286999" y="838938"/>
            <a:ext cx="1553837" cy="1553837"/>
          </a:xfrm>
          <a:prstGeom prst="ellipse">
            <a:avLst/>
          </a:prstGeom>
          <a:solidFill>
            <a:srgbClr val="3242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分支</a:t>
            </a:r>
            <a:endParaRPr lang="en-US" altLang="zh-CN" sz="32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结构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C417FE9-FE9E-F3C8-AF75-48F6520B2644}"/>
              </a:ext>
            </a:extLst>
          </p:cNvPr>
          <p:cNvGrpSpPr/>
          <p:nvPr/>
        </p:nvGrpSpPr>
        <p:grpSpPr>
          <a:xfrm>
            <a:off x="2305685" y="1776358"/>
            <a:ext cx="2959042" cy="2289951"/>
            <a:chOff x="2305685" y="1776358"/>
            <a:chExt cx="2959042" cy="2289951"/>
          </a:xfrm>
        </p:grpSpPr>
        <p:sp>
          <p:nvSpPr>
            <p:cNvPr id="9" name="箭头: 手杖形 8">
              <a:extLst>
                <a:ext uri="{FF2B5EF4-FFF2-40B4-BE49-F238E27FC236}">
                  <a16:creationId xmlns:a16="http://schemas.microsoft.com/office/drawing/2014/main" id="{8CE4C88A-B085-1A56-9A71-EDCD0030FFAD}"/>
                </a:ext>
              </a:extLst>
            </p:cNvPr>
            <p:cNvSpPr/>
            <p:nvPr/>
          </p:nvSpPr>
          <p:spPr>
            <a:xfrm>
              <a:off x="2305685" y="1898073"/>
              <a:ext cx="2959042" cy="2168236"/>
            </a:xfrm>
            <a:prstGeom prst="uturnArrow">
              <a:avLst>
                <a:gd name="adj1" fmla="val 12857"/>
                <a:gd name="adj2" fmla="val 22744"/>
                <a:gd name="adj3" fmla="val 26504"/>
                <a:gd name="adj4" fmla="val 28712"/>
                <a:gd name="adj5" fmla="val 86821"/>
              </a:avLst>
            </a:prstGeom>
            <a:solidFill>
              <a:srgbClr val="D9D9D9"/>
            </a:solidFill>
            <a:ln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1F52208-75E3-2816-9F30-F6DF84071191}"/>
                </a:ext>
              </a:extLst>
            </p:cNvPr>
            <p:cNvGrpSpPr/>
            <p:nvPr/>
          </p:nvGrpSpPr>
          <p:grpSpPr>
            <a:xfrm>
              <a:off x="2454793" y="1776358"/>
              <a:ext cx="2300605" cy="893618"/>
              <a:chOff x="2634903" y="1854980"/>
              <a:chExt cx="2300605" cy="1297202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FE8CFD4E-3009-85A9-7B5C-3DA63A2F22A3}"/>
                  </a:ext>
                </a:extLst>
              </p:cNvPr>
              <p:cNvSpPr/>
              <p:nvPr/>
            </p:nvSpPr>
            <p:spPr>
              <a:xfrm>
                <a:off x="2634903" y="1854980"/>
                <a:ext cx="2300605" cy="1297202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E21E16C-0FE5-74C4-4ECD-17011568764B}"/>
                  </a:ext>
                </a:extLst>
              </p:cNvPr>
              <p:cNvSpPr txBox="1"/>
              <p:nvPr/>
            </p:nvSpPr>
            <p:spPr>
              <a:xfrm>
                <a:off x="2634903" y="2168497"/>
                <a:ext cx="2300605" cy="6701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rgbClr val="324273"/>
                    </a:solidFill>
                    <a:latin typeface="Consolas" panose="020B0609020204030204" pitchFamily="49" charset="0"/>
                  </a:rPr>
                  <a:t>data-process</a:t>
                </a:r>
                <a:endParaRPr lang="zh-CN" altLang="en-US" sz="2400">
                  <a:solidFill>
                    <a:srgbClr val="324273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5BC3C4-C855-F144-D680-793B17EB810C}"/>
              </a:ext>
            </a:extLst>
          </p:cNvPr>
          <p:cNvGrpSpPr/>
          <p:nvPr/>
        </p:nvGrpSpPr>
        <p:grpSpPr>
          <a:xfrm flipV="1">
            <a:off x="3106229" y="3872429"/>
            <a:ext cx="2959042" cy="2289951"/>
            <a:chOff x="2305685" y="1776358"/>
            <a:chExt cx="2959042" cy="2289951"/>
          </a:xfrm>
        </p:grpSpPr>
        <p:sp>
          <p:nvSpPr>
            <p:cNvPr id="25" name="箭头: 手杖形 24">
              <a:extLst>
                <a:ext uri="{FF2B5EF4-FFF2-40B4-BE49-F238E27FC236}">
                  <a16:creationId xmlns:a16="http://schemas.microsoft.com/office/drawing/2014/main" id="{01CBA651-BB08-4F6D-3920-3B64A7632564}"/>
                </a:ext>
              </a:extLst>
            </p:cNvPr>
            <p:cNvSpPr/>
            <p:nvPr/>
          </p:nvSpPr>
          <p:spPr>
            <a:xfrm>
              <a:off x="2305685" y="1898073"/>
              <a:ext cx="2959042" cy="2168236"/>
            </a:xfrm>
            <a:prstGeom prst="uturnArrow">
              <a:avLst>
                <a:gd name="adj1" fmla="val 12857"/>
                <a:gd name="adj2" fmla="val 22744"/>
                <a:gd name="adj3" fmla="val 26504"/>
                <a:gd name="adj4" fmla="val 28712"/>
                <a:gd name="adj5" fmla="val 86821"/>
              </a:avLst>
            </a:prstGeom>
            <a:solidFill>
              <a:srgbClr val="D9D9D9"/>
            </a:solidFill>
            <a:ln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3C4ED80-A076-C045-8D40-1EC57495B06D}"/>
                </a:ext>
              </a:extLst>
            </p:cNvPr>
            <p:cNvGrpSpPr/>
            <p:nvPr/>
          </p:nvGrpSpPr>
          <p:grpSpPr>
            <a:xfrm>
              <a:off x="2454793" y="1776358"/>
              <a:ext cx="2300605" cy="893618"/>
              <a:chOff x="2634903" y="1854980"/>
              <a:chExt cx="2300605" cy="1297202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6A608DA-C687-7E3B-3AD4-080C2F79EC46}"/>
                  </a:ext>
                </a:extLst>
              </p:cNvPr>
              <p:cNvSpPr/>
              <p:nvPr/>
            </p:nvSpPr>
            <p:spPr>
              <a:xfrm>
                <a:off x="2634903" y="1854980"/>
                <a:ext cx="2300605" cy="1297202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7A4E97D-5F22-5BA5-EB17-40B17365A69B}"/>
                  </a:ext>
                </a:extLst>
              </p:cNvPr>
              <p:cNvSpPr txBox="1"/>
              <p:nvPr/>
            </p:nvSpPr>
            <p:spPr>
              <a:xfrm rot="10800000">
                <a:off x="2634903" y="2168497"/>
                <a:ext cx="2300605" cy="6701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rgbClr val="324273"/>
                    </a:solidFill>
                    <a:latin typeface="Consolas" panose="020B0609020204030204" pitchFamily="49" charset="0"/>
                  </a:rPr>
                  <a:t>code</a:t>
                </a:r>
                <a:endParaRPr lang="zh-CN" altLang="en-US" sz="2400">
                  <a:solidFill>
                    <a:srgbClr val="324273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374CAC1-A167-729F-9578-AA5E8F158DEE}"/>
              </a:ext>
            </a:extLst>
          </p:cNvPr>
          <p:cNvGrpSpPr/>
          <p:nvPr/>
        </p:nvGrpSpPr>
        <p:grpSpPr>
          <a:xfrm>
            <a:off x="6231749" y="1794129"/>
            <a:ext cx="2300605" cy="2289951"/>
            <a:chOff x="2305685" y="1776358"/>
            <a:chExt cx="2959042" cy="2289951"/>
          </a:xfrm>
        </p:grpSpPr>
        <p:sp>
          <p:nvSpPr>
            <p:cNvPr id="30" name="箭头: 手杖形 29">
              <a:extLst>
                <a:ext uri="{FF2B5EF4-FFF2-40B4-BE49-F238E27FC236}">
                  <a16:creationId xmlns:a16="http://schemas.microsoft.com/office/drawing/2014/main" id="{FB620023-A22A-3201-1346-67F3C63270DD}"/>
                </a:ext>
              </a:extLst>
            </p:cNvPr>
            <p:cNvSpPr/>
            <p:nvPr/>
          </p:nvSpPr>
          <p:spPr>
            <a:xfrm>
              <a:off x="2305685" y="1898073"/>
              <a:ext cx="2959042" cy="2168236"/>
            </a:xfrm>
            <a:prstGeom prst="uturnArrow">
              <a:avLst>
                <a:gd name="adj1" fmla="val 12857"/>
                <a:gd name="adj2" fmla="val 22744"/>
                <a:gd name="adj3" fmla="val 26504"/>
                <a:gd name="adj4" fmla="val 28712"/>
                <a:gd name="adj5" fmla="val 86821"/>
              </a:avLst>
            </a:prstGeom>
            <a:solidFill>
              <a:srgbClr val="D9D9D9"/>
            </a:solidFill>
            <a:ln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8FD736E-66F2-B0C7-F8D1-FD73E306EA81}"/>
                </a:ext>
              </a:extLst>
            </p:cNvPr>
            <p:cNvGrpSpPr/>
            <p:nvPr/>
          </p:nvGrpSpPr>
          <p:grpSpPr>
            <a:xfrm>
              <a:off x="2454793" y="1776358"/>
              <a:ext cx="2300605" cy="893618"/>
              <a:chOff x="2634903" y="1854980"/>
              <a:chExt cx="2300605" cy="1297202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E1EE8BFB-CE39-6C32-CF70-131C502CF0AE}"/>
                  </a:ext>
                </a:extLst>
              </p:cNvPr>
              <p:cNvSpPr/>
              <p:nvPr/>
            </p:nvSpPr>
            <p:spPr>
              <a:xfrm>
                <a:off x="2634903" y="1854980"/>
                <a:ext cx="2300605" cy="1297202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28F2464-870A-33A2-8377-6BE3D27C2A0D}"/>
                  </a:ext>
                </a:extLst>
              </p:cNvPr>
              <p:cNvSpPr txBox="1"/>
              <p:nvPr/>
            </p:nvSpPr>
            <p:spPr>
              <a:xfrm>
                <a:off x="2634903" y="2168497"/>
                <a:ext cx="2300605" cy="6701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rgbClr val="324273"/>
                    </a:solidFill>
                    <a:latin typeface="Consolas" panose="020B0609020204030204" pitchFamily="49" charset="0"/>
                  </a:rPr>
                  <a:t>output</a:t>
                </a:r>
                <a:endParaRPr lang="zh-CN" altLang="en-US" sz="2400">
                  <a:solidFill>
                    <a:srgbClr val="324273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652E499-80FF-A0C5-B90C-4544F4D91BA5}"/>
              </a:ext>
            </a:extLst>
          </p:cNvPr>
          <p:cNvGrpSpPr/>
          <p:nvPr/>
        </p:nvGrpSpPr>
        <p:grpSpPr>
          <a:xfrm flipV="1">
            <a:off x="8532353" y="3845060"/>
            <a:ext cx="1883831" cy="2289951"/>
            <a:chOff x="2305685" y="1776358"/>
            <a:chExt cx="2959042" cy="2289951"/>
          </a:xfrm>
        </p:grpSpPr>
        <p:sp>
          <p:nvSpPr>
            <p:cNvPr id="35" name="箭头: 手杖形 34">
              <a:extLst>
                <a:ext uri="{FF2B5EF4-FFF2-40B4-BE49-F238E27FC236}">
                  <a16:creationId xmlns:a16="http://schemas.microsoft.com/office/drawing/2014/main" id="{A2AC05B5-AC4B-D578-9A0A-978AE90D4A5F}"/>
                </a:ext>
              </a:extLst>
            </p:cNvPr>
            <p:cNvSpPr/>
            <p:nvPr/>
          </p:nvSpPr>
          <p:spPr>
            <a:xfrm>
              <a:off x="2305685" y="1898073"/>
              <a:ext cx="2959042" cy="2168236"/>
            </a:xfrm>
            <a:prstGeom prst="uturnArrow">
              <a:avLst>
                <a:gd name="adj1" fmla="val 12857"/>
                <a:gd name="adj2" fmla="val 22744"/>
                <a:gd name="adj3" fmla="val 26504"/>
                <a:gd name="adj4" fmla="val 28712"/>
                <a:gd name="adj5" fmla="val 86821"/>
              </a:avLst>
            </a:prstGeom>
            <a:solidFill>
              <a:srgbClr val="D9D9D9"/>
            </a:solidFill>
            <a:ln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B060758C-77C0-7A30-432A-2388E0AB6279}"/>
                </a:ext>
              </a:extLst>
            </p:cNvPr>
            <p:cNvGrpSpPr/>
            <p:nvPr/>
          </p:nvGrpSpPr>
          <p:grpSpPr>
            <a:xfrm>
              <a:off x="2454793" y="1776358"/>
              <a:ext cx="2300605" cy="893618"/>
              <a:chOff x="2634903" y="1854980"/>
              <a:chExt cx="2300605" cy="1297202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05D8B4C8-1919-E977-C843-3634755DC7CF}"/>
                  </a:ext>
                </a:extLst>
              </p:cNvPr>
              <p:cNvSpPr/>
              <p:nvPr/>
            </p:nvSpPr>
            <p:spPr>
              <a:xfrm>
                <a:off x="2634903" y="1854980"/>
                <a:ext cx="2300605" cy="1297202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EDC9C31-7957-7293-5666-E6B10CFB05F9}"/>
                  </a:ext>
                </a:extLst>
              </p:cNvPr>
              <p:cNvSpPr txBox="1"/>
              <p:nvPr/>
            </p:nvSpPr>
            <p:spPr>
              <a:xfrm rot="10800000">
                <a:off x="2634903" y="2168497"/>
                <a:ext cx="2300605" cy="6701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rgbClr val="324273"/>
                    </a:solidFill>
                    <a:latin typeface="Consolas" panose="020B0609020204030204" pitchFamily="49" charset="0"/>
                  </a:rPr>
                  <a:t>submit</a:t>
                </a:r>
                <a:endParaRPr lang="zh-CN" altLang="en-US" sz="2400">
                  <a:solidFill>
                    <a:srgbClr val="324273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2501279-8362-DB79-555C-930C9949C924}"/>
              </a:ext>
            </a:extLst>
          </p:cNvPr>
          <p:cNvGrpSpPr/>
          <p:nvPr/>
        </p:nvGrpSpPr>
        <p:grpSpPr>
          <a:xfrm>
            <a:off x="719687" y="3286440"/>
            <a:ext cx="11121150" cy="1304680"/>
            <a:chOff x="719687" y="3286440"/>
            <a:chExt cx="11121150" cy="1304680"/>
          </a:xfrm>
        </p:grpSpPr>
        <p:sp>
          <p:nvSpPr>
            <p:cNvPr id="4" name="箭头: 上 3">
              <a:extLst>
                <a:ext uri="{FF2B5EF4-FFF2-40B4-BE49-F238E27FC236}">
                  <a16:creationId xmlns:a16="http://schemas.microsoft.com/office/drawing/2014/main" id="{23F4E7DF-4E1C-B930-B49F-F7E817732B67}"/>
                </a:ext>
              </a:extLst>
            </p:cNvPr>
            <p:cNvSpPr/>
            <p:nvPr/>
          </p:nvSpPr>
          <p:spPr>
            <a:xfrm rot="5400000">
              <a:off x="5674501" y="-1575216"/>
              <a:ext cx="1274617" cy="11058055"/>
            </a:xfrm>
            <a:prstGeom prst="upArrow">
              <a:avLst>
                <a:gd name="adj1" fmla="val 27778"/>
                <a:gd name="adj2" fmla="val 8810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0D935E9-3B65-3118-A366-EED49860BC69}"/>
                </a:ext>
              </a:extLst>
            </p:cNvPr>
            <p:cNvSpPr/>
            <p:nvPr/>
          </p:nvSpPr>
          <p:spPr>
            <a:xfrm>
              <a:off x="719687" y="3286440"/>
              <a:ext cx="1297202" cy="1297202"/>
            </a:xfrm>
            <a:prstGeom prst="ellipse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rgbClr val="324273"/>
                  </a:solidFill>
                  <a:latin typeface="Consolas" panose="020B0609020204030204" pitchFamily="49" charset="0"/>
                </a:rPr>
                <a:t>main</a:t>
              </a:r>
              <a:endParaRPr lang="zh-CN" altLang="en-US" sz="2400">
                <a:solidFill>
                  <a:srgbClr val="324273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493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E9D6-E445-0EF3-C41B-181467F12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C36FB3-F075-6F0A-184D-D9BE167FAF1E}"/>
              </a:ext>
            </a:extLst>
          </p:cNvPr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688E38-D42B-D1B6-F1DD-5C5D0B73E9A6}"/>
              </a:ext>
            </a:extLst>
          </p:cNvPr>
          <p:cNvSpPr/>
          <p:nvPr/>
        </p:nvSpPr>
        <p:spPr>
          <a:xfrm>
            <a:off x="3903713" y="2679383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A8E25B-4851-CEEB-CC4F-A89BB8898A5F}"/>
              </a:ext>
            </a:extLst>
          </p:cNvPr>
          <p:cNvSpPr txBox="1"/>
          <p:nvPr/>
        </p:nvSpPr>
        <p:spPr>
          <a:xfrm>
            <a:off x="4778108" y="2596177"/>
            <a:ext cx="391668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实验过程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C784289-EAFE-2C2C-BC13-A9039C20352C}"/>
              </a:ext>
            </a:extLst>
          </p:cNvPr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8DA6AC-634E-2C43-6581-2E7711B870C1}"/>
              </a:ext>
            </a:extLst>
          </p:cNvPr>
          <p:cNvGrpSpPr/>
          <p:nvPr/>
        </p:nvGrpSpPr>
        <p:grpSpPr>
          <a:xfrm>
            <a:off x="0" y="-17780"/>
            <a:ext cx="1593850" cy="6095365"/>
            <a:chOff x="0" y="-17780"/>
            <a:chExt cx="1593850" cy="609536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9ED8CC34-3218-42BA-10B6-3914AC3EB1C1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D87FC31-BCC2-F8B2-AC1B-71E6A7F461B1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CC240CD-0A90-765D-53AE-68B2A5085A42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F81400C-DF87-70FF-0A59-DFBDA01D0C5D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401BFAD-7B8B-9B21-D577-D6DADB62D49C}"/>
              </a:ext>
            </a:extLst>
          </p:cNvPr>
          <p:cNvGrpSpPr/>
          <p:nvPr/>
        </p:nvGrpSpPr>
        <p:grpSpPr>
          <a:xfrm flipH="1">
            <a:off x="10598150" y="0"/>
            <a:ext cx="1593850" cy="6095365"/>
            <a:chOff x="0" y="-17780"/>
            <a:chExt cx="1593850" cy="6095365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314ECC4B-0218-1DF4-7226-442B39954564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A2931EF-FC3F-E183-A54B-CBA2E0B35D84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75F8B55-5964-3D8B-E43D-5E8B6BF71FA7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9B02B05-E412-C5A8-C8CF-ED2A84AC07EC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8956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6009-1FF5-CD84-DE35-0202377C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DD7718C-326D-FDFD-41AA-123327A6B01D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837064C-FAA6-9585-0FF1-67C7CFE29B32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D5F2967-8429-B365-B64E-86D71443C98A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9588F53-F718-466A-493B-956268601F86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6444A6-C1F1-ED6A-E46B-48560692CBD3}"/>
              </a:ext>
            </a:extLst>
          </p:cNvPr>
          <p:cNvGrpSpPr/>
          <p:nvPr/>
        </p:nvGrpSpPr>
        <p:grpSpPr>
          <a:xfrm>
            <a:off x="861695" y="1539502"/>
            <a:ext cx="10468609" cy="1856958"/>
            <a:chOff x="861695" y="1246460"/>
            <a:chExt cx="10468609" cy="185695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1079BA2-7AB8-D21B-8016-393361CCE229}"/>
                </a:ext>
              </a:extLst>
            </p:cNvPr>
            <p:cNvSpPr/>
            <p:nvPr/>
          </p:nvSpPr>
          <p:spPr>
            <a:xfrm>
              <a:off x="2445327" y="1565229"/>
              <a:ext cx="8884977" cy="1538189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9A35B39-6CB2-9FA3-95A8-8879BAC15B5F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E34FD45-3C04-67A1-359A-A9206388D7BF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一、项目初期</a:t>
                </a:r>
              </a:p>
            </p:txBody>
          </p:sp>
          <p:sp>
            <p:nvSpPr>
              <p:cNvPr id="3" name="L 形 2">
                <a:extLst>
                  <a:ext uri="{FF2B5EF4-FFF2-40B4-BE49-F238E27FC236}">
                    <a16:creationId xmlns:a16="http://schemas.microsoft.com/office/drawing/2014/main" id="{0323AFC2-DB98-7666-9A8F-77AFC467A9BB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E4184E-F854-63D4-C0E1-DE2083DA1CBB}"/>
                </a:ext>
              </a:extLst>
            </p:cNvPr>
            <p:cNvSpPr txBox="1"/>
            <p:nvPr/>
          </p:nvSpPr>
          <p:spPr>
            <a:xfrm>
              <a:off x="2682960" y="1985254"/>
              <a:ext cx="8409710" cy="965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在主题和问题确定之前，建立</a:t>
              </a: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git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仓库，并准备所有可能需要使用到的论文和数据集。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8C0CF39-0D29-EF45-A190-45E53E8F3E02}"/>
              </a:ext>
            </a:extLst>
          </p:cNvPr>
          <p:cNvGrpSpPr/>
          <p:nvPr/>
        </p:nvGrpSpPr>
        <p:grpSpPr>
          <a:xfrm>
            <a:off x="1481340" y="4216182"/>
            <a:ext cx="10468609" cy="1856958"/>
            <a:chOff x="861695" y="1246460"/>
            <a:chExt cx="10468609" cy="185695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4A7B9EF-6803-57EE-96D6-5DAA15C4D98B}"/>
                </a:ext>
              </a:extLst>
            </p:cNvPr>
            <p:cNvSpPr/>
            <p:nvPr/>
          </p:nvSpPr>
          <p:spPr>
            <a:xfrm>
              <a:off x="2445327" y="1565229"/>
              <a:ext cx="8884977" cy="1538189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0B18FDE-C0C5-A0DC-A5C6-6842CBF3C7F1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4B4664F-875E-B718-CDD5-31F7A76A7236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二、数据处理（</a:t>
                </a:r>
                <a:r>
                  <a:rPr lang="en-US" altLang="zh-CN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data-process</a:t>
                </a:r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分支）</a:t>
                </a:r>
              </a:p>
            </p:txBody>
          </p:sp>
          <p:sp>
            <p:nvSpPr>
              <p:cNvPr id="18" name="L 形 17">
                <a:extLst>
                  <a:ext uri="{FF2B5EF4-FFF2-40B4-BE49-F238E27FC236}">
                    <a16:creationId xmlns:a16="http://schemas.microsoft.com/office/drawing/2014/main" id="{1B28E74A-8190-A861-BBA4-0791F0A36963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27C89CD-0BA3-D964-A6AA-0168F292AF6A}"/>
                </a:ext>
              </a:extLst>
            </p:cNvPr>
            <p:cNvSpPr txBox="1"/>
            <p:nvPr/>
          </p:nvSpPr>
          <p:spPr>
            <a:xfrm>
              <a:off x="2682960" y="1985254"/>
              <a:ext cx="8409710" cy="965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确定研究主题和问题之后，对输入数据文件和对照文件做标准化处理，以便于代码的统一输入以及调试对照。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870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D527-AC5C-13CF-FAEB-1F4EBC5D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BBB72144-FFC6-3A27-D49A-16AD0266E459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B5BD1BC-4EB4-295D-1ED1-C3799A7A2D2C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8E0793E-99DA-0B6B-BF03-8769F691E4CD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6EAE3E5-97A7-4522-28D6-43271DAFE888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CE3490B-4BB3-42B1-5607-6A442C70A593}"/>
              </a:ext>
            </a:extLst>
          </p:cNvPr>
          <p:cNvGrpSpPr/>
          <p:nvPr/>
        </p:nvGrpSpPr>
        <p:grpSpPr>
          <a:xfrm>
            <a:off x="861695" y="1053366"/>
            <a:ext cx="10468609" cy="1834080"/>
            <a:chOff x="861695" y="1246460"/>
            <a:chExt cx="10468609" cy="1834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7586F8-9B45-DBEF-379F-C88869A02332}"/>
                </a:ext>
              </a:extLst>
            </p:cNvPr>
            <p:cNvSpPr/>
            <p:nvPr/>
          </p:nvSpPr>
          <p:spPr>
            <a:xfrm>
              <a:off x="2445327" y="1565229"/>
              <a:ext cx="8884977" cy="1515311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59D5F51-5A13-ACF6-7081-D71944E6B2FB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2CB0E92-D69C-ECBD-2F3D-0A0FB92978E6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三、代码编写（</a:t>
                </a:r>
                <a:r>
                  <a:rPr lang="en-US" altLang="zh-CN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code</a:t>
                </a:r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分支）</a:t>
                </a:r>
              </a:p>
            </p:txBody>
          </p:sp>
          <p:sp>
            <p:nvSpPr>
              <p:cNvPr id="3" name="L 形 2">
                <a:extLst>
                  <a:ext uri="{FF2B5EF4-FFF2-40B4-BE49-F238E27FC236}">
                    <a16:creationId xmlns:a16="http://schemas.microsoft.com/office/drawing/2014/main" id="{3674CEF9-6B98-6C41-1F45-0B89899602CC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F6CAE1F-CF0C-B3D7-1A19-826946AB0A2E}"/>
                </a:ext>
              </a:extLst>
            </p:cNvPr>
            <p:cNvSpPr txBox="1"/>
            <p:nvPr/>
          </p:nvSpPr>
          <p:spPr>
            <a:xfrm>
              <a:off x="3227932" y="2018456"/>
              <a:ext cx="6724276" cy="504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我们决定采用多种不同的策略求解</a:t>
              </a: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TSP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问题。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B99F299-5E5B-29CA-23F4-FDC40E7AAAE2}"/>
              </a:ext>
            </a:extLst>
          </p:cNvPr>
          <p:cNvGrpSpPr/>
          <p:nvPr/>
        </p:nvGrpSpPr>
        <p:grpSpPr>
          <a:xfrm>
            <a:off x="826367" y="2522084"/>
            <a:ext cx="3231919" cy="3943770"/>
            <a:chOff x="844031" y="2642858"/>
            <a:chExt cx="3231919" cy="394377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D70F280-70B4-D284-FA70-4967C0CF8167}"/>
                </a:ext>
              </a:extLst>
            </p:cNvPr>
            <p:cNvGrpSpPr/>
            <p:nvPr/>
          </p:nvGrpSpPr>
          <p:grpSpPr>
            <a:xfrm>
              <a:off x="861695" y="2642858"/>
              <a:ext cx="3214255" cy="3943770"/>
              <a:chOff x="1171517" y="2642858"/>
              <a:chExt cx="3214255" cy="3943770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FEBA9793-26C4-3749-8940-ACB91AE54452}"/>
                  </a:ext>
                </a:extLst>
              </p:cNvPr>
              <p:cNvSpPr/>
              <p:nvPr/>
            </p:nvSpPr>
            <p:spPr>
              <a:xfrm>
                <a:off x="1171517" y="2642858"/>
                <a:ext cx="3214255" cy="3943770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4318373-B746-B3EF-1ED6-75A0EB7C136E}"/>
                  </a:ext>
                </a:extLst>
              </p:cNvPr>
              <p:cNvSpPr txBox="1"/>
              <p:nvPr/>
            </p:nvSpPr>
            <p:spPr>
              <a:xfrm>
                <a:off x="1711844" y="2776587"/>
                <a:ext cx="2133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DFS</a:t>
                </a:r>
                <a:endParaRPr lang="zh-CN" altLang="en-US"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E2A269C-2F80-7CFF-148D-5AE8B96C1064}"/>
                </a:ext>
              </a:extLst>
            </p:cNvPr>
            <p:cNvSpPr txBox="1"/>
            <p:nvPr/>
          </p:nvSpPr>
          <p:spPr>
            <a:xfrm>
              <a:off x="844031" y="3373582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优点：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BFB850-34AA-AA74-012E-E7B921574542}"/>
                </a:ext>
              </a:extLst>
            </p:cNvPr>
            <p:cNvSpPr txBox="1"/>
            <p:nvPr/>
          </p:nvSpPr>
          <p:spPr>
            <a:xfrm>
              <a:off x="844031" y="4790818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缺点：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C8A254B-1D6D-96AC-03E5-9E3C30E053BC}"/>
                </a:ext>
              </a:extLst>
            </p:cNvPr>
            <p:cNvSpPr txBox="1"/>
            <p:nvPr/>
          </p:nvSpPr>
          <p:spPr>
            <a:xfrm>
              <a:off x="1586258" y="3330584"/>
              <a:ext cx="2472027" cy="1215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状态空间树占用空间较少，且易于用递归实现。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50BCE0A-3889-79CE-33A4-92C8FCBC0458}"/>
                </a:ext>
              </a:extLst>
            </p:cNvPr>
            <p:cNvSpPr txBox="1"/>
            <p:nvPr/>
          </p:nvSpPr>
          <p:spPr>
            <a:xfrm>
              <a:off x="1581811" y="4747844"/>
              <a:ext cx="2472027" cy="1599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当状态空间树很高时，函数调用栈可能溢出，并且难以在全局上进行优化。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5DA57BA-1AA9-B9A1-C4EB-18EA32D95BF4}"/>
              </a:ext>
            </a:extLst>
          </p:cNvPr>
          <p:cNvGrpSpPr/>
          <p:nvPr/>
        </p:nvGrpSpPr>
        <p:grpSpPr>
          <a:xfrm>
            <a:off x="4616277" y="2522084"/>
            <a:ext cx="3231919" cy="3943770"/>
            <a:chOff x="844031" y="2642858"/>
            <a:chExt cx="3231919" cy="394377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BCCA810-30DD-26AF-CEE2-C0C41007BEE6}"/>
                </a:ext>
              </a:extLst>
            </p:cNvPr>
            <p:cNvGrpSpPr/>
            <p:nvPr/>
          </p:nvGrpSpPr>
          <p:grpSpPr>
            <a:xfrm>
              <a:off x="861695" y="2642858"/>
              <a:ext cx="3214255" cy="3943770"/>
              <a:chOff x="1171517" y="2642858"/>
              <a:chExt cx="3214255" cy="3943770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ABD18F83-8A1D-6FA4-4912-6003ADACF677}"/>
                  </a:ext>
                </a:extLst>
              </p:cNvPr>
              <p:cNvSpPr/>
              <p:nvPr/>
            </p:nvSpPr>
            <p:spPr>
              <a:xfrm>
                <a:off x="1171517" y="2642858"/>
                <a:ext cx="3214255" cy="3943770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D8390C8-ECD2-FF16-0E80-4AE7E25BDB60}"/>
                  </a:ext>
                </a:extLst>
              </p:cNvPr>
              <p:cNvSpPr txBox="1"/>
              <p:nvPr/>
            </p:nvSpPr>
            <p:spPr>
              <a:xfrm>
                <a:off x="1711844" y="2776587"/>
                <a:ext cx="2133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BFS</a:t>
                </a:r>
                <a:endParaRPr lang="zh-CN" altLang="en-US"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59C16CC-006A-272D-B2B2-4C72E78FA384}"/>
                </a:ext>
              </a:extLst>
            </p:cNvPr>
            <p:cNvSpPr txBox="1"/>
            <p:nvPr/>
          </p:nvSpPr>
          <p:spPr>
            <a:xfrm>
              <a:off x="844031" y="3373582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优点：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E11960-4CD2-D0E2-7548-7B300F1949A3}"/>
                </a:ext>
              </a:extLst>
            </p:cNvPr>
            <p:cNvSpPr txBox="1"/>
            <p:nvPr/>
          </p:nvSpPr>
          <p:spPr>
            <a:xfrm>
              <a:off x="844031" y="4790818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缺点：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9112854-082B-F8FD-3016-3313414BBE9B}"/>
                </a:ext>
              </a:extLst>
            </p:cNvPr>
            <p:cNvSpPr txBox="1"/>
            <p:nvPr/>
          </p:nvSpPr>
          <p:spPr>
            <a:xfrm>
              <a:off x="1586258" y="3330584"/>
              <a:ext cx="2472027" cy="830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易于在全局上进行简单优化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72DA64B-CAD4-EB07-9A05-4B8C62E20CBE}"/>
                </a:ext>
              </a:extLst>
            </p:cNvPr>
            <p:cNvSpPr txBox="1"/>
            <p:nvPr/>
          </p:nvSpPr>
          <p:spPr>
            <a:xfrm>
              <a:off x="1581811" y="4747844"/>
              <a:ext cx="2472027" cy="1215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难以用代码实现分支限界优化，并且占用空间往往较大。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32EB3F3-F66D-F921-A117-B7CADDD419E6}"/>
              </a:ext>
            </a:extLst>
          </p:cNvPr>
          <p:cNvGrpSpPr/>
          <p:nvPr/>
        </p:nvGrpSpPr>
        <p:grpSpPr>
          <a:xfrm>
            <a:off x="8400864" y="2522084"/>
            <a:ext cx="3231919" cy="3943770"/>
            <a:chOff x="844031" y="2642858"/>
            <a:chExt cx="3231919" cy="394377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D6D0FFB-5192-4DA6-A1C6-987BD5FFDC61}"/>
                </a:ext>
              </a:extLst>
            </p:cNvPr>
            <p:cNvGrpSpPr/>
            <p:nvPr/>
          </p:nvGrpSpPr>
          <p:grpSpPr>
            <a:xfrm>
              <a:off x="861695" y="2642858"/>
              <a:ext cx="3214255" cy="3943770"/>
              <a:chOff x="1171517" y="2642858"/>
              <a:chExt cx="3214255" cy="3943770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94571047-28BB-8400-B0C7-D94086F06452}"/>
                  </a:ext>
                </a:extLst>
              </p:cNvPr>
              <p:cNvSpPr/>
              <p:nvPr/>
            </p:nvSpPr>
            <p:spPr>
              <a:xfrm>
                <a:off x="1171517" y="2642858"/>
                <a:ext cx="3214255" cy="3943770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236804A-DEEE-FDF2-0BC5-73D39C256459}"/>
                  </a:ext>
                </a:extLst>
              </p:cNvPr>
              <p:cNvSpPr txBox="1"/>
              <p:nvPr/>
            </p:nvSpPr>
            <p:spPr>
              <a:xfrm>
                <a:off x="1711844" y="2776587"/>
                <a:ext cx="2133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DP</a:t>
                </a:r>
                <a:endParaRPr lang="zh-CN" altLang="en-US"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B794C33-365E-4E7F-A0FD-FED7AD1C64C2}"/>
                </a:ext>
              </a:extLst>
            </p:cNvPr>
            <p:cNvSpPr txBox="1"/>
            <p:nvPr/>
          </p:nvSpPr>
          <p:spPr>
            <a:xfrm>
              <a:off x="844031" y="3373582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优点：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0A52881-409B-265E-2614-4DA60E9DE0B0}"/>
                </a:ext>
              </a:extLst>
            </p:cNvPr>
            <p:cNvSpPr txBox="1"/>
            <p:nvPr/>
          </p:nvSpPr>
          <p:spPr>
            <a:xfrm>
              <a:off x="844031" y="4790818"/>
              <a:ext cx="874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800" b="1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defRPr>
              </a:lvl1pPr>
            </a:lstStyle>
            <a:p>
              <a:pPr algn="l"/>
              <a:r>
                <a:rPr lang="zh-CN" altLang="en-US" sz="2000"/>
                <a:t>缺点：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BAD3ECE-8FB2-235E-288C-90B642308304}"/>
                </a:ext>
              </a:extLst>
            </p:cNvPr>
            <p:cNvSpPr txBox="1"/>
            <p:nvPr/>
          </p:nvSpPr>
          <p:spPr>
            <a:xfrm>
              <a:off x="1586258" y="3330584"/>
              <a:ext cx="2472027" cy="4457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执行速度较快。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E0DD4EA-36C2-0C47-3BF6-0E4E44CDFB3E}"/>
                </a:ext>
              </a:extLst>
            </p:cNvPr>
            <p:cNvSpPr txBox="1"/>
            <p:nvPr/>
          </p:nvSpPr>
          <p:spPr>
            <a:xfrm>
              <a:off x="1581811" y="4747844"/>
              <a:ext cx="2472027" cy="830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是空间换时间的算法，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求解规模有限。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86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0568-0D1D-3D8A-7632-0E01CC40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B4AA251-A0E2-CCAF-3BAB-36D416AFBA09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E0A6CFC-0B2D-8AB7-7271-A2EBFB6BA47B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6D108BF-8332-3194-835C-011CAD2D9006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8DB8101-7D21-F0C0-8F7C-B81A210670A9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3F204FB-CC7A-6D8A-552E-7F5984D41001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29193EF-45FD-2D4D-E0C0-6238468E4DE7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8D72A79-15CC-C595-8867-A31133EE908A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0380CBB-CF52-FD32-4770-C9D6F27C22D2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dfs-0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63D95EA-2146-E17E-EAB6-0029C1A31581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9771FA46-9026-B9F3-5EA3-EF6C0E5CE266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B16B16C-0DD2-686E-C36A-227CF20D0499}"/>
                  </a:ext>
                </a:extLst>
              </p:cNvPr>
              <p:cNvSpPr txBox="1"/>
              <p:nvPr/>
            </p:nvSpPr>
            <p:spPr>
              <a:xfrm>
                <a:off x="1052985" y="2953022"/>
                <a:ext cx="2505395" cy="18884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使用深度优先搜索并简单剪枝，能够正确求解</a:t>
                </a:r>
                <a:r>
                  <a:rPr lang="en-US" altLang="zh-CN" sz="2000" b="0"/>
                  <a:t>n&lt;=15</a:t>
                </a:r>
                <a:r>
                  <a:rPr lang="zh-CN" altLang="en-US" sz="2000" b="0"/>
                  <a:t>（</a:t>
                </a:r>
                <a:r>
                  <a:rPr lang="en-US" altLang="zh-CN" sz="2000" b="0"/>
                  <a:t>n</a:t>
                </a:r>
                <a:r>
                  <a:rPr lang="zh-CN" altLang="en-US" sz="2000" b="0"/>
                  <a:t>为节点数）规模的问题。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C0B932C-8FB6-DA3E-7832-E06989FEE0FB}"/>
              </a:ext>
            </a:extLst>
          </p:cNvPr>
          <p:cNvSpPr/>
          <p:nvPr/>
        </p:nvSpPr>
        <p:spPr>
          <a:xfrm>
            <a:off x="4959390" y="1298872"/>
            <a:ext cx="7146086" cy="5107715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A15485D-983A-D521-973A-244F81E127D3}"/>
              </a:ext>
            </a:extLst>
          </p:cNvPr>
          <p:cNvSpPr txBox="1"/>
          <p:nvPr/>
        </p:nvSpPr>
        <p:spPr>
          <a:xfrm>
            <a:off x="5538507" y="2074191"/>
            <a:ext cx="6566969" cy="400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void dfs(int node, int cost, int len, int cur_path[]) {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if (len &gt;= n) {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if (grid[1][node] != 0 &amp;&amp; cost + grid[1][node] &lt; minn) {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minn = cost + grid[1][node];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for (int i = 1; i &lt;= n; ++i) path[i] = cur_path[i]; }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return; 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if (cost &gt;= minn) return;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for (int i = 1; i &lt;= n; ++i) {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if (!vis[i] &amp;&amp; grid[node][i] != 0) {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vis[i] = 1;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cur_path[len + 1] = i;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dfs(i, cost + grid[node][i], len + 1, cur_path);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    vis[i] = 0; 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    }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200">
                <a:latin typeface="Fira Code Medium" pitchFamily="1" charset="0"/>
                <a:ea typeface="Fira Code Medium" pitchFamily="1" charset="0"/>
                <a:cs typeface="Fira Code Medium" pitchFamily="1" charset="0"/>
              </a:rPr>
              <a:t>}</a:t>
            </a:r>
            <a:endParaRPr lang="zh-CN" altLang="en-US" sz="1200">
              <a:latin typeface="Fira Code Medium" pitchFamily="1" charset="0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3FD1747-7181-6873-DCF5-AAAB191E29D4}"/>
              </a:ext>
            </a:extLst>
          </p:cNvPr>
          <p:cNvGrpSpPr/>
          <p:nvPr/>
        </p:nvGrpSpPr>
        <p:grpSpPr>
          <a:xfrm>
            <a:off x="7088443" y="908592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812D197-F380-0F6D-1E24-60B175EC064B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C8CC08B-BAD6-D24D-95B7-EB73D979A3BB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1205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3613-645D-F3BA-77FA-A87215A0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C392B2-7844-BFB0-4704-73D581EF71AF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30BED7E-98B0-E054-F502-27D7C933D279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944961A-1D60-4B19-07F6-02B1A438D32C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670D75E-2ABF-863A-B24F-3B305E53D598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803D593-744F-2378-1F60-7ED55DEB0828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E0FA8C27-A2B9-3556-1D25-308A002CB921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1D1E4960-623C-B5C1-1A71-3599C7306CB7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28A33AB-9807-CB16-2F7D-6AD6015D3229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dfs-1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0C393D3-2BED-A0BB-A8C3-51D67B6248F6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55DBEA15-859D-2D43-FD52-0A1FE1459C9B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E4BB564-FB8F-22C3-F6A9-AB9A70D59E2D}"/>
                  </a:ext>
                </a:extLst>
              </p:cNvPr>
              <p:cNvSpPr txBox="1"/>
              <p:nvPr/>
            </p:nvSpPr>
            <p:spPr>
              <a:xfrm>
                <a:off x="1052985" y="2881982"/>
                <a:ext cx="2505395" cy="188955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在</a:t>
                </a:r>
                <a:r>
                  <a:rPr lang="en-US" altLang="zh-CN" sz="2000" b="0"/>
                  <a:t>dfs-0</a:t>
                </a:r>
                <a:r>
                  <a:rPr lang="zh-CN" altLang="en-US" sz="2000" b="0"/>
                  <a:t>基础上进一步优化，加强约束条件，能够正确求解</a:t>
                </a:r>
                <a:r>
                  <a:rPr lang="en-US" altLang="zh-CN" sz="2000" b="0"/>
                  <a:t>n&lt;=17</a:t>
                </a:r>
                <a:r>
                  <a:rPr lang="zh-CN" altLang="en-US" sz="2000" b="0"/>
                  <a:t>规模的问题。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53B98DD-2D5E-88F2-E8DD-1E0EF51EB655}"/>
              </a:ext>
            </a:extLst>
          </p:cNvPr>
          <p:cNvSpPr/>
          <p:nvPr/>
        </p:nvSpPr>
        <p:spPr>
          <a:xfrm>
            <a:off x="4959390" y="1298872"/>
            <a:ext cx="7146086" cy="5107715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98FB44A-C0D2-0521-E67E-30F27CB6C603}"/>
              </a:ext>
            </a:extLst>
          </p:cNvPr>
          <p:cNvSpPr txBox="1"/>
          <p:nvPr/>
        </p:nvSpPr>
        <p:spPr>
          <a:xfrm>
            <a:off x="5274401" y="1816869"/>
            <a:ext cx="6516060" cy="4589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int minn_grid[MAXN][MAXN];      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// minn_grid[i][j]:</a:t>
            </a:r>
            <a:r>
              <a:rPr lang="zh-CN" altLang="en-US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从节点</a:t>
            </a: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i</a:t>
            </a:r>
            <a:r>
              <a:rPr lang="zh-CN" altLang="en-US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出发，经过</a:t>
            </a: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j</a:t>
            </a:r>
            <a:r>
              <a:rPr lang="zh-CN" altLang="en-US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条边，回到节点</a:t>
            </a: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1</a:t>
            </a:r>
            <a:r>
              <a:rPr lang="zh-CN" altLang="en-US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的最短距离</a:t>
            </a:r>
            <a:endParaRPr lang="en-US" altLang="zh-CN" sz="14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getMinnGrid(int node, int dist, int len)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if (len &gt;= n) return;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(int i = 2; i &lt;= n; ++i)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if (i == node) continue;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if (minn_grid[i][len + 1] == 0 || dist + grid[node][i] &lt; minn_grid[i][len + 1])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minn_grid[i][len + 1] = dist + grid[node][i];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getMinnGrid(i, dist + grid[node][i], len + 1);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  <a:endParaRPr lang="zh-CN" altLang="en-US" sz="14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9C7206F-370B-3371-792F-BFFA370A068B}"/>
              </a:ext>
            </a:extLst>
          </p:cNvPr>
          <p:cNvGrpSpPr/>
          <p:nvPr/>
        </p:nvGrpSpPr>
        <p:grpSpPr>
          <a:xfrm>
            <a:off x="7088443" y="908592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2A98181-FC85-66DB-B8F9-E1B0A2CDB1D6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D335DBF-611E-A75C-86FD-19C2CD231E5D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678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6DB4-FCB6-24BB-BC9C-43C616FB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ACB42BA-0F31-EABA-4754-CB673A4FAEAA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1A73B29-8CCC-607B-0F9A-2E92D208D018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C1A1078-29D8-5A22-0450-81F61E371693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0FFEEB8-8008-B1A9-2FC5-19E96EA44C0D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18B9812-0170-3867-2393-97B2261B75F5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D0F7A51-F037-5F50-3B37-DBE27A675BCA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1563C23E-A89A-3BDE-DAD8-D0D8C9BE26E3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6296D61-42C8-8DB9-F806-134F1AB7280F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dfs-2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7DACAB0A-30BD-3BE4-6F44-5281744114AB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60F84D3D-D9AD-294B-9C8D-1AE82186EB66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0E7AED8-7BEF-4F79-0513-B5B200BCE238}"/>
                  </a:ext>
                </a:extLst>
              </p:cNvPr>
              <p:cNvSpPr txBox="1"/>
              <p:nvPr/>
            </p:nvSpPr>
            <p:spPr>
              <a:xfrm>
                <a:off x="1052985" y="2837498"/>
                <a:ext cx="2505395" cy="2812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在</a:t>
                </a:r>
                <a:r>
                  <a:rPr lang="en-US" altLang="zh-CN" sz="2000" b="0"/>
                  <a:t>dfs-1</a:t>
                </a:r>
                <a:r>
                  <a:rPr lang="zh-CN" altLang="en-US" sz="2000" b="0"/>
                  <a:t>基础加入贪心选择，每次优先选择总花费最少的分支。失败的尝试，由于阶乘级的排序操作，性能远不如</a:t>
                </a:r>
                <a:r>
                  <a:rPr lang="en-US" altLang="zh-CN" sz="2000" b="0"/>
                  <a:t>dfs-1</a:t>
                </a:r>
                <a:r>
                  <a:rPr lang="zh-CN" altLang="en-US" sz="2000" b="0"/>
                  <a:t>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FD61215-E462-F63B-B731-81CAB27BAFC2}"/>
              </a:ext>
            </a:extLst>
          </p:cNvPr>
          <p:cNvSpPr/>
          <p:nvPr/>
        </p:nvSpPr>
        <p:spPr>
          <a:xfrm>
            <a:off x="4959390" y="1298872"/>
            <a:ext cx="7146086" cy="5107715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32FBF14-1D18-FD54-5184-AD62EB662F30}"/>
              </a:ext>
            </a:extLst>
          </p:cNvPr>
          <p:cNvSpPr txBox="1"/>
          <p:nvPr/>
        </p:nvSpPr>
        <p:spPr>
          <a:xfrm>
            <a:off x="5356246" y="1916081"/>
            <a:ext cx="6352369" cy="438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dfs(int node, int cost, int len, int cur_path[]) {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/* </a:t>
            </a:r>
            <a:r>
              <a:rPr lang="zh-CN" altLang="en-US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前略 </a:t>
            </a: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*/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vector&lt;pair&lt;int, int&gt;&gt; next;        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// pair: &lt;node, cost&gt;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(int i = 1; i &lt;= n; ++i) {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if (!vis[i] &amp;&amp; grid[node][i] != 0)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next.emplace_back(i, cost + grid[node][i]);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sort(next.begin(), next.end(), cmp);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(auto &amp;p : next) {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vis[p.first] = 1;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cur_path[len + 1] = p.first;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dfs(p.first, p.second, len + 1, cur_path);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vis[p.first] = 0;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  <a:endParaRPr lang="zh-CN" altLang="en-US" sz="14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9C4798A-6979-69A7-3AD5-1EFF19AECD78}"/>
              </a:ext>
            </a:extLst>
          </p:cNvPr>
          <p:cNvGrpSpPr/>
          <p:nvPr/>
        </p:nvGrpSpPr>
        <p:grpSpPr>
          <a:xfrm>
            <a:off x="7088443" y="908592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ED7915FE-AC6E-BBCD-A9D6-D7C1D5A0407B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F59AE8F-EA2E-95F3-4082-693C1BCD23BA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6216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763E-B774-44DC-0EE7-C48EE4D3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5AE42A-65C9-5B59-B2FE-9ACA894255A5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75CFAD9-6C83-A24B-ED38-066CE7FE2911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9CF55FC-DC53-5191-12AA-EDA6C45B13D3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35D9FEC-AF35-B8E7-E3CA-04792AB207F8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6571AC2-DAD3-DD3B-5AE0-0484F656552B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D1394D90-14A9-B8A9-574A-987C79710FB1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0758423B-5F51-CDBC-FA4B-65C6485A818C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A6273A8-A8A3-B3B2-CF5E-B04CC9BC3427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bfs-0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C803410-D98B-6021-447F-BD27832D4E3E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0E8BC257-FA20-FC0A-EFCA-144872D822D0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1B633E6-36CC-F803-2DED-EE5F06151AF2}"/>
                  </a:ext>
                </a:extLst>
              </p:cNvPr>
              <p:cNvSpPr txBox="1"/>
              <p:nvPr/>
            </p:nvSpPr>
            <p:spPr>
              <a:xfrm>
                <a:off x="1052985" y="2606668"/>
                <a:ext cx="2505395" cy="327455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使用优先队列的广度优先搜索，每次优先选择总花费最少的分支。实现得并不好，只能正确求解</a:t>
                </a:r>
                <a:r>
                  <a:rPr lang="en-US" altLang="zh-CN" sz="2000" b="0"/>
                  <a:t>n&lt;=5</a:t>
                </a:r>
                <a:r>
                  <a:rPr lang="zh-CN" altLang="en-US" sz="2000" b="0"/>
                  <a:t>规模的问题，往后内存不足。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71577B41-0F01-A824-5A28-CB0F4A7443B8}"/>
              </a:ext>
            </a:extLst>
          </p:cNvPr>
          <p:cNvSpPr/>
          <p:nvPr/>
        </p:nvSpPr>
        <p:spPr>
          <a:xfrm>
            <a:off x="4959390" y="1298872"/>
            <a:ext cx="7146086" cy="5107715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87669FE-2052-6E1C-C73A-146A047C86A6}"/>
              </a:ext>
            </a:extLst>
          </p:cNvPr>
          <p:cNvSpPr txBox="1"/>
          <p:nvPr/>
        </p:nvSpPr>
        <p:spPr>
          <a:xfrm>
            <a:off x="5161444" y="1720847"/>
            <a:ext cx="6741973" cy="473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while (!qwq.empty())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Status cur = qwq.top();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qwq.pop();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node_num++;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if (cur.cost &gt; minn) continue;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if (cur.len &gt;= n)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if (cur.cost + grid[1][cur.node] &lt; minn)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minn = cur.cost + grid[1][cur.node];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for (int i = 1; i &lt;= n; ++i) path[i] = cur.cur_path[i]; }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continue; }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for (int i = 1; i &lt;= n; ++i)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if (!cur.vis[i] &amp;&amp; grid[cur.node][i] != 0 &amp;&amp; cur.cost &lt; minn)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int tmp_vis[MAXN], tmp_path[MAXN];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for (int k = 1; k &lt;= n; ++k) {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tmp_vis[k] = cur.vis[k];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tmp_path[k] = cur.cur_path[k]; }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tmp_vis[i] = 1;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tmp_path[cur.len + 1] = i;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qwq.emplace(i, cur.cost + grid[cur.node][i], 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        cur.len + 1, tmp_vis, tmp_path); }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}</a:t>
            </a:r>
          </a:p>
          <a:p>
            <a:pPr>
              <a:lnSpc>
                <a:spcPct val="125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  <a:endParaRPr lang="zh-CN" altLang="en-US" sz="11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0BFF45A-F643-02CB-9927-17EC38E9CE84}"/>
              </a:ext>
            </a:extLst>
          </p:cNvPr>
          <p:cNvGrpSpPr/>
          <p:nvPr/>
        </p:nvGrpSpPr>
        <p:grpSpPr>
          <a:xfrm>
            <a:off x="7088443" y="908592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FFB899BA-E4C7-5C8D-41EB-3ADA9C5BE777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A1B118F-3A26-686A-BB0B-F0EC030418B4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764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705F-D38C-B6C8-C93B-0BB9270E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E5E765-BD66-E1DD-3294-D93B0E8454E2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B3AB6A6-B5DB-07A6-CD7A-683EEC265B1B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C98917A-9355-85A0-A2B2-241F8ABBD601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D9EBAF3-8BDA-1D9A-8C1F-CF4B0C5B907F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53BEF69-A66F-7190-3B00-F7F380AC8CE4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2A947BA-B9CD-DB7D-CBBC-75E4A4B580EE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CAE2C724-AAB7-91F2-062A-BC3891EA66BC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74841AB-1527-0CAE-316E-907E3544CAE9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dp-0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1EC58863-6BCA-127B-2989-82FE1F23AD8B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9AEB56BF-177E-3ACF-2716-C639571FE2D0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41A0107-1A96-387A-C1CE-BE1E98BB8536}"/>
                  </a:ext>
                </a:extLst>
              </p:cNvPr>
              <p:cNvSpPr txBox="1"/>
              <p:nvPr/>
            </p:nvSpPr>
            <p:spPr>
              <a:xfrm>
                <a:off x="1052985" y="2838047"/>
                <a:ext cx="2505395" cy="281179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使用递推实现的动态规划算法，需要回溯倒推最优路径。尽管使用了状态压缩，还是只能求解</a:t>
                </a:r>
                <a:r>
                  <a:rPr lang="en-US" altLang="zh-CN" sz="2000" b="0"/>
                  <a:t>n&lt;=17</a:t>
                </a:r>
                <a:r>
                  <a:rPr lang="zh-CN" altLang="en-US" sz="2000" b="0"/>
                  <a:t>规模的问题。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69B2A2B-C9E3-8FD2-9607-7D5C069A52A7}"/>
              </a:ext>
            </a:extLst>
          </p:cNvPr>
          <p:cNvSpPr/>
          <p:nvPr/>
        </p:nvSpPr>
        <p:spPr>
          <a:xfrm>
            <a:off x="4959390" y="1298872"/>
            <a:ext cx="7146086" cy="5107715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53652C4-61DE-B966-4799-5411DE5300A5}"/>
              </a:ext>
            </a:extLst>
          </p:cNvPr>
          <p:cNvSpPr txBox="1"/>
          <p:nvPr/>
        </p:nvSpPr>
        <p:spPr>
          <a:xfrm>
            <a:off x="5161444" y="1916081"/>
            <a:ext cx="6741973" cy="422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solve() {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// initialize dp[i][0]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(int i = 0; i &lt; n; ++i) dp[i][0] = grid[i][0];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// solve dp[i][j], update column first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(int j = 1; j &lt; m; ++j) {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for (int i = 0; i &lt; n; ++i) {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dp[i][j] = INF;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if (((j &gt;&gt; (i - 1)) &amp; 1) == 1) continue;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for (int k = 1; k &lt; n; ++k) {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if (((j &gt;&gt; (k - 1)) &amp; 1) == 0) continue;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dp[i][j] = min(dp[i][j], grid[i][k] + dp[k][j ^ (1 &lt;&lt; (k - 1))]);}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  <a:endParaRPr lang="zh-CN" altLang="en-US" sz="12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F5A7A6D-A305-12C1-B3AC-8CFF85BF3A11}"/>
              </a:ext>
            </a:extLst>
          </p:cNvPr>
          <p:cNvGrpSpPr/>
          <p:nvPr/>
        </p:nvGrpSpPr>
        <p:grpSpPr>
          <a:xfrm>
            <a:off x="7088443" y="908592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215D7A7-8472-481A-446D-1B4308771110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1A6146E-F509-AFE4-3C0F-06E83D87775F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344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B676-8A8F-791F-7D7D-34CFAB6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B52930E3-4F0E-A295-E08A-CDC7BDDD9403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4D2117A-A45E-99FC-7816-956E3C6FCF33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208EB1-F941-792B-B8F0-9E43655792F2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7E69A4D-CBB5-DED9-37F0-C19F43A7F5F9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486A6D2-3F82-6891-E342-B9D327400272}"/>
              </a:ext>
            </a:extLst>
          </p:cNvPr>
          <p:cNvGrpSpPr/>
          <p:nvPr/>
        </p:nvGrpSpPr>
        <p:grpSpPr>
          <a:xfrm>
            <a:off x="861695" y="1053366"/>
            <a:ext cx="9605414" cy="4751268"/>
            <a:chOff x="861695" y="1246460"/>
            <a:chExt cx="9605414" cy="475126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4581C7B-4D69-560D-3F26-7B5319D6A9CF}"/>
                </a:ext>
              </a:extLst>
            </p:cNvPr>
            <p:cNvSpPr/>
            <p:nvPr/>
          </p:nvSpPr>
          <p:spPr>
            <a:xfrm>
              <a:off x="1870365" y="1565229"/>
              <a:ext cx="8596744" cy="4432499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A9414BC-DD56-5B2F-FCE0-50FE43ACC893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BC50B1D-4526-9581-0272-A3051FBD635B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三、代码编写（</a:t>
                </a:r>
                <a:r>
                  <a:rPr lang="en-US" altLang="zh-CN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code</a:t>
                </a:r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分支）</a:t>
                </a:r>
              </a:p>
            </p:txBody>
          </p:sp>
          <p:sp>
            <p:nvSpPr>
              <p:cNvPr id="3" name="L 形 2">
                <a:extLst>
                  <a:ext uri="{FF2B5EF4-FFF2-40B4-BE49-F238E27FC236}">
                    <a16:creationId xmlns:a16="http://schemas.microsoft.com/office/drawing/2014/main" id="{14E6C316-27A9-4D7B-E3BC-913FB2612B83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B7C3B8F-BDD3-8D46-8231-902690BCEEDC}"/>
                </a:ext>
              </a:extLst>
            </p:cNvPr>
            <p:cNvSpPr txBox="1"/>
            <p:nvPr/>
          </p:nvSpPr>
          <p:spPr>
            <a:xfrm>
              <a:off x="2473582" y="2106369"/>
              <a:ext cx="7501265" cy="3274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在以上代码编写结束后，我们发现数据集中只有一小部分数据能被利用，规模大于</a:t>
              </a: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20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的数据并不适用于以上算法。因此，我们决定不局限于仅仅求精确解，而是加入求近似解的算法以最大利用数据集。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在查阅资料后，我们发现由于数据满足三角不等式，所以可以使用最小生成树来进行启发式搜索，而基础的贪心算法也同样适用。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94E40E5-46E6-C824-57FC-7D1E09316E98}"/>
              </a:ext>
            </a:extLst>
          </p:cNvPr>
          <p:cNvGrpSpPr/>
          <p:nvPr/>
        </p:nvGrpSpPr>
        <p:grpSpPr>
          <a:xfrm>
            <a:off x="2997580" y="5206007"/>
            <a:ext cx="2659312" cy="1449805"/>
            <a:chOff x="3648743" y="5157763"/>
            <a:chExt cx="2659312" cy="1449805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AD2C958-5683-303C-BCFA-B077797FB6F0}"/>
                </a:ext>
              </a:extLst>
            </p:cNvPr>
            <p:cNvSpPr/>
            <p:nvPr/>
          </p:nvSpPr>
          <p:spPr>
            <a:xfrm>
              <a:off x="3732584" y="5157763"/>
              <a:ext cx="2491631" cy="1449805"/>
            </a:xfrm>
            <a:prstGeom prst="roundRect">
              <a:avLst/>
            </a:prstGeom>
            <a:solidFill>
              <a:srgbClr val="D9D9D9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E63A752-4B1A-0DD2-7726-12E532BE24FC}"/>
                </a:ext>
              </a:extLst>
            </p:cNvPr>
            <p:cNvSpPr txBox="1"/>
            <p:nvPr/>
          </p:nvSpPr>
          <p:spPr>
            <a:xfrm>
              <a:off x="3648743" y="5234766"/>
              <a:ext cx="2659312" cy="11397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MST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（最小生成树）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E7CB07A-9EF1-3E3A-1519-58FB6F27DCC8}"/>
              </a:ext>
            </a:extLst>
          </p:cNvPr>
          <p:cNvGrpSpPr/>
          <p:nvPr/>
        </p:nvGrpSpPr>
        <p:grpSpPr>
          <a:xfrm>
            <a:off x="6690424" y="5206007"/>
            <a:ext cx="2659312" cy="1449805"/>
            <a:chOff x="3648743" y="5157763"/>
            <a:chExt cx="2659312" cy="1449805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34FDB020-E11D-515A-E7D0-EF9D435AD77C}"/>
                </a:ext>
              </a:extLst>
            </p:cNvPr>
            <p:cNvSpPr/>
            <p:nvPr/>
          </p:nvSpPr>
          <p:spPr>
            <a:xfrm>
              <a:off x="3732584" y="5157763"/>
              <a:ext cx="2491631" cy="1449805"/>
            </a:xfrm>
            <a:prstGeom prst="roundRect">
              <a:avLst/>
            </a:prstGeom>
            <a:solidFill>
              <a:srgbClr val="D9D9D9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A184B4D-D766-BF91-313A-F1B1791E9A46}"/>
                </a:ext>
              </a:extLst>
            </p:cNvPr>
            <p:cNvSpPr txBox="1"/>
            <p:nvPr/>
          </p:nvSpPr>
          <p:spPr>
            <a:xfrm>
              <a:off x="3648743" y="5234766"/>
              <a:ext cx="2659312" cy="11397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greedy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（基础贪心）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207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6937-E6DA-CB3E-645E-32FDBA83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226FC5A-148D-4B31-823F-322A942CF6D1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3C5E0AF-1519-F17F-1BEF-93C66DC5EF06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BE5B74-C2F9-23DE-8C58-0D4B7C0F5E35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86EA7D-C890-A02E-E880-B9A9E457B529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235E86F-4C88-0518-BAF1-789D48FB0CFB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8D1A6CC-E4FA-E3D0-18E1-E74EF174BB3D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FA44AB52-F689-A58E-FDE5-A4DC5F4BAC94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8ADD8C0-F8EE-0AE0-58C1-466DD6BF7A83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greedy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ABE8730-14E3-1E60-7DE6-2BB1D4CB640E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40C631A7-DBD1-C824-9E79-03B868A399F5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2E41EED-D500-AB17-208C-197C343A3FFD}"/>
                  </a:ext>
                </a:extLst>
              </p:cNvPr>
              <p:cNvSpPr txBox="1"/>
              <p:nvPr/>
            </p:nvSpPr>
            <p:spPr>
              <a:xfrm>
                <a:off x="1052985" y="2837506"/>
                <a:ext cx="2505395" cy="2812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使用最简单的贪心算法，每次都选取距离当前节点最近的未访问节点，直至形成回路。需要遍历所有起点。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156FB42-E422-BDF8-1024-9D6C344D3AD9}"/>
              </a:ext>
            </a:extLst>
          </p:cNvPr>
          <p:cNvSpPr/>
          <p:nvPr/>
        </p:nvSpPr>
        <p:spPr>
          <a:xfrm>
            <a:off x="4959390" y="784860"/>
            <a:ext cx="7146086" cy="5934777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E0CEF7D-792F-3C67-59A4-DCD2AB8ABD6F}"/>
              </a:ext>
            </a:extLst>
          </p:cNvPr>
          <p:cNvSpPr txBox="1"/>
          <p:nvPr/>
        </p:nvSpPr>
        <p:spPr>
          <a:xfrm>
            <a:off x="5626290" y="1298872"/>
            <a:ext cx="5812276" cy="4912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solve(int st)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while (cnt &lt; n)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int nxt, minx = INF;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for (int i = 1; i &lt;= n; ++i)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if (!vis[i] &amp;&amp; grid[node][i] &lt; minx) {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minx = grid[node][i];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nxt = i;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cost += minx;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vis[nxt] = 1;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_path[++cnt] = nxt;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node = nxt;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30D6FB0-57AD-40C9-00BB-93E950A5E0E7}"/>
              </a:ext>
            </a:extLst>
          </p:cNvPr>
          <p:cNvGrpSpPr/>
          <p:nvPr/>
        </p:nvGrpSpPr>
        <p:grpSpPr>
          <a:xfrm>
            <a:off x="7088440" y="354706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C2787F2-989F-0231-6F0C-1E9D5AD8A240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82C89D6-77CF-EAF7-D0F9-D490ECC34B3C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304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A1B7-E413-4F27-505F-0464E99F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7C63C57-E5D5-AE4A-162C-52C10967D891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83F14E2-9A3E-1044-06B2-AE6CAB3DF1CF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D7FA945-EA82-C5A0-FD8E-FB78B875B5C2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339087E-E8A3-B254-A49D-B92EEF87EEAA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AD60F8B-A6A7-1E62-B723-DBF4A38561BA}"/>
              </a:ext>
            </a:extLst>
          </p:cNvPr>
          <p:cNvGrpSpPr/>
          <p:nvPr/>
        </p:nvGrpSpPr>
        <p:grpSpPr>
          <a:xfrm>
            <a:off x="1237872" y="1298872"/>
            <a:ext cx="2887979" cy="5107715"/>
            <a:chOff x="1237872" y="1298872"/>
            <a:chExt cx="2887979" cy="510771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2BEADE0-2199-1B11-E8AC-98B96BB551B5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780559"/>
              <a:chOff x="861695" y="1126384"/>
              <a:chExt cx="3214255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0AF46759-4D46-5508-54C0-EC9ECBF0901A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0569012-926D-39F5-CA14-5CFED78DF792}"/>
                  </a:ext>
                </a:extLst>
              </p:cNvPr>
              <p:cNvSpPr txBox="1"/>
              <p:nvPr/>
            </p:nvSpPr>
            <p:spPr>
              <a:xfrm>
                <a:off x="1493654" y="1281928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MST-0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022A916-E8E3-F683-A2F6-206B4BB82DA6}"/>
                </a:ext>
              </a:extLst>
            </p:cNvPr>
            <p:cNvGrpSpPr/>
            <p:nvPr/>
          </p:nvGrpSpPr>
          <p:grpSpPr>
            <a:xfrm>
              <a:off x="1237872" y="2440110"/>
              <a:ext cx="2887978" cy="3966477"/>
              <a:chOff x="861695" y="2260703"/>
              <a:chExt cx="2887978" cy="39664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04A1C5A2-A5D6-A527-60B7-6ACF1AD79B89}"/>
                  </a:ext>
                </a:extLst>
              </p:cNvPr>
              <p:cNvSpPr/>
              <p:nvPr/>
            </p:nvSpPr>
            <p:spPr>
              <a:xfrm>
                <a:off x="861695" y="2260703"/>
                <a:ext cx="2887978" cy="3966477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49033C2-388A-FF66-6ACB-9D2B7706131D}"/>
                  </a:ext>
                </a:extLst>
              </p:cNvPr>
              <p:cNvSpPr txBox="1"/>
              <p:nvPr/>
            </p:nvSpPr>
            <p:spPr>
              <a:xfrm>
                <a:off x="1052985" y="2375841"/>
                <a:ext cx="2505395" cy="37362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先求出图的最小生成树，然后前序遍历生成路径。由于最小生成树与起点选取有关，需遍历所有起点。由于应用于完全图，因此</a:t>
                </a:r>
                <a:r>
                  <a:rPr lang="en-US" altLang="zh-CN" sz="2000" b="0"/>
                  <a:t>PRIM</a:t>
                </a:r>
                <a:r>
                  <a:rPr lang="zh-CN" altLang="en-US" sz="2000" b="0"/>
                  <a:t>算法优于</a:t>
                </a:r>
                <a:r>
                  <a:rPr lang="en-US" altLang="zh-CN" sz="2000" b="0"/>
                  <a:t>KRUSCAL</a:t>
                </a:r>
                <a:r>
                  <a:rPr lang="zh-CN" altLang="en-US" sz="2000" b="0"/>
                  <a:t>算法。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CBF5B1C-BC07-A3F9-F251-34364D9D00B7}"/>
              </a:ext>
            </a:extLst>
          </p:cNvPr>
          <p:cNvSpPr/>
          <p:nvPr/>
        </p:nvSpPr>
        <p:spPr>
          <a:xfrm>
            <a:off x="4959390" y="784860"/>
            <a:ext cx="7146086" cy="5934777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BD3A651-7CDF-D629-8B58-87F847E551B8}"/>
              </a:ext>
            </a:extLst>
          </p:cNvPr>
          <p:cNvSpPr txBox="1"/>
          <p:nvPr/>
        </p:nvSpPr>
        <p:spPr>
          <a:xfrm>
            <a:off x="5786167" y="1225750"/>
            <a:ext cx="5492522" cy="5403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solve(int st)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while (cnt &lt; n)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int src = 0, dst = 0, minx = INF;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for (int i = 1; i &lt;= n; ++i)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if (!vis[i]) continue;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for (int k = 1; k &lt;= n; ++k)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if (!vis[k] &amp;&amp; grid[i][k] &lt; minx)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src = i;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dst = k;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        minx = grid[i][k]; }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vis[dst] = 1;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mst[src].push_back(dst);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cnt++; }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altLang="zh-CN" sz="1100"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void getPath(int node, vector&lt;int&gt; &amp;ret, vector&lt;int&gt; mst[])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ret.push_back(node);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(int &amp;nxt: mst[node]) getPath(nxt, ret, mst);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AA87C05-D76C-2EE5-E14E-B0F7E5C06A90}"/>
              </a:ext>
            </a:extLst>
          </p:cNvPr>
          <p:cNvGrpSpPr/>
          <p:nvPr/>
        </p:nvGrpSpPr>
        <p:grpSpPr>
          <a:xfrm>
            <a:off x="7088440" y="354706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9EB658B4-DBE0-085F-6C3E-31B1E5936F35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E4F7566-AE16-A6D3-C528-CF228D7BCB2C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447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D256-6F91-33CB-0FBB-02DE1991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01FFA333-3C63-92B2-95B4-7EAE3D1F310D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21B4C80-333F-0E3C-A7A7-7882CB2B4139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659C2C5-05D0-DE05-187D-30445D9F297C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AD14BA3-EDF6-DB71-EA27-A72E14235DDF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7C1EBC-B198-560A-0D9B-13B0E82C47F5}"/>
              </a:ext>
            </a:extLst>
          </p:cNvPr>
          <p:cNvGrpSpPr/>
          <p:nvPr/>
        </p:nvGrpSpPr>
        <p:grpSpPr>
          <a:xfrm>
            <a:off x="515977" y="1197142"/>
            <a:ext cx="4176339" cy="4355431"/>
            <a:chOff x="1237872" y="1298872"/>
            <a:chExt cx="2887979" cy="6463523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63F06F2-C5B5-A119-CCA0-1D8949614820}"/>
                </a:ext>
              </a:extLst>
            </p:cNvPr>
            <p:cNvGrpSpPr/>
            <p:nvPr/>
          </p:nvGrpSpPr>
          <p:grpSpPr>
            <a:xfrm>
              <a:off x="1237872" y="1298872"/>
              <a:ext cx="2887979" cy="969819"/>
              <a:chOff x="861695" y="1126384"/>
              <a:chExt cx="3214255" cy="96981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E9528A2F-9CA4-2A46-A0C0-BE3E2DC5B8E9}"/>
                  </a:ext>
                </a:extLst>
              </p:cNvPr>
              <p:cNvSpPr/>
              <p:nvPr/>
            </p:nvSpPr>
            <p:spPr>
              <a:xfrm>
                <a:off x="861695" y="1126384"/>
                <a:ext cx="3214255" cy="96981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20D620F-3908-0DD5-D57F-75AF8505A5FA}"/>
                  </a:ext>
                </a:extLst>
              </p:cNvPr>
              <p:cNvSpPr txBox="1"/>
              <p:nvPr/>
            </p:nvSpPr>
            <p:spPr>
              <a:xfrm>
                <a:off x="1493653" y="1380461"/>
                <a:ext cx="195033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Consolas" panose="020B0609020204030204" pitchFamily="49" charset="0"/>
                  </a:rPr>
                  <a:t>MST-1</a:t>
                </a:r>
                <a:endParaRPr lang="zh-CN" altLang="en-US" sz="2400" b="1">
                  <a:solidFill>
                    <a:schemeClr val="bg1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4AEBD89-2C18-C94D-57E3-EE2E530547B0}"/>
                </a:ext>
              </a:extLst>
            </p:cNvPr>
            <p:cNvGrpSpPr/>
            <p:nvPr/>
          </p:nvGrpSpPr>
          <p:grpSpPr>
            <a:xfrm>
              <a:off x="1237872" y="2786626"/>
              <a:ext cx="2887978" cy="4975769"/>
              <a:chOff x="861695" y="2607219"/>
              <a:chExt cx="2887978" cy="4975769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A3D9BCE2-7225-696B-B2F0-A2FA82A2181B}"/>
                  </a:ext>
                </a:extLst>
              </p:cNvPr>
              <p:cNvSpPr/>
              <p:nvPr/>
            </p:nvSpPr>
            <p:spPr>
              <a:xfrm>
                <a:off x="861695" y="2607219"/>
                <a:ext cx="2887978" cy="4975769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7F43D5F-4232-EA05-334A-16CA3B3F35F9}"/>
                  </a:ext>
                </a:extLst>
              </p:cNvPr>
              <p:cNvSpPr txBox="1"/>
              <p:nvPr/>
            </p:nvSpPr>
            <p:spPr>
              <a:xfrm>
                <a:off x="1052985" y="3458373"/>
                <a:ext cx="2505395" cy="32734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zh-CN" altLang="en-US" sz="2000" b="0"/>
                  <a:t>我们查阅资料，发现当</a:t>
                </a:r>
                <a:r>
                  <a:rPr lang="en-US" altLang="zh-CN" sz="2000" b="0"/>
                  <a:t>PRIM</a:t>
                </a:r>
                <a:r>
                  <a:rPr lang="zh-CN" altLang="en-US" sz="2000" b="0"/>
                  <a:t>算法应用于完全图时，无论起点选取如何，树的权值和总是相同；若不存在相同权值的边，则树的结构也相同。</a:t>
                </a:r>
              </a:p>
            </p:txBody>
          </p:sp>
        </p:grp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2B82639-BC7D-53B8-E9B8-8A81F4A4FABF}"/>
              </a:ext>
            </a:extLst>
          </p:cNvPr>
          <p:cNvSpPr/>
          <p:nvPr/>
        </p:nvSpPr>
        <p:spPr>
          <a:xfrm>
            <a:off x="4869284" y="1461838"/>
            <a:ext cx="7146086" cy="4090736"/>
          </a:xfrm>
          <a:prstGeom prst="roundRect">
            <a:avLst>
              <a:gd name="adj" fmla="val 8942"/>
            </a:avLst>
          </a:prstGeom>
          <a:solidFill>
            <a:srgbClr val="D9D9D9"/>
          </a:solidFill>
          <a:ln w="19050">
            <a:solidFill>
              <a:srgbClr val="3242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A26571-8D71-997F-3160-A80169BAFD9E}"/>
              </a:ext>
            </a:extLst>
          </p:cNvPr>
          <p:cNvSpPr txBox="1"/>
          <p:nvPr/>
        </p:nvSpPr>
        <p:spPr>
          <a:xfrm>
            <a:off x="5280018" y="2210701"/>
            <a:ext cx="3071652" cy="30162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// MST-0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/* ... */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int i = 1;</a:t>
            </a:r>
          </a:p>
          <a:p>
            <a:pPr>
              <a:lnSpc>
                <a:spcPct val="150000"/>
              </a:lnSpc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for (; i &lt;= n; ++i) 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   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solve(i);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/* ... */</a:t>
            </a:r>
          </a:p>
          <a:p>
            <a:pPr>
              <a:lnSpc>
                <a:spcPct val="150000"/>
              </a:lnSpc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688A684-40AD-0277-2FD5-8CF371190DEF}"/>
              </a:ext>
            </a:extLst>
          </p:cNvPr>
          <p:cNvGrpSpPr/>
          <p:nvPr/>
        </p:nvGrpSpPr>
        <p:grpSpPr>
          <a:xfrm>
            <a:off x="6998331" y="1133617"/>
            <a:ext cx="2887979" cy="780559"/>
            <a:chOff x="861695" y="1092231"/>
            <a:chExt cx="3214255" cy="84105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AF670BFF-C662-A6DA-275D-DE79E56E2F93}"/>
                </a:ext>
              </a:extLst>
            </p:cNvPr>
            <p:cNvSpPr/>
            <p:nvPr/>
          </p:nvSpPr>
          <p:spPr>
            <a:xfrm>
              <a:off x="861695" y="1126384"/>
              <a:ext cx="3214255" cy="780559"/>
            </a:xfrm>
            <a:prstGeom prst="roundRect">
              <a:avLst/>
            </a:prstGeom>
            <a:solidFill>
              <a:srgbClr val="324273"/>
            </a:solidFill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BF88037-E8A5-7709-19A4-2856CE091994}"/>
                </a:ext>
              </a:extLst>
            </p:cNvPr>
            <p:cNvSpPr txBox="1"/>
            <p:nvPr/>
          </p:nvSpPr>
          <p:spPr>
            <a:xfrm>
              <a:off x="1493654" y="1092231"/>
              <a:ext cx="1950335" cy="84105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核心代码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3B1D17A-2708-6398-1690-DF2CF7F9128A}"/>
              </a:ext>
            </a:extLst>
          </p:cNvPr>
          <p:cNvSpPr txBox="1"/>
          <p:nvPr/>
        </p:nvSpPr>
        <p:spPr>
          <a:xfrm>
            <a:off x="9143972" y="2184132"/>
            <a:ext cx="207909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// MST-1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int main()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/* ... */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solve(1);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Code Medium" pitchFamily="1" charset="0"/>
              <a:ea typeface="楷体" panose="02010609060101010101" pitchFamily="49" charset="-122"/>
              <a:cs typeface="Fira Code Medium" pitchFamily="1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    /* ... */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Code Medium" pitchFamily="1" charset="0"/>
                <a:ea typeface="楷体" panose="02010609060101010101" pitchFamily="49" charset="-122"/>
                <a:cs typeface="Fira Code Medium" pitchFamily="1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621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1FF7C-C47B-D2F1-FE58-BB297A2E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2D353DE-2D8C-A5F1-36EF-DFACB7F80131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86D409F-4794-95BE-C477-79884AB1F068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9CC0F82-094E-BA52-664B-89B05FAC7A7C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C169C92-71FE-F7BC-7AB3-5BCD2B24F919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FC0F412-3E9A-3642-574D-3B6A674B0737}"/>
              </a:ext>
            </a:extLst>
          </p:cNvPr>
          <p:cNvGrpSpPr/>
          <p:nvPr/>
        </p:nvGrpSpPr>
        <p:grpSpPr>
          <a:xfrm>
            <a:off x="861695" y="1321872"/>
            <a:ext cx="9432233" cy="4751268"/>
            <a:chOff x="861695" y="1246460"/>
            <a:chExt cx="9432233" cy="475126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8280272-7480-8A0C-5D59-20699D9019ED}"/>
                </a:ext>
              </a:extLst>
            </p:cNvPr>
            <p:cNvSpPr/>
            <p:nvPr/>
          </p:nvSpPr>
          <p:spPr>
            <a:xfrm>
              <a:off x="1891146" y="1565229"/>
              <a:ext cx="8402782" cy="4432499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4241801-8392-0681-DAAC-03FFA386ED38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752DE47-BD91-67F1-FB8E-8235F6EFDB25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四、算法性能测试（</a:t>
                </a:r>
                <a:r>
                  <a:rPr lang="en-US" altLang="zh-CN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output</a:t>
                </a:r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分支）</a:t>
                </a:r>
              </a:p>
            </p:txBody>
          </p:sp>
          <p:sp>
            <p:nvSpPr>
              <p:cNvPr id="3" name="L 形 2">
                <a:extLst>
                  <a:ext uri="{FF2B5EF4-FFF2-40B4-BE49-F238E27FC236}">
                    <a16:creationId xmlns:a16="http://schemas.microsoft.com/office/drawing/2014/main" id="{48E7D429-9281-FEA2-A80E-A2FD9A782027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445006B-588F-F978-4C93-D5FBFF879085}"/>
                </a:ext>
              </a:extLst>
            </p:cNvPr>
            <p:cNvSpPr txBox="1"/>
            <p:nvPr/>
          </p:nvSpPr>
          <p:spPr>
            <a:xfrm>
              <a:off x="2341904" y="2375035"/>
              <a:ext cx="7501265" cy="2812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至此，全部代码编写完成。为了对比不同算法策略的性能差异，我们需要生成输出文件并进行记录。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对于求精确解的算法，由于可用数据集并不多，所以我们手动记录。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对于求近似解的算法，由于几乎所有数据集都适用，因此为了批量生成输出文件，我们编写了一个</a:t>
              </a: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shell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脚本。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12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560C-03C5-44BB-B430-31C33A46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2524DF25-1363-3832-24F0-835416D939AB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48B2697-D51A-683E-902A-10D84B1A07EE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9CA95C8-7607-BF12-EFD2-324CA964E2FA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550E743-03F0-536A-BB50-EF595655AF54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1AA26B-A041-710B-7AF1-F3E3B5767001}"/>
              </a:ext>
            </a:extLst>
          </p:cNvPr>
          <p:cNvGrpSpPr/>
          <p:nvPr/>
        </p:nvGrpSpPr>
        <p:grpSpPr>
          <a:xfrm>
            <a:off x="1243660" y="1192354"/>
            <a:ext cx="10336812" cy="5364704"/>
            <a:chOff x="1237872" y="1525802"/>
            <a:chExt cx="10336812" cy="536470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A2850C9-E7C8-3BC6-56CE-EAB3C6633E21}"/>
                </a:ext>
              </a:extLst>
            </p:cNvPr>
            <p:cNvGrpSpPr/>
            <p:nvPr/>
          </p:nvGrpSpPr>
          <p:grpSpPr>
            <a:xfrm>
              <a:off x="1237872" y="1916082"/>
              <a:ext cx="10336812" cy="4974424"/>
              <a:chOff x="861695" y="1736675"/>
              <a:chExt cx="10336812" cy="4974424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A12CD29C-3179-B05E-B1E3-B672B20EA5BD}"/>
                  </a:ext>
                </a:extLst>
              </p:cNvPr>
              <p:cNvSpPr/>
              <p:nvPr/>
            </p:nvSpPr>
            <p:spPr>
              <a:xfrm>
                <a:off x="861695" y="1736675"/>
                <a:ext cx="10336812" cy="4974424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CDF366F-BA28-1C56-F75C-CF442215BC62}"/>
                  </a:ext>
                </a:extLst>
              </p:cNvPr>
              <p:cNvSpPr txBox="1"/>
              <p:nvPr/>
            </p:nvSpPr>
            <p:spPr>
              <a:xfrm>
                <a:off x="1052985" y="3991668"/>
                <a:ext cx="2505395" cy="50456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endParaRPr lang="zh-CN" altLang="en-US" sz="2000" b="0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584BE08-2AA9-E6C1-3729-00A7B696F28D}"/>
                </a:ext>
              </a:extLst>
            </p:cNvPr>
            <p:cNvSpPr txBox="1"/>
            <p:nvPr/>
          </p:nvSpPr>
          <p:spPr>
            <a:xfrm>
              <a:off x="1973772" y="2616255"/>
              <a:ext cx="8865011" cy="3790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>
                  <a:latin typeface="Fira Code Medium" pitchFamily="1" charset="0"/>
                  <a:ea typeface="楷体" panose="02010609060101010101" pitchFamily="49" charset="-122"/>
                  <a:cs typeface="Fira Code Medium" pitchFamily="1" charset="0"/>
                </a:defRPr>
              </a:lvl1pPr>
            </a:lstStyle>
            <a:p>
              <a:r>
                <a:rPr lang="en-US" altLang="zh-CN" sz="1800"/>
                <a:t>/* ...</a:t>
              </a:r>
              <a:r>
                <a:rPr lang="zh-CN" altLang="en-US" sz="1800"/>
                <a:t>输入</a:t>
              </a:r>
              <a:r>
                <a:rPr lang="en-US" altLang="zh-CN" sz="1800"/>
                <a:t>...</a:t>
              </a:r>
              <a:r>
                <a:rPr lang="zh-CN" altLang="en-US" sz="1800"/>
                <a:t> </a:t>
              </a:r>
              <a:r>
                <a:rPr lang="en-US" altLang="zh-CN" sz="1800"/>
                <a:t>*/</a:t>
              </a:r>
            </a:p>
            <a:p>
              <a:r>
                <a:rPr lang="en-US" altLang="zh-CN" sz="1800"/>
                <a:t>long start = clock();</a:t>
              </a:r>
            </a:p>
            <a:p>
              <a:endParaRPr lang="en-US" altLang="zh-CN" sz="1800"/>
            </a:p>
            <a:p>
              <a:r>
                <a:rPr lang="en-US" altLang="zh-CN" sz="1800"/>
                <a:t>solve();</a:t>
              </a:r>
            </a:p>
            <a:p>
              <a:endParaRPr lang="en-US" altLang="zh-CN" sz="1800"/>
            </a:p>
            <a:p>
              <a:r>
                <a:rPr lang="en-US" altLang="zh-CN" sz="1800"/>
                <a:t>long end = clock();</a:t>
              </a:r>
            </a:p>
            <a:p>
              <a:r>
                <a:rPr lang="en-US" altLang="zh-CN" sz="1800"/>
                <a:t>cout &lt;&lt; "Time cost: " &lt;&lt; (double) (end - start) &lt;&lt; " ms.\n";</a:t>
              </a:r>
            </a:p>
            <a:p>
              <a:r>
                <a:rPr lang="en-US" altLang="zh-CN" sz="1800"/>
                <a:t>cout &lt;&lt; "Min cost: " &lt;&lt; minn &lt;&lt; endl;</a:t>
              </a:r>
            </a:p>
            <a:p>
              <a:r>
                <a:rPr lang="en-US" altLang="zh-CN" sz="1800"/>
                <a:t>/* ...</a:t>
              </a:r>
              <a:r>
                <a:rPr lang="zh-CN" altLang="en-US" sz="1800"/>
                <a:t>输出路径</a:t>
              </a:r>
              <a:r>
                <a:rPr lang="en-US" altLang="zh-CN" sz="1800"/>
                <a:t>...</a:t>
              </a:r>
              <a:r>
                <a:rPr lang="zh-CN" altLang="en-US" sz="1800"/>
                <a:t> </a:t>
              </a:r>
              <a:r>
                <a:rPr lang="en-US" altLang="zh-CN" sz="1800"/>
                <a:t>*/</a:t>
              </a:r>
              <a:endParaRPr lang="zh-CN" altLang="en-US" sz="180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64C9955-4416-25D0-C9B8-1C86E3E7BC8A}"/>
                </a:ext>
              </a:extLst>
            </p:cNvPr>
            <p:cNvGrpSpPr/>
            <p:nvPr/>
          </p:nvGrpSpPr>
          <p:grpSpPr>
            <a:xfrm>
              <a:off x="4652010" y="1525802"/>
              <a:ext cx="2887979" cy="780559"/>
              <a:chOff x="1237872" y="1298872"/>
              <a:chExt cx="2887979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A82C1E2D-3226-921A-66FF-3FC934F168C9}"/>
                  </a:ext>
                </a:extLst>
              </p:cNvPr>
              <p:cNvSpPr/>
              <p:nvPr/>
            </p:nvSpPr>
            <p:spPr>
              <a:xfrm>
                <a:off x="1237872" y="1298872"/>
                <a:ext cx="2887979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8A2C429-1458-7AF5-677D-90755CAC5BCD}"/>
                  </a:ext>
                </a:extLst>
              </p:cNvPr>
              <p:cNvSpPr txBox="1"/>
              <p:nvPr/>
            </p:nvSpPr>
            <p:spPr>
              <a:xfrm>
                <a:off x="1616808" y="1456370"/>
                <a:ext cx="213010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在算法代码中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4356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BED97-61E4-95DF-35CE-F3663162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26C4287-B9BF-9433-EBD8-085F2FA7FB0E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F046910-4C08-4E54-E022-9DBEC868F3C5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865B6DB-1DF1-7BFE-709A-247A41FBEB45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5C96022-2030-81C7-99D1-136A53B4B4F1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C76B6F-A3EB-7D96-72A1-6191DA0B9F1B}"/>
              </a:ext>
            </a:extLst>
          </p:cNvPr>
          <p:cNvGrpSpPr/>
          <p:nvPr/>
        </p:nvGrpSpPr>
        <p:grpSpPr>
          <a:xfrm>
            <a:off x="1243660" y="703708"/>
            <a:ext cx="10862346" cy="5853350"/>
            <a:chOff x="1237872" y="1037156"/>
            <a:chExt cx="10862346" cy="585335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322FAE7-887A-E9EF-0416-42FE3ECD88B2}"/>
                </a:ext>
              </a:extLst>
            </p:cNvPr>
            <p:cNvGrpSpPr/>
            <p:nvPr/>
          </p:nvGrpSpPr>
          <p:grpSpPr>
            <a:xfrm>
              <a:off x="1237872" y="1456192"/>
              <a:ext cx="10336812" cy="5434314"/>
              <a:chOff x="861695" y="1276785"/>
              <a:chExt cx="10336812" cy="5434314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9E6E7F8-DB81-15C8-7B0F-B92474AE48A6}"/>
                  </a:ext>
                </a:extLst>
              </p:cNvPr>
              <p:cNvSpPr/>
              <p:nvPr/>
            </p:nvSpPr>
            <p:spPr>
              <a:xfrm>
                <a:off x="861695" y="1276785"/>
                <a:ext cx="10336812" cy="5434314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2E5AC0A-2CE2-2DFB-95B0-0EB5D15F782A}"/>
                  </a:ext>
                </a:extLst>
              </p:cNvPr>
              <p:cNvSpPr txBox="1"/>
              <p:nvPr/>
            </p:nvSpPr>
            <p:spPr>
              <a:xfrm>
                <a:off x="1052985" y="3991668"/>
                <a:ext cx="2505395" cy="50456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endParaRPr lang="zh-CN" altLang="en-US" sz="2000" b="0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BD65C2-72D8-6F1C-4701-F4C69115FEB8}"/>
                </a:ext>
              </a:extLst>
            </p:cNvPr>
            <p:cNvSpPr txBox="1"/>
            <p:nvPr/>
          </p:nvSpPr>
          <p:spPr>
            <a:xfrm>
              <a:off x="1862699" y="1558277"/>
              <a:ext cx="10237519" cy="533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>
                  <a:latin typeface="Fira Code Medium" pitchFamily="1" charset="0"/>
                  <a:ea typeface="楷体" panose="02010609060101010101" pitchFamily="49" charset="-122"/>
                  <a:cs typeface="Fira Code Medium" pitchFamily="1" charset="0"/>
                </a:defRPr>
              </a:lvl1pPr>
            </a:lstStyle>
            <a:p>
              <a:r>
                <a:rPr lang="en-US" altLang="zh-CN" sz="1200"/>
                <a:t>find "$CODE_DIR" -type f | while IFS= read -r src;</a:t>
              </a:r>
            </a:p>
            <a:p>
              <a:r>
                <a:rPr lang="en-US" altLang="zh-CN" sz="1200"/>
                <a:t>do</a:t>
              </a:r>
            </a:p>
            <a:p>
              <a:r>
                <a:rPr lang="en-US" altLang="zh-CN" sz="1200"/>
                <a:t>    src_name="${src##*/}"</a:t>
              </a:r>
            </a:p>
            <a:p>
              <a:r>
                <a:rPr lang="en-US" altLang="zh-CN" sz="1200"/>
                <a:t>    out_name="${src_name%%.*}.out"</a:t>
              </a:r>
            </a:p>
            <a:p>
              <a:r>
                <a:rPr lang="en-US" altLang="zh-CN" sz="1200"/>
                <a:t>    echo "ready to compile $src_name and run..."</a:t>
              </a:r>
            </a:p>
            <a:p>
              <a:r>
                <a:rPr lang="en-US" altLang="zh-CN" sz="1200"/>
                <a:t>    g++ "$src" -o "$out_name"</a:t>
              </a:r>
            </a:p>
            <a:p>
              <a:endParaRPr lang="en-US" altLang="zh-CN" sz="1200"/>
            </a:p>
            <a:p>
              <a:r>
                <a:rPr lang="en-US" altLang="zh-CN" sz="1200"/>
                <a:t>    find "$DATA_DIR" -type f | while IFS= read -r file;</a:t>
              </a:r>
            </a:p>
            <a:p>
              <a:r>
                <a:rPr lang="en-US" altLang="zh-CN" sz="1200"/>
                <a:t>    do</a:t>
              </a:r>
            </a:p>
            <a:p>
              <a:r>
                <a:rPr lang="en-US" altLang="zh-CN" sz="1200"/>
                <a:t>        file_name="${file##*/}"</a:t>
              </a:r>
            </a:p>
            <a:p>
              <a:r>
                <a:rPr lang="en-US" altLang="zh-CN" sz="1200"/>
                <a:t>        txt=".txt"</a:t>
              </a:r>
            </a:p>
            <a:p>
              <a:r>
                <a:rPr lang="en-US" altLang="zh-CN" sz="1200"/>
                <a:t>        ans="-ans.txt"</a:t>
              </a:r>
            </a:p>
            <a:p>
              <a:r>
                <a:rPr lang="en-US" altLang="zh-CN" sz="1200"/>
                <a:t>        if [[ $file_name == *$txt* ]] &amp;&amp; ! [[ $file_name == *$ans* ]]</a:t>
              </a:r>
            </a:p>
            <a:p>
              <a:r>
                <a:rPr lang="en-US" altLang="zh-CN" sz="1200"/>
                <a:t>        then</a:t>
              </a:r>
            </a:p>
            <a:p>
              <a:r>
                <a:rPr lang="en-US" altLang="zh-CN" sz="1200"/>
                <a:t>            echo "-testing $file_name"</a:t>
              </a:r>
            </a:p>
            <a:p>
              <a:r>
                <a:rPr lang="en-US" altLang="zh-CN" sz="1200"/>
                <a:t>            "./$out_name" &lt; "$file" &gt; "$RES_DIR/${src_name%%.*}-${file_name%%.*}.txt"</a:t>
              </a:r>
            </a:p>
            <a:p>
              <a:r>
                <a:rPr lang="en-US" altLang="zh-CN" sz="1200"/>
                <a:t>        fi</a:t>
              </a:r>
            </a:p>
            <a:p>
              <a:r>
                <a:rPr lang="en-US" altLang="zh-CN" sz="1200"/>
                <a:t>    done</a:t>
              </a:r>
            </a:p>
            <a:p>
              <a:r>
                <a:rPr lang="en-US" altLang="zh-CN" sz="1200"/>
                <a:t>done</a:t>
              </a:r>
              <a:endParaRPr lang="zh-CN" altLang="en-US" sz="120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5439538-4D37-0E51-A1A5-B9194B583133}"/>
                </a:ext>
              </a:extLst>
            </p:cNvPr>
            <p:cNvGrpSpPr/>
            <p:nvPr/>
          </p:nvGrpSpPr>
          <p:grpSpPr>
            <a:xfrm>
              <a:off x="8752200" y="1037156"/>
              <a:ext cx="2130106" cy="780559"/>
              <a:chOff x="5338062" y="810226"/>
              <a:chExt cx="2130106" cy="780559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995DC6E-FD00-1766-3A09-B17DD44C94C0}"/>
                  </a:ext>
                </a:extLst>
              </p:cNvPr>
              <p:cNvSpPr/>
              <p:nvPr/>
            </p:nvSpPr>
            <p:spPr>
              <a:xfrm>
                <a:off x="5338063" y="810226"/>
                <a:ext cx="213010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FB8556F-8279-0E6A-CCD2-E6C2B1FE1692}"/>
                  </a:ext>
                </a:extLst>
              </p:cNvPr>
              <p:cNvSpPr txBox="1"/>
              <p:nvPr/>
            </p:nvSpPr>
            <p:spPr>
              <a:xfrm>
                <a:off x="5338062" y="969672"/>
                <a:ext cx="213010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script.sh</a:t>
                </a:r>
                <a:endParaRPr lang="zh-CN" altLang="en-US" sz="2400">
                  <a:solidFill>
                    <a:schemeClr val="bg1"/>
                  </a:solidFill>
                  <a:latin typeface="Consolas" panose="020B0609020204030204" pitchFamily="49" charset="0"/>
                  <a:ea typeface="华文中宋" panose="0201060004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249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944E-E089-FCB9-5179-52613A16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E47A02-DCF4-B370-5CBA-3FB988C19991}"/>
              </a:ext>
            </a:extLst>
          </p:cNvPr>
          <p:cNvGrpSpPr/>
          <p:nvPr/>
        </p:nvGrpSpPr>
        <p:grpSpPr>
          <a:xfrm>
            <a:off x="-12700" y="-13335"/>
            <a:ext cx="3762375" cy="874395"/>
            <a:chOff x="-12700" y="-13335"/>
            <a:chExt cx="3762375" cy="87439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454AF0-0E30-9BE9-4B52-90B3A792C431}"/>
                </a:ext>
              </a:extLst>
            </p:cNvPr>
            <p:cNvSpPr/>
            <p:nvPr/>
          </p:nvSpPr>
          <p:spPr>
            <a:xfrm>
              <a:off x="-12700" y="784860"/>
              <a:ext cx="3762375" cy="762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3FFF534-74C7-D2D5-F6A3-28144A8A273E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E44B24F-BF3A-669B-BB1D-B45F9A350CDB}"/>
                </a:ext>
              </a:extLst>
            </p:cNvPr>
            <p:cNvSpPr txBox="1"/>
            <p:nvPr/>
          </p:nvSpPr>
          <p:spPr>
            <a:xfrm>
              <a:off x="861695" y="0"/>
              <a:ext cx="28879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实验过程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1C3FAE6-D9D5-A9D0-A476-B42AB8F5D06F}"/>
              </a:ext>
            </a:extLst>
          </p:cNvPr>
          <p:cNvGrpSpPr/>
          <p:nvPr/>
        </p:nvGrpSpPr>
        <p:grpSpPr>
          <a:xfrm>
            <a:off x="861695" y="1991248"/>
            <a:ext cx="9217488" cy="3000746"/>
            <a:chOff x="861695" y="1246460"/>
            <a:chExt cx="9217488" cy="30007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159F721-718B-272E-5150-6B3EE2D5F051}"/>
                </a:ext>
              </a:extLst>
            </p:cNvPr>
            <p:cNvSpPr/>
            <p:nvPr/>
          </p:nvSpPr>
          <p:spPr>
            <a:xfrm>
              <a:off x="1845773" y="1565229"/>
              <a:ext cx="8233410" cy="2681977"/>
            </a:xfrm>
            <a:prstGeom prst="roundRect">
              <a:avLst/>
            </a:prstGeom>
            <a:noFill/>
            <a:ln w="19050">
              <a:solidFill>
                <a:srgbClr val="3242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B50B9F5-D9E3-6430-A992-650BE7D54A35}"/>
                </a:ext>
              </a:extLst>
            </p:cNvPr>
            <p:cNvGrpSpPr/>
            <p:nvPr/>
          </p:nvGrpSpPr>
          <p:grpSpPr>
            <a:xfrm>
              <a:off x="861695" y="1246460"/>
              <a:ext cx="8233410" cy="738794"/>
              <a:chOff x="1070610" y="2122170"/>
              <a:chExt cx="8233410" cy="738794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9E2144-3EFB-A0B7-4EB9-87F4D0CDE181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8233410" cy="63754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五、项目整理提交（</a:t>
                </a:r>
                <a:r>
                  <a:rPr lang="en-US" altLang="zh-CN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submit</a:t>
                </a:r>
                <a:r>
                  <a:rPr lang="zh-CN" altLang="en-US" sz="24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分支）</a:t>
                </a:r>
              </a:p>
            </p:txBody>
          </p:sp>
          <p:sp>
            <p:nvSpPr>
              <p:cNvPr id="3" name="L 形 2">
                <a:extLst>
                  <a:ext uri="{FF2B5EF4-FFF2-40B4-BE49-F238E27FC236}">
                    <a16:creationId xmlns:a16="http://schemas.microsoft.com/office/drawing/2014/main" id="{73B6EA2F-90A6-0317-F052-88B9065FF084}"/>
                  </a:ext>
                </a:extLst>
              </p:cNvPr>
              <p:cNvSpPr/>
              <p:nvPr/>
            </p:nvSpPr>
            <p:spPr>
              <a:xfrm>
                <a:off x="1070610" y="2122170"/>
                <a:ext cx="619645" cy="738794"/>
              </a:xfrm>
              <a:prstGeom prst="corner">
                <a:avLst>
                  <a:gd name="adj1" fmla="val 38914"/>
                  <a:gd name="adj2" fmla="val 48191"/>
                </a:avLst>
              </a:prstGeom>
              <a:solidFill>
                <a:schemeClr val="bg1"/>
              </a:solidFill>
              <a:ln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4AF84A3-B8A1-C6F4-4598-BC0B8967D4D8}"/>
                </a:ext>
              </a:extLst>
            </p:cNvPr>
            <p:cNvSpPr txBox="1"/>
            <p:nvPr/>
          </p:nvSpPr>
          <p:spPr>
            <a:xfrm>
              <a:off x="2305685" y="2423103"/>
              <a:ext cx="7501265" cy="966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完成算法性能的记录和对比分析之后，实验内容已全部结束。我们会按照指导书的要求，格式化整理并提交所有资料。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1742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3D6D-4807-8E72-A998-9F38DFD3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0682FB-D959-3869-A4F0-56A56A420529}"/>
              </a:ext>
            </a:extLst>
          </p:cNvPr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69523A-4F29-5776-0B78-E961AA483387}"/>
              </a:ext>
            </a:extLst>
          </p:cNvPr>
          <p:cNvSpPr/>
          <p:nvPr/>
        </p:nvSpPr>
        <p:spPr>
          <a:xfrm>
            <a:off x="3311574" y="2679382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0CD464-CA55-4A83-C60C-D58DAC6212B4}"/>
              </a:ext>
            </a:extLst>
          </p:cNvPr>
          <p:cNvSpPr txBox="1"/>
          <p:nvPr/>
        </p:nvSpPr>
        <p:spPr>
          <a:xfrm>
            <a:off x="4265836" y="2596177"/>
            <a:ext cx="507773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实验结果与结论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930C7C9-0577-687B-FD2C-4EF9C49B270E}"/>
              </a:ext>
            </a:extLst>
          </p:cNvPr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921E6E-A17C-A9ED-6B31-858A9602915A}"/>
              </a:ext>
            </a:extLst>
          </p:cNvPr>
          <p:cNvGrpSpPr/>
          <p:nvPr/>
        </p:nvGrpSpPr>
        <p:grpSpPr>
          <a:xfrm>
            <a:off x="0" y="-17780"/>
            <a:ext cx="1593850" cy="6095365"/>
            <a:chOff x="0" y="-17780"/>
            <a:chExt cx="1593850" cy="609536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33DBF714-09EE-A448-AA1D-D038BAA4E31D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EB7F226-7EEC-E326-5CA7-9CC953FBA6FC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1F10DAB-CD46-6DF6-54BC-DA994F6D7EE5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DDB4395-2A22-B791-D76E-5F5CEC82F56D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F8AF41-AC0A-6A1E-EFF6-EAFB6A27B736}"/>
              </a:ext>
            </a:extLst>
          </p:cNvPr>
          <p:cNvGrpSpPr/>
          <p:nvPr/>
        </p:nvGrpSpPr>
        <p:grpSpPr>
          <a:xfrm flipH="1">
            <a:off x="10598150" y="0"/>
            <a:ext cx="1593850" cy="6095365"/>
            <a:chOff x="0" y="-17780"/>
            <a:chExt cx="1593850" cy="6095365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0507291B-0AF1-30F0-62E1-37B9687B8A4C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29F9145-29E4-3B94-7EEA-F1704F5F3AA6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B21B63A-40A0-CB30-083A-891EC4C460C5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6989900-7094-2B0E-A785-A5CB6588272D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72639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FB0E-271D-A498-60E0-F0ECA2FB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75D0551-F195-28F0-185A-74248FD02AC5}"/>
              </a:ext>
            </a:extLst>
          </p:cNvPr>
          <p:cNvGrpSpPr/>
          <p:nvPr/>
        </p:nvGrpSpPr>
        <p:grpSpPr>
          <a:xfrm>
            <a:off x="-12700" y="-13335"/>
            <a:ext cx="5365991" cy="874395"/>
            <a:chOff x="-12700" y="-13335"/>
            <a:chExt cx="5365991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954CBC6-0784-8F1D-6658-8F6FEC7828BA}"/>
                </a:ext>
              </a:extLst>
            </p:cNvPr>
            <p:cNvSpPr/>
            <p:nvPr/>
          </p:nvSpPr>
          <p:spPr>
            <a:xfrm>
              <a:off x="-12700" y="784860"/>
              <a:ext cx="5365991" cy="4613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AD6D048-BF22-CD16-589F-111777D92751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04B3CDC-F00B-F608-6AFA-5C408D31FF5A}"/>
                </a:ext>
              </a:extLst>
            </p:cNvPr>
            <p:cNvSpPr txBox="1"/>
            <p:nvPr/>
          </p:nvSpPr>
          <p:spPr>
            <a:xfrm>
              <a:off x="861695" y="0"/>
              <a:ext cx="4491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实验结果与结论</a:t>
              </a:r>
            </a:p>
          </p:txBody>
        </p:sp>
      </p:grp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2DAC2FF8-7159-3C63-9F33-3F35111A2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33795"/>
              </p:ext>
            </p:extLst>
          </p:nvPr>
        </p:nvGraphicFramePr>
        <p:xfrm>
          <a:off x="290944" y="1170466"/>
          <a:ext cx="11610110" cy="2825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011">
                  <a:extLst>
                    <a:ext uri="{9D8B030D-6E8A-4147-A177-3AD203B41FA5}">
                      <a16:colId xmlns:a16="http://schemas.microsoft.com/office/drawing/2014/main" val="1932534948"/>
                    </a:ext>
                  </a:extLst>
                </a:gridCol>
                <a:gridCol w="1206794">
                  <a:extLst>
                    <a:ext uri="{9D8B030D-6E8A-4147-A177-3AD203B41FA5}">
                      <a16:colId xmlns:a16="http://schemas.microsoft.com/office/drawing/2014/main" val="301507719"/>
                    </a:ext>
                  </a:extLst>
                </a:gridCol>
                <a:gridCol w="1115228">
                  <a:extLst>
                    <a:ext uri="{9D8B030D-6E8A-4147-A177-3AD203B41FA5}">
                      <a16:colId xmlns:a16="http://schemas.microsoft.com/office/drawing/2014/main" val="1214023725"/>
                    </a:ext>
                  </a:extLst>
                </a:gridCol>
                <a:gridCol w="1161011">
                  <a:extLst>
                    <a:ext uri="{9D8B030D-6E8A-4147-A177-3AD203B41FA5}">
                      <a16:colId xmlns:a16="http://schemas.microsoft.com/office/drawing/2014/main" val="1364286172"/>
                    </a:ext>
                  </a:extLst>
                </a:gridCol>
                <a:gridCol w="1161011">
                  <a:extLst>
                    <a:ext uri="{9D8B030D-6E8A-4147-A177-3AD203B41FA5}">
                      <a16:colId xmlns:a16="http://schemas.microsoft.com/office/drawing/2014/main" val="1157769015"/>
                    </a:ext>
                  </a:extLst>
                </a:gridCol>
                <a:gridCol w="1161011">
                  <a:extLst>
                    <a:ext uri="{9D8B030D-6E8A-4147-A177-3AD203B41FA5}">
                      <a16:colId xmlns:a16="http://schemas.microsoft.com/office/drawing/2014/main" val="4208521872"/>
                    </a:ext>
                  </a:extLst>
                </a:gridCol>
                <a:gridCol w="1415935">
                  <a:extLst>
                    <a:ext uri="{9D8B030D-6E8A-4147-A177-3AD203B41FA5}">
                      <a16:colId xmlns:a16="http://schemas.microsoft.com/office/drawing/2014/main" val="382069904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1994613604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2137169216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188627707"/>
                    </a:ext>
                  </a:extLst>
                </a:gridCol>
              </a:tblGrid>
              <a:tr h="4220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DATASET</a:t>
                      </a:r>
                    </a:p>
                  </a:txBody>
                  <a:tcPr marL="107671" marR="107671" marT="53835" marB="53835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MIN_COST</a:t>
                      </a:r>
                    </a:p>
                  </a:txBody>
                  <a:tcPr marL="107671" marR="107671" marT="53835" marB="53835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dp-0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dfs-0</a:t>
                      </a:r>
                    </a:p>
                  </a:txBody>
                  <a:tcPr marL="107671" marR="107671" marT="53835" marB="53835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dfs-1</a:t>
                      </a:r>
                    </a:p>
                  </a:txBody>
                  <a:tcPr marL="107671" marR="107671" marT="53835" marB="53835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dfs-2</a:t>
                      </a:r>
                    </a:p>
                  </a:txBody>
                  <a:tcPr marL="107671" marR="107671" marT="53835" marB="53835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bfs-0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599664"/>
                  </a:ext>
                </a:extLst>
              </a:tr>
              <a:tr h="4366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rec_cnt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rec_cnt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rec_cnt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89940"/>
                  </a:ext>
                </a:extLst>
              </a:tr>
              <a:tr h="4366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five5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62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31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62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0.33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395377"/>
                  </a:ext>
                </a:extLst>
              </a:tr>
              <a:tr h="5099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p15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291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8467.33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364724160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1613542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31786.33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207713158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102232"/>
                  </a:ext>
                </a:extLst>
              </a:tr>
              <a:tr h="5099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ulyssses16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71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302456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15887259562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383214"/>
                  </a:ext>
                </a:extLst>
              </a:tr>
              <a:tr h="5099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gr17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2085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70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211214.3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12457317253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477" marR="7477" marT="7477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224154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6428B170-030D-36A8-8DFC-63D43F8EEA3D}"/>
              </a:ext>
            </a:extLst>
          </p:cNvPr>
          <p:cNvSpPr txBox="1"/>
          <p:nvPr/>
        </p:nvSpPr>
        <p:spPr>
          <a:xfrm>
            <a:off x="1380258" y="3995677"/>
            <a:ext cx="943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注：</a:t>
            </a:r>
            <a:r>
              <a:rPr lang="en-US" altLang="zh-CN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DATASET</a:t>
            </a:r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命名为名称</a:t>
            </a:r>
            <a:r>
              <a:rPr lang="en-US" altLang="zh-CN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+</a:t>
            </a:r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数据规模，运行时间以毫秒为单位，</a:t>
            </a:r>
            <a:r>
              <a:rPr lang="en-US" altLang="zh-CN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rec_cnt</a:t>
            </a:r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为函数递归次数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7BDFDB-A705-98D3-30BC-8548818BF034}"/>
              </a:ext>
            </a:extLst>
          </p:cNvPr>
          <p:cNvSpPr txBox="1"/>
          <p:nvPr/>
        </p:nvSpPr>
        <p:spPr>
          <a:xfrm>
            <a:off x="623453" y="4335146"/>
            <a:ext cx="10945091" cy="2247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defRPr>
            </a:lvl1pPr>
          </a:lstStyle>
          <a:p>
            <a:pPr indent="457200" algn="just">
              <a:lnSpc>
                <a:spcPct val="150000"/>
              </a:lnSpc>
            </a:pPr>
            <a:r>
              <a:rPr lang="zh-CN" altLang="en-US" sz="2400"/>
              <a:t>由上表可看出，算法性能基本与前述一致。其中</a:t>
            </a:r>
            <a:r>
              <a:rPr lang="en-US" altLang="zh-CN" sz="2400"/>
              <a:t>dfs-1</a:t>
            </a:r>
            <a:r>
              <a:rPr lang="zh-CN" altLang="en-US" sz="2400"/>
              <a:t>基于</a:t>
            </a:r>
            <a:r>
              <a:rPr lang="en-US" altLang="zh-CN" sz="2400"/>
              <a:t>dfs-0</a:t>
            </a:r>
            <a:r>
              <a:rPr lang="zh-CN" altLang="en-US" sz="2400"/>
              <a:t>的优化最为明显，在同一数据集下，递归次数减少了</a:t>
            </a:r>
            <a:r>
              <a:rPr lang="en-US" altLang="zh-CN" sz="2400"/>
              <a:t>200</a:t>
            </a:r>
            <a:r>
              <a:rPr lang="zh-CN" altLang="en-US" sz="2400"/>
              <a:t>倍，而</a:t>
            </a:r>
            <a:r>
              <a:rPr lang="en-US" altLang="zh-CN" sz="2400"/>
              <a:t>dfs-2</a:t>
            </a:r>
            <a:r>
              <a:rPr lang="zh-CN" altLang="en-US" sz="2400"/>
              <a:t>的劣化也同样显著，较于</a:t>
            </a:r>
            <a:r>
              <a:rPr lang="en-US" altLang="zh-CN" sz="2400"/>
              <a:t>dfs-1</a:t>
            </a:r>
            <a:r>
              <a:rPr lang="zh-CN" altLang="en-US" sz="2400"/>
              <a:t>性能全面下降，较于</a:t>
            </a:r>
            <a:r>
              <a:rPr lang="en-US" altLang="zh-CN" sz="2400"/>
              <a:t>dfs-0</a:t>
            </a:r>
            <a:r>
              <a:rPr lang="zh-CN" altLang="en-US" sz="2400"/>
              <a:t>，虽然递归次数减少，但是由于大量的排序操作，运行时间明显提升。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1947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4CE4-76D4-9D76-0526-F945A41A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F40B0E2-0A84-5391-7546-44AE9835237E}"/>
              </a:ext>
            </a:extLst>
          </p:cNvPr>
          <p:cNvGrpSpPr/>
          <p:nvPr/>
        </p:nvGrpSpPr>
        <p:grpSpPr>
          <a:xfrm>
            <a:off x="-12700" y="-13335"/>
            <a:ext cx="5365991" cy="874395"/>
            <a:chOff x="-12700" y="-13335"/>
            <a:chExt cx="5365991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3453AC6-FEEE-D192-74EE-55545BB34BA3}"/>
                </a:ext>
              </a:extLst>
            </p:cNvPr>
            <p:cNvSpPr/>
            <p:nvPr/>
          </p:nvSpPr>
          <p:spPr>
            <a:xfrm>
              <a:off x="-12700" y="784860"/>
              <a:ext cx="5365991" cy="4613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9E7EF7E-479D-CE27-B2CE-AD8D00A899E6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2520692-8EEF-0AB9-8AC3-A6368E594BD9}"/>
                </a:ext>
              </a:extLst>
            </p:cNvPr>
            <p:cNvSpPr txBox="1"/>
            <p:nvPr/>
          </p:nvSpPr>
          <p:spPr>
            <a:xfrm>
              <a:off x="861695" y="0"/>
              <a:ext cx="4491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实验结果与结论</a:t>
              </a: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3467C09-2BC2-909E-0053-4DE65ACC2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26471"/>
              </p:ext>
            </p:extLst>
          </p:nvPr>
        </p:nvGraphicFramePr>
        <p:xfrm>
          <a:off x="5425988" y="260904"/>
          <a:ext cx="6703664" cy="61501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7958">
                  <a:extLst>
                    <a:ext uri="{9D8B030D-6E8A-4147-A177-3AD203B41FA5}">
                      <a16:colId xmlns:a16="http://schemas.microsoft.com/office/drawing/2014/main" val="374577516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2477894980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3136627069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2386008483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1045130555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177678242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452382741"/>
                    </a:ext>
                  </a:extLst>
                </a:gridCol>
                <a:gridCol w="837958">
                  <a:extLst>
                    <a:ext uri="{9D8B030D-6E8A-4147-A177-3AD203B41FA5}">
                      <a16:colId xmlns:a16="http://schemas.microsoft.com/office/drawing/2014/main" val="352822285"/>
                    </a:ext>
                  </a:extLst>
                </a:gridCol>
              </a:tblGrid>
              <a:tr h="323691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DATASET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2427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MIN_COST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greedy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MST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42206"/>
                  </a:ext>
                </a:extLst>
              </a:tr>
              <a:tr h="3236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Time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min_cost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ratio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Time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min_cost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ratio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46539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five5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1.11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1.11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340886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p15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291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291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1.00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299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1.03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50804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ulysses22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73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86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1.18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75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1.03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53574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fri26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937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965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1.03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1102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1.18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16002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bays29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9290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9962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1.07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10341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1.11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066091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att48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33523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37928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41190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1.23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50849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st70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675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796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1.18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862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1.28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563770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gr96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502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583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1.16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69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634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1.26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93990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kroA100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21282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24698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1.16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84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26442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1.24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43432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gr120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1667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1836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1.10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169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2101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1.26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28486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ch150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6527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7213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1.11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416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8140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1.25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00830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gr202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533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547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1.03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1306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588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1.10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7279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a280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2579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31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2975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1.15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4514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3313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1.28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194534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pcb442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50778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132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58950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1.16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29490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68397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1.35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608036"/>
                  </a:ext>
                </a:extLst>
              </a:tr>
              <a:tr h="323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pr1002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259045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1196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313745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1.21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502354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347246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1.34 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89184"/>
                  </a:ext>
                </a:extLst>
              </a:tr>
              <a:tr h="3236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Average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24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Time</a:t>
                      </a:r>
                    </a:p>
                  </a:txBody>
                  <a:tcPr marL="5543" marR="5543" marT="5543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92.67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35922.87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861759"/>
                  </a:ext>
                </a:extLst>
              </a:tr>
              <a:tr h="3236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Ratio</a:t>
                      </a:r>
                    </a:p>
                  </a:txBody>
                  <a:tcPr marL="5543" marR="5543" marT="5543" marB="0" anchor="ctr"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1.12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1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华文中宋" panose="02010600040101010101" pitchFamily="2" charset="-122"/>
                          <a:cs typeface="+mn-cs"/>
                        </a:rPr>
                        <a:t>1.26 </a:t>
                      </a:r>
                    </a:p>
                  </a:txBody>
                  <a:tcPr marL="79814" marR="79814" marT="39907" marB="3990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581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ECA534C-C284-6BB2-EDDA-31BA85DF7639}"/>
              </a:ext>
            </a:extLst>
          </p:cNvPr>
          <p:cNvSpPr txBox="1"/>
          <p:nvPr/>
        </p:nvSpPr>
        <p:spPr>
          <a:xfrm>
            <a:off x="6106540" y="6411033"/>
            <a:ext cx="5342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注：此表为节选，</a:t>
            </a:r>
            <a:r>
              <a:rPr lang="en-US" altLang="zh-CN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ratio</a:t>
            </a:r>
            <a:r>
              <a:rPr lang="zh-CN" altLang="en-US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为近似比，即 </a:t>
            </a:r>
            <a:r>
              <a:rPr lang="en-US" altLang="zh-CN" sz="1400" i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min_cost/MIN_COST</a:t>
            </a:r>
            <a:endParaRPr lang="zh-CN" altLang="en-US" sz="1400" i="1">
              <a:solidFill>
                <a:srgbClr val="324273"/>
              </a:solidFill>
              <a:latin typeface="Consolas" panose="020B0609020204030204" pitchFamily="49" charset="0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78495D-B67E-5EE8-90E4-F8CB04C4F078}"/>
              </a:ext>
            </a:extLst>
          </p:cNvPr>
          <p:cNvSpPr txBox="1"/>
          <p:nvPr/>
        </p:nvSpPr>
        <p:spPr>
          <a:xfrm>
            <a:off x="251315" y="1750495"/>
            <a:ext cx="4837960" cy="390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defRPr>
            </a:lvl1pPr>
          </a:lstStyle>
          <a:p>
            <a:pPr indent="457200" algn="just">
              <a:lnSpc>
                <a:spcPct val="150000"/>
              </a:lnSpc>
            </a:pPr>
            <a:r>
              <a:rPr lang="zh-CN" altLang="en-US" sz="2400"/>
              <a:t>出人意料的是，基础的贪心算法竟然在运行时间和近似比上都胜过了最小生成树法，运行时间更是后者的约四百分之一。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zh-CN" altLang="en-US" sz="2400"/>
              <a:t>两种求近似解的算法的近似比都不错，并且能求解达到了一定规模的问题。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6536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A49B-87F3-62A7-9097-8CC37037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D0E99BB-138C-C375-CCD8-2CB71FA14E5B}"/>
              </a:ext>
            </a:extLst>
          </p:cNvPr>
          <p:cNvGrpSpPr/>
          <p:nvPr/>
        </p:nvGrpSpPr>
        <p:grpSpPr>
          <a:xfrm>
            <a:off x="-12700" y="-13335"/>
            <a:ext cx="5365991" cy="874395"/>
            <a:chOff x="-12700" y="-13335"/>
            <a:chExt cx="5365991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31D0368-1B88-1E92-D892-04F2BECAF426}"/>
                </a:ext>
              </a:extLst>
            </p:cNvPr>
            <p:cNvSpPr/>
            <p:nvPr/>
          </p:nvSpPr>
          <p:spPr>
            <a:xfrm>
              <a:off x="-12700" y="784860"/>
              <a:ext cx="5365991" cy="4613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470077D-0AD5-6EB1-C2F5-B70D8B29C443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41A5881-1D5D-4E58-C02D-5CACBF91B870}"/>
                </a:ext>
              </a:extLst>
            </p:cNvPr>
            <p:cNvSpPr txBox="1"/>
            <p:nvPr/>
          </p:nvSpPr>
          <p:spPr>
            <a:xfrm>
              <a:off x="861695" y="0"/>
              <a:ext cx="4491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实验结果与结论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6C5F0C9-D14C-BE04-052E-18739D4E64FC}"/>
              </a:ext>
            </a:extLst>
          </p:cNvPr>
          <p:cNvSpPr txBox="1"/>
          <p:nvPr/>
        </p:nvSpPr>
        <p:spPr>
          <a:xfrm>
            <a:off x="1355467" y="1751136"/>
            <a:ext cx="9481066" cy="3355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defRPr>
            </a:lvl1pPr>
          </a:lstStyle>
          <a:p>
            <a:pPr indent="457200" algn="just">
              <a:lnSpc>
                <a:spcPct val="150000"/>
              </a:lnSpc>
            </a:pPr>
            <a:r>
              <a:rPr lang="zh-CN" altLang="en-US" sz="2400"/>
              <a:t>经过查阅资料，我们发现：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zh-CN" altLang="en-US" sz="2400"/>
              <a:t>在数学上，基础贪心算法的近似比是无界的，可能产生任意差的解，而</a:t>
            </a:r>
            <a:r>
              <a:rPr lang="en-US" altLang="zh-CN" sz="2400"/>
              <a:t>MST</a:t>
            </a:r>
            <a:r>
              <a:rPr lang="zh-CN" altLang="en-US" sz="2400"/>
              <a:t>算法的近似比在完全图中保证小于等于</a:t>
            </a:r>
            <a:r>
              <a:rPr lang="en-US" altLang="zh-CN" sz="2400"/>
              <a:t>2</a:t>
            </a:r>
            <a:r>
              <a:rPr lang="zh-CN" altLang="en-US" sz="2400"/>
              <a:t>；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zh-CN" altLang="en-US" sz="2400"/>
              <a:t>在思想上，基础贪心算法局限于局部最优选择，而</a:t>
            </a:r>
            <a:r>
              <a:rPr lang="en-US" altLang="zh-CN" sz="2400"/>
              <a:t>MST</a:t>
            </a:r>
            <a:r>
              <a:rPr lang="zh-CN" altLang="en-US" sz="2400"/>
              <a:t>利用全局结构优化；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zh-CN" altLang="en-US" sz="2400"/>
              <a:t>总结：</a:t>
            </a:r>
            <a:r>
              <a:rPr lang="en-US" altLang="zh-CN" sz="2400"/>
              <a:t>MST</a:t>
            </a:r>
            <a:r>
              <a:rPr lang="zh-CN" altLang="en-US" sz="2400"/>
              <a:t>算法的近似比始终优于基础贪心算法。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545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BA26-91D2-CBDA-CF06-524CF6CE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1905345-00FB-7FB1-2FDD-2EE6B031773A}"/>
              </a:ext>
            </a:extLst>
          </p:cNvPr>
          <p:cNvGrpSpPr/>
          <p:nvPr/>
        </p:nvGrpSpPr>
        <p:grpSpPr>
          <a:xfrm>
            <a:off x="-12700" y="-13335"/>
            <a:ext cx="5365991" cy="874395"/>
            <a:chOff x="-12700" y="-13335"/>
            <a:chExt cx="5365991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025EC8F-C998-EEA7-22DF-EA6EFB21BEB0}"/>
                </a:ext>
              </a:extLst>
            </p:cNvPr>
            <p:cNvSpPr/>
            <p:nvPr/>
          </p:nvSpPr>
          <p:spPr>
            <a:xfrm>
              <a:off x="-12700" y="784860"/>
              <a:ext cx="5365991" cy="4613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E1EEE7D-57C5-F672-D5A4-0D15A698AE29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2C7C82A-BC9D-DFDA-4299-A2DFA28E700B}"/>
                </a:ext>
              </a:extLst>
            </p:cNvPr>
            <p:cNvSpPr txBox="1"/>
            <p:nvPr/>
          </p:nvSpPr>
          <p:spPr>
            <a:xfrm>
              <a:off x="861695" y="0"/>
              <a:ext cx="4491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实验结果与结论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CF6FD1-7CE7-D4FD-837D-16E225929502}"/>
              </a:ext>
            </a:extLst>
          </p:cNvPr>
          <p:cNvSpPr txBox="1"/>
          <p:nvPr/>
        </p:nvSpPr>
        <p:spPr>
          <a:xfrm>
            <a:off x="1355467" y="1750495"/>
            <a:ext cx="9481066" cy="335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defRPr>
            </a:lvl1pPr>
          </a:lstStyle>
          <a:p>
            <a:pPr indent="457200" algn="just">
              <a:lnSpc>
                <a:spcPct val="150000"/>
              </a:lnSpc>
            </a:pPr>
            <a:r>
              <a:rPr lang="zh-CN" altLang="en-US" sz="2400"/>
              <a:t>那么为什么我们的实验结果显示</a:t>
            </a:r>
            <a:r>
              <a:rPr lang="en-US" altLang="zh-CN" sz="2400"/>
              <a:t>greedy</a:t>
            </a:r>
            <a:r>
              <a:rPr lang="zh-CN" altLang="en-US" sz="2400"/>
              <a:t>的性能与</a:t>
            </a:r>
            <a:r>
              <a:rPr lang="en-US" altLang="zh-CN" sz="2400"/>
              <a:t>MST-1</a:t>
            </a:r>
            <a:r>
              <a:rPr lang="zh-CN" altLang="en-US" sz="2400"/>
              <a:t>不相上下呢？我们总结了以下原因：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en-US" altLang="zh-CN" sz="2400"/>
              <a:t>1.</a:t>
            </a:r>
            <a:r>
              <a:rPr lang="zh-CN" altLang="en-US" sz="2400"/>
              <a:t>数据同一性过强。数据采集于现实、使用欧式距离等特征使得</a:t>
            </a:r>
            <a:r>
              <a:rPr lang="en-US" altLang="zh-CN" sz="2400"/>
              <a:t>greedy</a:t>
            </a:r>
            <a:r>
              <a:rPr lang="zh-CN" altLang="en-US" sz="2400"/>
              <a:t>陷于局部视野的缺点没能暴露出来；</a:t>
            </a:r>
            <a:endParaRPr lang="en-US" altLang="zh-CN" sz="2400"/>
          </a:p>
          <a:p>
            <a:pPr indent="457200" algn="just">
              <a:lnSpc>
                <a:spcPct val="150000"/>
              </a:lnSpc>
            </a:pPr>
            <a:r>
              <a:rPr lang="en-US" altLang="zh-CN" sz="2400"/>
              <a:t>2.</a:t>
            </a:r>
            <a:r>
              <a:rPr lang="zh-CN" altLang="en-US" sz="2400"/>
              <a:t>起点选取问题。我们遍历了</a:t>
            </a:r>
            <a:r>
              <a:rPr lang="en-US" altLang="zh-CN" sz="2400"/>
              <a:t>greedy</a:t>
            </a:r>
            <a:r>
              <a:rPr lang="zh-CN" altLang="en-US" sz="2400"/>
              <a:t>所有可能的起点，使得其缺点得到了一些缓解。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77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2B0-C6D4-D7C8-E8FB-FDE01281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5EF0711-530D-ACA0-BFB5-5A389015FC30}"/>
              </a:ext>
            </a:extLst>
          </p:cNvPr>
          <p:cNvGrpSpPr/>
          <p:nvPr/>
        </p:nvGrpSpPr>
        <p:grpSpPr>
          <a:xfrm>
            <a:off x="-12700" y="-13335"/>
            <a:ext cx="5365991" cy="874395"/>
            <a:chOff x="-12700" y="-13335"/>
            <a:chExt cx="5365991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559E4B0-44F0-2B5E-04BA-BE4B5CB2B7CA}"/>
                </a:ext>
              </a:extLst>
            </p:cNvPr>
            <p:cNvSpPr/>
            <p:nvPr/>
          </p:nvSpPr>
          <p:spPr>
            <a:xfrm>
              <a:off x="-12700" y="784860"/>
              <a:ext cx="5365991" cy="4613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7243E51-D324-4047-DC23-8D9697B9F1CB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D99B3D9-451D-F588-C7D7-BEA7EB1E377C}"/>
                </a:ext>
              </a:extLst>
            </p:cNvPr>
            <p:cNvSpPr txBox="1"/>
            <p:nvPr/>
          </p:nvSpPr>
          <p:spPr>
            <a:xfrm>
              <a:off x="861695" y="0"/>
              <a:ext cx="4491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实验结果与结论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681E76-412A-C384-0704-E30B14461EE9}"/>
              </a:ext>
            </a:extLst>
          </p:cNvPr>
          <p:cNvGrpSpPr/>
          <p:nvPr/>
        </p:nvGrpSpPr>
        <p:grpSpPr>
          <a:xfrm>
            <a:off x="674347" y="1485050"/>
            <a:ext cx="10843299" cy="5084038"/>
            <a:chOff x="921804" y="1806466"/>
            <a:chExt cx="10336812" cy="508403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76C82B6-E62F-08F4-6687-96C1BC9E9C86}"/>
                </a:ext>
              </a:extLst>
            </p:cNvPr>
            <p:cNvGrpSpPr/>
            <p:nvPr/>
          </p:nvGrpSpPr>
          <p:grpSpPr>
            <a:xfrm>
              <a:off x="921804" y="2196745"/>
              <a:ext cx="10336812" cy="4693759"/>
              <a:chOff x="545627" y="2017338"/>
              <a:chExt cx="10336812" cy="4693759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AA46B232-5B23-5585-85C3-CB8330B39F8F}"/>
                  </a:ext>
                </a:extLst>
              </p:cNvPr>
              <p:cNvSpPr/>
              <p:nvPr/>
            </p:nvSpPr>
            <p:spPr>
              <a:xfrm>
                <a:off x="545627" y="2017338"/>
                <a:ext cx="10336812" cy="4693759"/>
              </a:xfrm>
              <a:prstGeom prst="roundRect">
                <a:avLst/>
              </a:prstGeom>
              <a:solidFill>
                <a:srgbClr val="D9D9D9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2D75D3-6733-1691-CAB9-F99AB841324C}"/>
                  </a:ext>
                </a:extLst>
              </p:cNvPr>
              <p:cNvSpPr txBox="1"/>
              <p:nvPr/>
            </p:nvSpPr>
            <p:spPr>
              <a:xfrm>
                <a:off x="1052985" y="3991668"/>
                <a:ext cx="2505395" cy="50456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zh-CN"/>
                </a:defPPr>
                <a:lvl1pPr algn="ctr">
                  <a:defRPr sz="2800" b="1">
                    <a:solidFill>
                      <a:srgbClr val="324273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endParaRPr lang="zh-CN" altLang="en-US" sz="2000" b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3F18AAE-9B5B-4D42-EFE8-060D552B0CA8}"/>
                </a:ext>
              </a:extLst>
            </p:cNvPr>
            <p:cNvGrpSpPr/>
            <p:nvPr/>
          </p:nvGrpSpPr>
          <p:grpSpPr>
            <a:xfrm>
              <a:off x="5025159" y="1806466"/>
              <a:ext cx="2130105" cy="780559"/>
              <a:chOff x="1611021" y="1579536"/>
              <a:chExt cx="2130105" cy="780559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B47C1EF0-2E15-CE36-4868-C6D889BC7616}"/>
                  </a:ext>
                </a:extLst>
              </p:cNvPr>
              <p:cNvSpPr/>
              <p:nvPr/>
            </p:nvSpPr>
            <p:spPr>
              <a:xfrm>
                <a:off x="1611021" y="1579536"/>
                <a:ext cx="2130105" cy="780559"/>
              </a:xfrm>
              <a:prstGeom prst="roundRect">
                <a:avLst/>
              </a:prstGeom>
              <a:solidFill>
                <a:srgbClr val="324273"/>
              </a:solidFill>
              <a:ln w="19050">
                <a:solidFill>
                  <a:srgbClr val="32427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08B0E33-18FB-DFCF-F896-EDF5C2A8D4DA}"/>
                  </a:ext>
                </a:extLst>
              </p:cNvPr>
              <p:cNvSpPr txBox="1"/>
              <p:nvPr/>
            </p:nvSpPr>
            <p:spPr>
              <a:xfrm>
                <a:off x="1611021" y="1722375"/>
                <a:ext cx="2130105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rPr>
                  <a:t>复杂度分析</a:t>
                </a:r>
              </a:p>
            </p:txBody>
          </p:sp>
        </p:grpSp>
      </p:grp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758FE0C-B5E9-D5DA-723D-2F7D8BD65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67019"/>
              </p:ext>
            </p:extLst>
          </p:nvPr>
        </p:nvGraphicFramePr>
        <p:xfrm>
          <a:off x="927589" y="2550123"/>
          <a:ext cx="10336814" cy="1841172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1820748">
                  <a:extLst>
                    <a:ext uri="{9D8B030D-6E8A-4147-A177-3AD203B41FA5}">
                      <a16:colId xmlns:a16="http://schemas.microsoft.com/office/drawing/2014/main" val="71793056"/>
                    </a:ext>
                  </a:extLst>
                </a:gridCol>
                <a:gridCol w="1132626">
                  <a:extLst>
                    <a:ext uri="{9D8B030D-6E8A-4147-A177-3AD203B41FA5}">
                      <a16:colId xmlns:a16="http://schemas.microsoft.com/office/drawing/2014/main" val="394926860"/>
                    </a:ext>
                  </a:extLst>
                </a:gridCol>
                <a:gridCol w="1476688">
                  <a:extLst>
                    <a:ext uri="{9D8B030D-6E8A-4147-A177-3AD203B41FA5}">
                      <a16:colId xmlns:a16="http://schemas.microsoft.com/office/drawing/2014/main" val="295355810"/>
                    </a:ext>
                  </a:extLst>
                </a:gridCol>
                <a:gridCol w="1476688">
                  <a:extLst>
                    <a:ext uri="{9D8B030D-6E8A-4147-A177-3AD203B41FA5}">
                      <a16:colId xmlns:a16="http://schemas.microsoft.com/office/drawing/2014/main" val="3226184861"/>
                    </a:ext>
                  </a:extLst>
                </a:gridCol>
                <a:gridCol w="1476688">
                  <a:extLst>
                    <a:ext uri="{9D8B030D-6E8A-4147-A177-3AD203B41FA5}">
                      <a16:colId xmlns:a16="http://schemas.microsoft.com/office/drawing/2014/main" val="1483907307"/>
                    </a:ext>
                  </a:extLst>
                </a:gridCol>
                <a:gridCol w="1476688">
                  <a:extLst>
                    <a:ext uri="{9D8B030D-6E8A-4147-A177-3AD203B41FA5}">
                      <a16:colId xmlns:a16="http://schemas.microsoft.com/office/drawing/2014/main" val="3831667883"/>
                    </a:ext>
                  </a:extLst>
                </a:gridCol>
                <a:gridCol w="1476688">
                  <a:extLst>
                    <a:ext uri="{9D8B030D-6E8A-4147-A177-3AD203B41FA5}">
                      <a16:colId xmlns:a16="http://schemas.microsoft.com/office/drawing/2014/main" val="3199554284"/>
                    </a:ext>
                  </a:extLst>
                </a:gridCol>
              </a:tblGrid>
              <a:tr h="613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算法</a:t>
                      </a: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DFS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BFS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DP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GREEDY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MST-0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MST-1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extLst>
                  <a:ext uri="{0D108BD9-81ED-4DB2-BD59-A6C34878D82A}">
                    <a16:rowId xmlns:a16="http://schemas.microsoft.com/office/drawing/2014/main" val="2677014450"/>
                  </a:ext>
                </a:extLst>
              </a:tr>
              <a:tr h="613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时间复杂度</a:t>
                      </a:r>
                      <a:endParaRPr lang="en-US" altLang="zh-CN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n!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n!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*n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3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extLst>
                  <a:ext uri="{0D108BD9-81ED-4DB2-BD59-A6C34878D82A}">
                    <a16:rowId xmlns:a16="http://schemas.microsoft.com/office/drawing/2014/main" val="1330184763"/>
                  </a:ext>
                </a:extLst>
              </a:tr>
              <a:tr h="613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空间复杂度</a:t>
                      </a:r>
                      <a:endParaRPr lang="en-US" altLang="zh-CN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&lt;n!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lang="en-US" altLang="zh-CN" sz="2400" baseline="3000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latin typeface="Consolas" panose="020B0609020204030204" pitchFamily="49" charset="0"/>
                          <a:ea typeface="华文中宋" panose="02010600040101010101" pitchFamily="2" charset="-122"/>
                        </a:rPr>
                        <a:t>n</a:t>
                      </a:r>
                      <a:endParaRPr lang="zh-CN" altLang="en-US" sz="2400" baseline="0">
                        <a:latin typeface="Consolas" panose="020B0609020204030204" pitchFamily="49" charset="0"/>
                        <a:ea typeface="华文中宋" panose="02010600040101010101" pitchFamily="2" charset="-122"/>
                      </a:endParaRPr>
                    </a:p>
                  </a:txBody>
                  <a:tcPr marL="116924" marR="116924" marT="58462" marB="58462" anchor="ctr"/>
                </a:tc>
                <a:extLst>
                  <a:ext uri="{0D108BD9-81ED-4DB2-BD59-A6C34878D82A}">
                    <a16:rowId xmlns:a16="http://schemas.microsoft.com/office/drawing/2014/main" val="313142537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70DE1EE-198F-5F55-215B-224D2DB19EEB}"/>
              </a:ext>
            </a:extLst>
          </p:cNvPr>
          <p:cNvSpPr txBox="1"/>
          <p:nvPr/>
        </p:nvSpPr>
        <p:spPr>
          <a:xfrm>
            <a:off x="1665188" y="4744500"/>
            <a:ext cx="886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解释：</a:t>
            </a:r>
            <a:endParaRPr lang="en-US" altLang="zh-CN" sz="2400" b="1">
              <a:solidFill>
                <a:srgbClr val="324273"/>
              </a:solidFill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 indent="457200"/>
            <a:r>
              <a: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当我们说</a:t>
            </a:r>
            <a:r>
              <a:rPr lang="en-US" altLang="zh-CN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DFS</a:t>
            </a:r>
            <a:r>
              <a: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无法求解某问题时，是指它的求解时间过长；</a:t>
            </a:r>
            <a:endParaRPr lang="en-US" altLang="zh-CN" sz="2400">
              <a:solidFill>
                <a:srgbClr val="324273"/>
              </a:solidFill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 indent="457200"/>
            <a:r>
              <a: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当我们说</a:t>
            </a:r>
            <a:r>
              <a:rPr lang="en-US" altLang="zh-CN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BFS</a:t>
            </a:r>
            <a:r>
              <a: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和</a:t>
            </a:r>
            <a:r>
              <a:rPr lang="en-US" altLang="zh-CN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DP</a:t>
            </a:r>
            <a:r>
              <a:rPr lang="zh-CN" altLang="en-US" sz="24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rPr>
              <a:t>无法求解某问题时，是指系统无法分配内存。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6834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8714-57B7-2984-E3A9-FEE01A43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DC4617-0632-1B5B-7CA6-7B151A8C76DD}"/>
              </a:ext>
            </a:extLst>
          </p:cNvPr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D5371B-778B-C510-01BC-53F4F7F35B88}"/>
              </a:ext>
            </a:extLst>
          </p:cNvPr>
          <p:cNvSpPr/>
          <p:nvPr/>
        </p:nvSpPr>
        <p:spPr>
          <a:xfrm>
            <a:off x="3903713" y="2679383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2D57BF-61D7-23CD-BD59-C03361283987}"/>
              </a:ext>
            </a:extLst>
          </p:cNvPr>
          <p:cNvSpPr txBox="1"/>
          <p:nvPr/>
        </p:nvSpPr>
        <p:spPr>
          <a:xfrm>
            <a:off x="4778108" y="2596177"/>
            <a:ext cx="391668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>
                <a:solidFill>
                  <a:schemeClr val="tx2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小组分工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D597479-C386-0447-C2AD-06100BE1938E}"/>
              </a:ext>
            </a:extLst>
          </p:cNvPr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D2A1CF4-D4C2-EBE0-D45B-FDD0DE19520C}"/>
              </a:ext>
            </a:extLst>
          </p:cNvPr>
          <p:cNvGrpSpPr/>
          <p:nvPr/>
        </p:nvGrpSpPr>
        <p:grpSpPr>
          <a:xfrm>
            <a:off x="0" y="-17780"/>
            <a:ext cx="1593850" cy="6095365"/>
            <a:chOff x="0" y="-17780"/>
            <a:chExt cx="1593850" cy="609536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0E821FAF-CA88-FFB8-6EF6-B6838E7F2AFB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A65AC81-AB4D-F92F-52FB-D46D163DBDA1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B12682F-1B45-E84F-788A-16C71AF092C3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51C68F1-067C-FCE5-0699-49B764CDBC68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5E217B4-2B81-F26C-E383-A009995C52B4}"/>
              </a:ext>
            </a:extLst>
          </p:cNvPr>
          <p:cNvGrpSpPr/>
          <p:nvPr/>
        </p:nvGrpSpPr>
        <p:grpSpPr>
          <a:xfrm flipH="1">
            <a:off x="10598150" y="0"/>
            <a:ext cx="1593850" cy="6095365"/>
            <a:chOff x="0" y="-17780"/>
            <a:chExt cx="1593850" cy="6095365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58961870-BAB5-336F-FBF6-987439C279F8}"/>
                </a:ext>
              </a:extLst>
            </p:cNvPr>
            <p:cNvSpPr/>
            <p:nvPr/>
          </p:nvSpPr>
          <p:spPr>
            <a:xfrm rot="10800000">
              <a:off x="0" y="-17780"/>
              <a:ext cx="1593850" cy="121094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70B7823-8666-B924-9F8A-A36D66F56B07}"/>
                </a:ext>
              </a:extLst>
            </p:cNvPr>
            <p:cNvCxnSpPr/>
            <p:nvPr/>
          </p:nvCxnSpPr>
          <p:spPr>
            <a:xfrm>
              <a:off x="200025" y="2540"/>
              <a:ext cx="0" cy="60750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4B67B9D-EC9E-1ED1-BCAC-5E109731AF3A}"/>
                </a:ext>
              </a:extLst>
            </p:cNvPr>
            <p:cNvCxnSpPr/>
            <p:nvPr/>
          </p:nvCxnSpPr>
          <p:spPr>
            <a:xfrm>
              <a:off x="409575" y="348615"/>
              <a:ext cx="0" cy="476313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C39D7B2-007E-B164-9E3B-253B5A48F0C9}"/>
                </a:ext>
              </a:extLst>
            </p:cNvPr>
            <p:cNvCxnSpPr/>
            <p:nvPr/>
          </p:nvCxnSpPr>
          <p:spPr>
            <a:xfrm>
              <a:off x="628015" y="576580"/>
              <a:ext cx="0" cy="310515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9961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7752-E5F9-26C9-0385-C470BB12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4DB3843-DC6F-76CB-D33F-512CB66A9BBF}"/>
              </a:ext>
            </a:extLst>
          </p:cNvPr>
          <p:cNvGrpSpPr/>
          <p:nvPr/>
        </p:nvGrpSpPr>
        <p:grpSpPr>
          <a:xfrm>
            <a:off x="-12700" y="-13335"/>
            <a:ext cx="3607955" cy="874395"/>
            <a:chOff x="-12700" y="-13335"/>
            <a:chExt cx="3607955" cy="87439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5CCD595-0A85-38CD-793B-603E25E4B7C1}"/>
                </a:ext>
              </a:extLst>
            </p:cNvPr>
            <p:cNvSpPr/>
            <p:nvPr/>
          </p:nvSpPr>
          <p:spPr>
            <a:xfrm>
              <a:off x="-12700" y="784860"/>
              <a:ext cx="3607955" cy="45719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6485ED3-0B03-EB5C-FD7B-A07E1BF7516D}"/>
                </a:ext>
              </a:extLst>
            </p:cNvPr>
            <p:cNvSpPr/>
            <p:nvPr/>
          </p:nvSpPr>
          <p:spPr>
            <a:xfrm>
              <a:off x="-12700" y="-13335"/>
              <a:ext cx="874395" cy="8743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2DCE38A-595D-8E3A-40C0-917FD17DE6F7}"/>
                </a:ext>
              </a:extLst>
            </p:cNvPr>
            <p:cNvSpPr txBox="1"/>
            <p:nvPr/>
          </p:nvSpPr>
          <p:spPr>
            <a:xfrm>
              <a:off x="861695" y="0"/>
              <a:ext cx="27335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小组分工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53EAF8-F4AB-A17C-EE11-F6D60DF509FB}"/>
              </a:ext>
            </a:extLst>
          </p:cNvPr>
          <p:cNvGrpSpPr/>
          <p:nvPr/>
        </p:nvGrpSpPr>
        <p:grpSpPr>
          <a:xfrm>
            <a:off x="861695" y="1495734"/>
            <a:ext cx="3170758" cy="5054395"/>
            <a:chOff x="424497" y="1495734"/>
            <a:chExt cx="3170758" cy="505439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703818D-FEC9-2327-D95E-0BBF4FEBFE77}"/>
                </a:ext>
              </a:extLst>
            </p:cNvPr>
            <p:cNvGrpSpPr/>
            <p:nvPr/>
          </p:nvGrpSpPr>
          <p:grpSpPr>
            <a:xfrm>
              <a:off x="424497" y="1495734"/>
              <a:ext cx="3170758" cy="5054395"/>
              <a:chOff x="921804" y="1836109"/>
              <a:chExt cx="3170758" cy="5054395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258850A2-DD5A-E184-F2D7-DDAED7922455}"/>
                  </a:ext>
                </a:extLst>
              </p:cNvPr>
              <p:cNvGrpSpPr/>
              <p:nvPr/>
            </p:nvGrpSpPr>
            <p:grpSpPr>
              <a:xfrm>
                <a:off x="921804" y="2196745"/>
                <a:ext cx="3170758" cy="4693759"/>
                <a:chOff x="545627" y="2017338"/>
                <a:chExt cx="3170758" cy="4693759"/>
              </a:xfrm>
            </p:grpSpPr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D01ED9BD-8746-DC4B-4F71-F7CD18EE9B03}"/>
                    </a:ext>
                  </a:extLst>
                </p:cNvPr>
                <p:cNvSpPr/>
                <p:nvPr/>
              </p:nvSpPr>
              <p:spPr>
                <a:xfrm>
                  <a:off x="545627" y="2017338"/>
                  <a:ext cx="3170758" cy="4693759"/>
                </a:xfrm>
                <a:prstGeom prst="roundRect">
                  <a:avLst>
                    <a:gd name="adj" fmla="val 7517"/>
                  </a:avLst>
                </a:prstGeom>
                <a:solidFill>
                  <a:srgbClr val="D9D9D9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C39E615-5B9C-BE30-6E34-8C0B2F4AEA12}"/>
                    </a:ext>
                  </a:extLst>
                </p:cNvPr>
                <p:cNvSpPr txBox="1"/>
                <p:nvPr/>
              </p:nvSpPr>
              <p:spPr>
                <a:xfrm>
                  <a:off x="1052985" y="3991668"/>
                  <a:ext cx="2505395" cy="50456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2800" b="1">
                      <a:solidFill>
                        <a:srgbClr val="324273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defRPr>
                  </a:lvl1pPr>
                </a:lstStyle>
                <a:p>
                  <a:pPr algn="just">
                    <a:lnSpc>
                      <a:spcPct val="150000"/>
                    </a:lnSpc>
                  </a:pPr>
                  <a:endParaRPr lang="zh-CN" altLang="en-US" sz="2000" b="0"/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7802201-2AA4-FA7F-F3F1-0602E81AB75E}"/>
                  </a:ext>
                </a:extLst>
              </p:cNvPr>
              <p:cNvGrpSpPr/>
              <p:nvPr/>
            </p:nvGrpSpPr>
            <p:grpSpPr>
              <a:xfrm>
                <a:off x="1442130" y="1836109"/>
                <a:ext cx="2130105" cy="780559"/>
                <a:chOff x="-1972008" y="1609179"/>
                <a:chExt cx="2130105" cy="780559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90AECAA9-2C2F-E222-B9C0-FA02E701AA17}"/>
                    </a:ext>
                  </a:extLst>
                </p:cNvPr>
                <p:cNvSpPr/>
                <p:nvPr/>
              </p:nvSpPr>
              <p:spPr>
                <a:xfrm>
                  <a:off x="-1972008" y="1609179"/>
                  <a:ext cx="2130105" cy="780559"/>
                </a:xfrm>
                <a:prstGeom prst="roundRect">
                  <a:avLst/>
                </a:prstGeom>
                <a:solidFill>
                  <a:srgbClr val="324273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9C4E6D0-EBC3-963F-2523-2B586F56DEB3}"/>
                    </a:ext>
                  </a:extLst>
                </p:cNvPr>
                <p:cNvSpPr txBox="1"/>
                <p:nvPr/>
              </p:nvSpPr>
              <p:spPr>
                <a:xfrm>
                  <a:off x="-1972008" y="1645935"/>
                  <a:ext cx="2130105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sz="24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谢雨航</a:t>
                  </a:r>
                  <a:endParaRPr lang="en-US" altLang="zh-CN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  <a:p>
                  <a:pPr algn="ctr"/>
                  <a:r>
                    <a:rPr lang="zh-CN" altLang="en-US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学号：</a:t>
                  </a:r>
                  <a:r>
                    <a:rPr lang="en-US" altLang="zh-CN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3023244222</a:t>
                  </a:r>
                  <a:endParaRPr lang="zh-CN" altLang="en-US" sz="16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</p:txBody>
            </p:sp>
          </p:grp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D57FE67-316B-2E24-7AE8-A709D9613FAF}"/>
                </a:ext>
              </a:extLst>
            </p:cNvPr>
            <p:cNvSpPr txBox="1"/>
            <p:nvPr/>
          </p:nvSpPr>
          <p:spPr>
            <a:xfrm>
              <a:off x="533400" y="2698532"/>
              <a:ext cx="2903850" cy="3273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组长，负责项目的基础框架、工作分配与时间规划。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整理了一部分数据集。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编写了全部算法代码。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编写了</a:t>
              </a: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shell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脚本。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PPT</a:t>
              </a: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制作与视频录制。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9124827-17A8-4150-3684-327DD0511E94}"/>
              </a:ext>
            </a:extLst>
          </p:cNvPr>
          <p:cNvGrpSpPr/>
          <p:nvPr/>
        </p:nvGrpSpPr>
        <p:grpSpPr>
          <a:xfrm>
            <a:off x="4510621" y="1495734"/>
            <a:ext cx="3170758" cy="5054395"/>
            <a:chOff x="424497" y="1495734"/>
            <a:chExt cx="3170758" cy="5054395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828136F-419C-DC7D-0FC5-71FDAA8EC76B}"/>
                </a:ext>
              </a:extLst>
            </p:cNvPr>
            <p:cNvGrpSpPr/>
            <p:nvPr/>
          </p:nvGrpSpPr>
          <p:grpSpPr>
            <a:xfrm>
              <a:off x="424497" y="1495734"/>
              <a:ext cx="3170758" cy="5054395"/>
              <a:chOff x="921804" y="1836109"/>
              <a:chExt cx="3170758" cy="5054395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17A0E047-98F0-4FE4-1596-9535E9CDE6DB}"/>
                  </a:ext>
                </a:extLst>
              </p:cNvPr>
              <p:cNvGrpSpPr/>
              <p:nvPr/>
            </p:nvGrpSpPr>
            <p:grpSpPr>
              <a:xfrm>
                <a:off x="921804" y="2196745"/>
                <a:ext cx="3170758" cy="4693759"/>
                <a:chOff x="545627" y="2017338"/>
                <a:chExt cx="3170758" cy="4693759"/>
              </a:xfrm>
            </p:grpSpPr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C6912C9C-1E92-B14C-C7A5-1DD4B0EE720E}"/>
                    </a:ext>
                  </a:extLst>
                </p:cNvPr>
                <p:cNvSpPr/>
                <p:nvPr/>
              </p:nvSpPr>
              <p:spPr>
                <a:xfrm>
                  <a:off x="545627" y="2017338"/>
                  <a:ext cx="3170758" cy="4693759"/>
                </a:xfrm>
                <a:prstGeom prst="roundRect">
                  <a:avLst>
                    <a:gd name="adj" fmla="val 7517"/>
                  </a:avLst>
                </a:prstGeom>
                <a:solidFill>
                  <a:srgbClr val="D9D9D9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B4463FB9-9EFF-0AB3-EE3B-AC51A1B17E6E}"/>
                    </a:ext>
                  </a:extLst>
                </p:cNvPr>
                <p:cNvSpPr txBox="1"/>
                <p:nvPr/>
              </p:nvSpPr>
              <p:spPr>
                <a:xfrm>
                  <a:off x="1052985" y="3991668"/>
                  <a:ext cx="2505395" cy="50456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2800" b="1">
                      <a:solidFill>
                        <a:srgbClr val="324273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defRPr>
                  </a:lvl1pPr>
                </a:lstStyle>
                <a:p>
                  <a:pPr algn="just">
                    <a:lnSpc>
                      <a:spcPct val="150000"/>
                    </a:lnSpc>
                  </a:pPr>
                  <a:endParaRPr lang="zh-CN" altLang="en-US" sz="2000" b="0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A9DE3C3-ED55-DED2-3BC2-1C2B0A5591F0}"/>
                  </a:ext>
                </a:extLst>
              </p:cNvPr>
              <p:cNvGrpSpPr/>
              <p:nvPr/>
            </p:nvGrpSpPr>
            <p:grpSpPr>
              <a:xfrm>
                <a:off x="1442130" y="1836109"/>
                <a:ext cx="2130105" cy="780559"/>
                <a:chOff x="-1972008" y="1609179"/>
                <a:chExt cx="2130105" cy="780559"/>
              </a:xfrm>
            </p:grpSpPr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AF1819B5-9DFF-F68E-D53A-536D593303AF}"/>
                    </a:ext>
                  </a:extLst>
                </p:cNvPr>
                <p:cNvSpPr/>
                <p:nvPr/>
              </p:nvSpPr>
              <p:spPr>
                <a:xfrm>
                  <a:off x="-1972008" y="1609179"/>
                  <a:ext cx="2130105" cy="780559"/>
                </a:xfrm>
                <a:prstGeom prst="roundRect">
                  <a:avLst/>
                </a:prstGeom>
                <a:solidFill>
                  <a:srgbClr val="324273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CA26595C-6A30-E6D2-752E-AAE7F37A80F0}"/>
                    </a:ext>
                  </a:extLst>
                </p:cNvPr>
                <p:cNvSpPr txBox="1"/>
                <p:nvPr/>
              </p:nvSpPr>
              <p:spPr>
                <a:xfrm>
                  <a:off x="-1972008" y="1645935"/>
                  <a:ext cx="2130105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sz="24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陈添硕</a:t>
                  </a:r>
                  <a:endParaRPr lang="en-US" altLang="zh-CN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  <a:p>
                  <a:pPr algn="ctr"/>
                  <a:r>
                    <a:rPr lang="zh-CN" altLang="en-US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学号：</a:t>
                  </a:r>
                  <a:r>
                    <a:rPr lang="en-US" altLang="zh-CN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3023244225</a:t>
                  </a:r>
                  <a:endParaRPr lang="zh-CN" altLang="en-US" sz="16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</p:txBody>
            </p:sp>
          </p:grp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1BA1A08-88D2-D5FC-20A3-8E5060FEC2A3}"/>
                </a:ext>
              </a:extLst>
            </p:cNvPr>
            <p:cNvSpPr txBox="1"/>
            <p:nvPr/>
          </p:nvSpPr>
          <p:spPr>
            <a:xfrm>
              <a:off x="543533" y="2698532"/>
              <a:ext cx="2932684" cy="1888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整理了大部分数据集。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项目提交文件的格式化整理。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实验报告的撰写。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0FB713A-D236-B47E-94F3-2AF957F7B7A8}"/>
              </a:ext>
            </a:extLst>
          </p:cNvPr>
          <p:cNvGrpSpPr/>
          <p:nvPr/>
        </p:nvGrpSpPr>
        <p:grpSpPr>
          <a:xfrm>
            <a:off x="8159547" y="1483674"/>
            <a:ext cx="3170758" cy="5054395"/>
            <a:chOff x="424497" y="1495734"/>
            <a:chExt cx="3170758" cy="505439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595FB8C-67B1-2DC8-7DE5-4538A9AEAFE6}"/>
                </a:ext>
              </a:extLst>
            </p:cNvPr>
            <p:cNvGrpSpPr/>
            <p:nvPr/>
          </p:nvGrpSpPr>
          <p:grpSpPr>
            <a:xfrm>
              <a:off x="424497" y="1495734"/>
              <a:ext cx="3170758" cy="5054395"/>
              <a:chOff x="921804" y="1836109"/>
              <a:chExt cx="3170758" cy="5054395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6DF19ADD-6261-68AA-BEA5-996B23E4649D}"/>
                  </a:ext>
                </a:extLst>
              </p:cNvPr>
              <p:cNvGrpSpPr/>
              <p:nvPr/>
            </p:nvGrpSpPr>
            <p:grpSpPr>
              <a:xfrm>
                <a:off x="921804" y="2196745"/>
                <a:ext cx="3170758" cy="4693759"/>
                <a:chOff x="545627" y="2017338"/>
                <a:chExt cx="3170758" cy="4693759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22D4CCFE-18F9-3623-A810-B8DFA4C71BFD}"/>
                    </a:ext>
                  </a:extLst>
                </p:cNvPr>
                <p:cNvSpPr/>
                <p:nvPr/>
              </p:nvSpPr>
              <p:spPr>
                <a:xfrm>
                  <a:off x="545627" y="2017338"/>
                  <a:ext cx="3170758" cy="4693759"/>
                </a:xfrm>
                <a:prstGeom prst="roundRect">
                  <a:avLst>
                    <a:gd name="adj" fmla="val 7517"/>
                  </a:avLst>
                </a:prstGeom>
                <a:solidFill>
                  <a:srgbClr val="D9D9D9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F5D30AF-9F3D-7AA3-9D23-E19255C94EE8}"/>
                    </a:ext>
                  </a:extLst>
                </p:cNvPr>
                <p:cNvSpPr txBox="1"/>
                <p:nvPr/>
              </p:nvSpPr>
              <p:spPr>
                <a:xfrm>
                  <a:off x="1052985" y="3991668"/>
                  <a:ext cx="2505395" cy="50456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2800" b="1">
                      <a:solidFill>
                        <a:srgbClr val="324273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defRPr>
                  </a:lvl1pPr>
                </a:lstStyle>
                <a:p>
                  <a:pPr algn="just">
                    <a:lnSpc>
                      <a:spcPct val="150000"/>
                    </a:lnSpc>
                  </a:pPr>
                  <a:endParaRPr lang="zh-CN" altLang="en-US" sz="2000" b="0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226290D6-BDF4-4072-C0BD-AC3FEF039336}"/>
                  </a:ext>
                </a:extLst>
              </p:cNvPr>
              <p:cNvGrpSpPr/>
              <p:nvPr/>
            </p:nvGrpSpPr>
            <p:grpSpPr>
              <a:xfrm>
                <a:off x="1442130" y="1836109"/>
                <a:ext cx="2130105" cy="780559"/>
                <a:chOff x="-1972008" y="1609179"/>
                <a:chExt cx="2130105" cy="780559"/>
              </a:xfrm>
            </p:grpSpPr>
            <p:sp>
              <p:nvSpPr>
                <p:cNvPr id="30" name="矩形: 圆角 29">
                  <a:extLst>
                    <a:ext uri="{FF2B5EF4-FFF2-40B4-BE49-F238E27FC236}">
                      <a16:creationId xmlns:a16="http://schemas.microsoft.com/office/drawing/2014/main" id="{76A29987-B543-7DB3-F3C5-9745820AA2DA}"/>
                    </a:ext>
                  </a:extLst>
                </p:cNvPr>
                <p:cNvSpPr/>
                <p:nvPr/>
              </p:nvSpPr>
              <p:spPr>
                <a:xfrm>
                  <a:off x="-1972008" y="1609179"/>
                  <a:ext cx="2130105" cy="780559"/>
                </a:xfrm>
                <a:prstGeom prst="roundRect">
                  <a:avLst/>
                </a:prstGeom>
                <a:solidFill>
                  <a:srgbClr val="324273"/>
                </a:solidFill>
                <a:ln w="19050">
                  <a:solidFill>
                    <a:srgbClr val="32427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A80270E-74DB-4683-BC8C-1A4479734764}"/>
                    </a:ext>
                  </a:extLst>
                </p:cNvPr>
                <p:cNvSpPr txBox="1"/>
                <p:nvPr/>
              </p:nvSpPr>
              <p:spPr>
                <a:xfrm>
                  <a:off x="-1972008" y="1645935"/>
                  <a:ext cx="2130105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zh-CN" altLang="en-US" sz="24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许英帅</a:t>
                  </a:r>
                  <a:endParaRPr lang="en-US" altLang="zh-CN" sz="24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  <a:p>
                  <a:pPr algn="ctr"/>
                  <a:r>
                    <a:rPr lang="zh-CN" altLang="en-US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学号：</a:t>
                  </a:r>
                  <a:r>
                    <a:rPr lang="en-US" altLang="zh-CN" sz="1600">
                      <a:solidFill>
                        <a:schemeClr val="bg1"/>
                      </a:solidFill>
                      <a:latin typeface="Consolas" panose="020B0609020204030204" pitchFamily="49" charset="0"/>
                      <a:ea typeface="华文中宋" panose="02010600040101010101" pitchFamily="2" charset="-122"/>
                    </a:rPr>
                    <a:t>3023244221</a:t>
                  </a:r>
                  <a:endParaRPr lang="zh-CN" altLang="en-US" sz="1600">
                    <a:solidFill>
                      <a:schemeClr val="bg1"/>
                    </a:solidFill>
                    <a:latin typeface="Consolas" panose="020B0609020204030204" pitchFamily="49" charset="0"/>
                    <a:ea typeface="华文中宋" panose="02010600040101010101" pitchFamily="2" charset="-122"/>
                  </a:endParaRPr>
                </a:p>
              </p:txBody>
            </p:sp>
          </p:grp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32A5B0C-C011-D9B8-5766-4D6246D4CD9B}"/>
                </a:ext>
              </a:extLst>
            </p:cNvPr>
            <p:cNvSpPr txBox="1"/>
            <p:nvPr/>
          </p:nvSpPr>
          <p:spPr>
            <a:xfrm>
              <a:off x="541682" y="2710592"/>
              <a:ext cx="2936385" cy="1426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整理了一部分数据集。</a:t>
              </a:r>
              <a:endParaRPr lang="en-US" altLang="zh-CN" sz="2000">
                <a:solidFill>
                  <a:srgbClr val="324273"/>
                </a:solidFill>
                <a:latin typeface="Consolas" panose="020B0609020204030204" pitchFamily="49" charset="0"/>
                <a:ea typeface="华文中宋" panose="02010600040101010101" pitchFamily="2" charset="-122"/>
              </a:endParaRP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24273"/>
                  </a:solidFill>
                  <a:latin typeface="Consolas" panose="020B0609020204030204" pitchFamily="49" charset="0"/>
                  <a:ea typeface="华文中宋" panose="02010600040101010101" pitchFamily="2" charset="-122"/>
                </a:rPr>
                <a:t>统计输出文件，分析不同算法的性能差异。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5372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等腰三角形 27"/>
          <p:cNvSpPr/>
          <p:nvPr/>
        </p:nvSpPr>
        <p:spPr>
          <a:xfrm rot="8220000">
            <a:off x="1287780" y="1140460"/>
            <a:ext cx="548005" cy="42862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11520000">
            <a:off x="151765" y="1094105"/>
            <a:ext cx="548005" cy="34480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238467" y="5841427"/>
            <a:ext cx="8642708" cy="18224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16802" y="2537779"/>
            <a:ext cx="6419591" cy="294374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80120" y="3032147"/>
            <a:ext cx="6885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感谢观看</a:t>
            </a:r>
            <a:endParaRPr lang="en-US" altLang="zh-CN" sz="6000" b="1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60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敬请老师批评指正</a:t>
            </a:r>
          </a:p>
        </p:txBody>
      </p:sp>
      <p:sp>
        <p:nvSpPr>
          <p:cNvPr id="8" name="矩形 7"/>
          <p:cNvSpPr/>
          <p:nvPr/>
        </p:nvSpPr>
        <p:spPr>
          <a:xfrm>
            <a:off x="-191770" y="0"/>
            <a:ext cx="13449935" cy="3397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780000">
            <a:off x="295275" y="26035"/>
            <a:ext cx="1268095" cy="117665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4240" y="1979616"/>
            <a:ext cx="8153316" cy="18224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-366395" y="-129540"/>
            <a:ext cx="1074420" cy="10242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-71120" y="-129540"/>
            <a:ext cx="993775" cy="10039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等腰三角形 17"/>
          <p:cNvSpPr/>
          <p:nvPr/>
        </p:nvSpPr>
        <p:spPr>
          <a:xfrm rot="20100000">
            <a:off x="654685" y="644525"/>
            <a:ext cx="548005" cy="47117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4560000">
            <a:off x="866140" y="1127125"/>
            <a:ext cx="548005" cy="54927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19380000">
            <a:off x="1017270" y="105410"/>
            <a:ext cx="791210" cy="96266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rot="20700000">
            <a:off x="1250950" y="502920"/>
            <a:ext cx="548005" cy="34480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8400000">
            <a:off x="1769110" y="836295"/>
            <a:ext cx="386080" cy="41846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38467" y="1459232"/>
            <a:ext cx="323053" cy="4564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3318</Words>
  <Application>Microsoft Office PowerPoint</Application>
  <PresentationFormat>宽屏</PresentationFormat>
  <Paragraphs>570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华文中宋</vt:lpstr>
      <vt:lpstr>微软雅黑</vt:lpstr>
      <vt:lpstr>Arial</vt:lpstr>
      <vt:lpstr>Calibri</vt:lpstr>
      <vt:lpstr>Consolas</vt:lpstr>
      <vt:lpstr>Fira Code Medium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Linkin Florenz</cp:lastModifiedBy>
  <cp:revision>212</cp:revision>
  <dcterms:created xsi:type="dcterms:W3CDTF">2019-06-19T02:08:00Z</dcterms:created>
  <dcterms:modified xsi:type="dcterms:W3CDTF">2025-06-12T08:54:20Z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FA201EB6352946E5B532584391D68877</vt:lpwstr>
  </property>
</Properties>
</file>