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heme/theme2.xml" ContentType="application/vnd.openxmlformats-officedocument.theme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3"/>
  </p:notesMasterIdLst>
  <p:sldIdLst>
    <p:sldId id="256" r:id="rId2"/>
    <p:sldId id="257" r:id="rId3"/>
    <p:sldId id="258" r:id="rId4"/>
    <p:sldId id="274" r:id="rId5"/>
    <p:sldId id="281" r:id="rId6"/>
    <p:sldId id="270" r:id="rId7"/>
    <p:sldId id="275" r:id="rId8"/>
    <p:sldId id="276" r:id="rId9"/>
    <p:sldId id="277" r:id="rId10"/>
    <p:sldId id="271" r:id="rId11"/>
    <p:sldId id="278" r:id="rId12"/>
    <p:sldId id="279" r:id="rId13"/>
    <p:sldId id="280" r:id="rId14"/>
    <p:sldId id="282" r:id="rId15"/>
    <p:sldId id="283" r:id="rId16"/>
    <p:sldId id="284" r:id="rId17"/>
    <p:sldId id="285" r:id="rId18"/>
    <p:sldId id="286" r:id="rId19"/>
    <p:sldId id="287" r:id="rId20"/>
    <p:sldId id="288" r:id="rId21"/>
    <p:sldId id="289" r:id="rId22"/>
    <p:sldId id="290" r:id="rId23"/>
    <p:sldId id="291" r:id="rId24"/>
    <p:sldId id="295" r:id="rId25"/>
    <p:sldId id="272" r:id="rId26"/>
    <p:sldId id="292" r:id="rId27"/>
    <p:sldId id="293" r:id="rId28"/>
    <p:sldId id="294" r:id="rId29"/>
    <p:sldId id="273" r:id="rId30"/>
    <p:sldId id="296" r:id="rId31"/>
    <p:sldId id="267" r:id="rId32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引入" id="{7B3DE477-2212-43AF-87AE-903F0FA47FF9}">
          <p14:sldIdLst>
            <p14:sldId id="256"/>
            <p14:sldId id="257"/>
          </p14:sldIdLst>
        </p14:section>
        <p14:section name="课题概述" id="{3922FD5A-147A-486D-8B24-8BB0BABCC2F4}">
          <p14:sldIdLst>
            <p14:sldId id="258"/>
            <p14:sldId id="274"/>
            <p14:sldId id="281"/>
          </p14:sldIdLst>
        </p14:section>
        <p14:section name="项目结构" id="{944A7B21-9A08-4765-A417-277EBC268A32}">
          <p14:sldIdLst>
            <p14:sldId id="270"/>
            <p14:sldId id="275"/>
            <p14:sldId id="276"/>
            <p14:sldId id="277"/>
          </p14:sldIdLst>
        </p14:section>
        <p14:section name="实验过程" id="{035F7B5E-5809-4D70-AC42-04E6C5771A80}">
          <p14:sldIdLst>
            <p14:sldId id="271"/>
            <p14:sldId id="278"/>
            <p14:sldId id="279"/>
            <p14:sldId id="280"/>
            <p14:sldId id="282"/>
            <p14:sldId id="283"/>
            <p14:sldId id="284"/>
            <p14:sldId id="285"/>
            <p14:sldId id="286"/>
            <p14:sldId id="287"/>
            <p14:sldId id="288"/>
            <p14:sldId id="289"/>
            <p14:sldId id="290"/>
            <p14:sldId id="291"/>
            <p14:sldId id="295"/>
          </p14:sldIdLst>
        </p14:section>
        <p14:section name="实验结果与结论" id="{4F8FB5E8-29D8-40F7-84DF-DA85B461F1C3}">
          <p14:sldIdLst>
            <p14:sldId id="272"/>
            <p14:sldId id="292"/>
            <p14:sldId id="293"/>
            <p14:sldId id="294"/>
          </p14:sldIdLst>
        </p14:section>
        <p14:section name="小组分工" id="{4D295109-4428-4BAE-9725-20A8B7A30473}">
          <p14:sldIdLst>
            <p14:sldId id="273"/>
            <p14:sldId id="296"/>
          </p14:sldIdLst>
        </p14:section>
        <p14:section name="结尾" id="{012F5DC4-A915-4865-A6E6-D73E942CC8E2}">
          <p14:sldIdLst>
            <p14:sldId id="267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275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24273"/>
    <a:srgbClr val="D9D9D9"/>
    <a:srgbClr val="F2F2F2"/>
    <a:srgbClr val="FFFFFF"/>
    <a:srgbClr val="DCDCDC"/>
    <a:srgbClr val="F0F0F0"/>
    <a:srgbClr val="E6E6E6"/>
    <a:srgbClr val="C8C8C8"/>
    <a:srgbClr val="FAFAFA"/>
    <a:srgbClr val="BEBEB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中度样式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中度样式 2 - 强调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中度样式 2 - 强调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69CF1AB2-1976-4502-BF36-3FF5EA218861}" styleName="中度样式 4 - 强调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778" autoAdjust="0"/>
    <p:restoredTop sz="94660"/>
  </p:normalViewPr>
  <p:slideViewPr>
    <p:cSldViewPr snapToGrid="0">
      <p:cViewPr varScale="1">
        <p:scale>
          <a:sx n="92" d="100"/>
          <a:sy n="92" d="100"/>
        </p:scale>
        <p:origin x="116" y="464"/>
      </p:cViewPr>
      <p:guideLst>
        <p:guide orient="horz" pos="2275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2550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  <a:t>2025/6/3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tags" Target="../tags/tag9.xml"/><Relationship Id="rId2" Type="http://schemas.openxmlformats.org/officeDocument/2006/relationships/tags" Target="../tags/tag8.xml"/><Relationship Id="rId1" Type="http://schemas.openxmlformats.org/officeDocument/2006/relationships/tags" Target="../tags/tag7.xml"/><Relationship Id="rId6" Type="http://schemas.openxmlformats.org/officeDocument/2006/relationships/slideMaster" Target="../slideMasters/slideMaster1.xml"/><Relationship Id="rId5" Type="http://schemas.openxmlformats.org/officeDocument/2006/relationships/tags" Target="../tags/tag11.xml"/><Relationship Id="rId4" Type="http://schemas.openxmlformats.org/officeDocument/2006/relationships/tags" Target="../tags/tag10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tags" Target="../tags/tag14.xml"/><Relationship Id="rId2" Type="http://schemas.openxmlformats.org/officeDocument/2006/relationships/tags" Target="../tags/tag13.xml"/><Relationship Id="rId1" Type="http://schemas.openxmlformats.org/officeDocument/2006/relationships/tags" Target="../tags/tag12.xml"/><Relationship Id="rId6" Type="http://schemas.openxmlformats.org/officeDocument/2006/relationships/slideMaster" Target="../slideMasters/slideMaster1.xml"/><Relationship Id="rId5" Type="http://schemas.openxmlformats.org/officeDocument/2006/relationships/tags" Target="../tags/tag16.xml"/><Relationship Id="rId4" Type="http://schemas.openxmlformats.org/officeDocument/2006/relationships/tags" Target="../tags/tag15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tags" Target="../tags/tag19.xml"/><Relationship Id="rId2" Type="http://schemas.openxmlformats.org/officeDocument/2006/relationships/tags" Target="../tags/tag18.xml"/><Relationship Id="rId1" Type="http://schemas.openxmlformats.org/officeDocument/2006/relationships/tags" Target="../tags/tag17.xml"/><Relationship Id="rId6" Type="http://schemas.openxmlformats.org/officeDocument/2006/relationships/slideMaster" Target="../slideMasters/slideMaster1.xml"/><Relationship Id="rId5" Type="http://schemas.openxmlformats.org/officeDocument/2006/relationships/tags" Target="../tags/tag21.xml"/><Relationship Id="rId4" Type="http://schemas.openxmlformats.org/officeDocument/2006/relationships/tags" Target="../tags/tag20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tags" Target="../tags/tag24.xml"/><Relationship Id="rId7" Type="http://schemas.openxmlformats.org/officeDocument/2006/relationships/slideMaster" Target="../slideMasters/slideMaster1.xml"/><Relationship Id="rId2" Type="http://schemas.openxmlformats.org/officeDocument/2006/relationships/tags" Target="../tags/tag23.xml"/><Relationship Id="rId1" Type="http://schemas.openxmlformats.org/officeDocument/2006/relationships/tags" Target="../tags/tag22.xml"/><Relationship Id="rId6" Type="http://schemas.openxmlformats.org/officeDocument/2006/relationships/tags" Target="../tags/tag27.xml"/><Relationship Id="rId5" Type="http://schemas.openxmlformats.org/officeDocument/2006/relationships/tags" Target="../tags/tag26.xml"/><Relationship Id="rId4" Type="http://schemas.openxmlformats.org/officeDocument/2006/relationships/tags" Target="../tags/tag25.xml"/></Relationships>
</file>

<file path=ppt/slideLayouts/_rels/slideLayout5.xml.rels><?xml version="1.0" encoding="UTF-8" standalone="yes"?>
<Relationships xmlns="http://schemas.openxmlformats.org/package/2006/relationships"><Relationship Id="rId8" Type="http://schemas.openxmlformats.org/officeDocument/2006/relationships/tags" Target="../tags/tag35.xml"/><Relationship Id="rId3" Type="http://schemas.openxmlformats.org/officeDocument/2006/relationships/tags" Target="../tags/tag30.xml"/><Relationship Id="rId7" Type="http://schemas.openxmlformats.org/officeDocument/2006/relationships/tags" Target="../tags/tag34.xml"/><Relationship Id="rId2" Type="http://schemas.openxmlformats.org/officeDocument/2006/relationships/tags" Target="../tags/tag29.xml"/><Relationship Id="rId1" Type="http://schemas.openxmlformats.org/officeDocument/2006/relationships/tags" Target="../tags/tag28.xml"/><Relationship Id="rId6" Type="http://schemas.openxmlformats.org/officeDocument/2006/relationships/tags" Target="../tags/tag33.xml"/><Relationship Id="rId5" Type="http://schemas.openxmlformats.org/officeDocument/2006/relationships/tags" Target="../tags/tag32.xml"/><Relationship Id="rId4" Type="http://schemas.openxmlformats.org/officeDocument/2006/relationships/tags" Target="../tags/tag31.xml"/><Relationship Id="rId9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tags" Target="../tags/tag38.xml"/><Relationship Id="rId2" Type="http://schemas.openxmlformats.org/officeDocument/2006/relationships/tags" Target="../tags/tag37.xml"/><Relationship Id="rId1" Type="http://schemas.openxmlformats.org/officeDocument/2006/relationships/tags" Target="../tags/tag36.xml"/><Relationship Id="rId5" Type="http://schemas.openxmlformats.org/officeDocument/2006/relationships/slideMaster" Target="../slideMasters/slideMaster1.xml"/><Relationship Id="rId4" Type="http://schemas.openxmlformats.org/officeDocument/2006/relationships/tags" Target="../tags/tag39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tags" Target="../tags/tag42.xml"/><Relationship Id="rId2" Type="http://schemas.openxmlformats.org/officeDocument/2006/relationships/tags" Target="../tags/tag41.xml"/><Relationship Id="rId1" Type="http://schemas.openxmlformats.org/officeDocument/2006/relationships/tags" Target="../tags/tag40.xml"/><Relationship Id="rId4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tags" Target="../tags/tag45.xml"/><Relationship Id="rId7" Type="http://schemas.openxmlformats.org/officeDocument/2006/relationships/slideMaster" Target="../slideMasters/slideMaster1.xml"/><Relationship Id="rId2" Type="http://schemas.openxmlformats.org/officeDocument/2006/relationships/tags" Target="../tags/tag44.xml"/><Relationship Id="rId1" Type="http://schemas.openxmlformats.org/officeDocument/2006/relationships/tags" Target="../tags/tag43.xml"/><Relationship Id="rId6" Type="http://schemas.openxmlformats.org/officeDocument/2006/relationships/tags" Target="../tags/tag48.xml"/><Relationship Id="rId5" Type="http://schemas.openxmlformats.org/officeDocument/2006/relationships/tags" Target="../tags/tag47.xml"/><Relationship Id="rId4" Type="http://schemas.openxmlformats.org/officeDocument/2006/relationships/tags" Target="../tags/tag46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tags" Target="../tags/tag51.xml"/><Relationship Id="rId2" Type="http://schemas.openxmlformats.org/officeDocument/2006/relationships/tags" Target="../tags/tag50.xml"/><Relationship Id="rId1" Type="http://schemas.openxmlformats.org/officeDocument/2006/relationships/tags" Target="../tags/tag49.xml"/><Relationship Id="rId6" Type="http://schemas.openxmlformats.org/officeDocument/2006/relationships/slideMaster" Target="../slideMasters/slideMaster1.xml"/><Relationship Id="rId5" Type="http://schemas.openxmlformats.org/officeDocument/2006/relationships/tags" Target="../tags/tag53.xml"/><Relationship Id="rId4" Type="http://schemas.openxmlformats.org/officeDocument/2006/relationships/tags" Target="../tags/tag52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tags" Target="../tags/tag56.xml"/><Relationship Id="rId2" Type="http://schemas.openxmlformats.org/officeDocument/2006/relationships/tags" Target="../tags/tag55.xml"/><Relationship Id="rId1" Type="http://schemas.openxmlformats.org/officeDocument/2006/relationships/tags" Target="../tags/tag54.xml"/><Relationship Id="rId5" Type="http://schemas.openxmlformats.org/officeDocument/2006/relationships/slideMaster" Target="../slideMasters/slideMaster1.xml"/><Relationship Id="rId4" Type="http://schemas.openxmlformats.org/officeDocument/2006/relationships/tags" Target="../tags/tag57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tags" Target="../tags/tag60.xml"/><Relationship Id="rId2" Type="http://schemas.openxmlformats.org/officeDocument/2006/relationships/tags" Target="../tags/tag59.xml"/><Relationship Id="rId1" Type="http://schemas.openxmlformats.org/officeDocument/2006/relationships/tags" Target="../tags/tag58.xml"/><Relationship Id="rId6" Type="http://schemas.openxmlformats.org/officeDocument/2006/relationships/slideMaster" Target="../slideMasters/slideMaster1.xml"/><Relationship Id="rId5" Type="http://schemas.openxmlformats.org/officeDocument/2006/relationships/tags" Target="../tags/tag62.xml"/><Relationship Id="rId4" Type="http://schemas.openxmlformats.org/officeDocument/2006/relationships/tags" Target="../tags/tag6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  <p:custDataLst>
              <p:tags r:id="rId1"/>
            </p:custDataLst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6000"/>
            </a:lvl1pPr>
          </a:lstStyle>
          <a:p>
            <a:r>
              <a:rPr lang="zh-CN" altLang="en-US" dirty="0"/>
              <a:t>单击此处编辑标题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  <p:custDataLst>
              <p:tags r:id="rId2"/>
            </p:custDataLst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单击此处编辑副标题</a:t>
            </a:r>
          </a:p>
        </p:txBody>
      </p:sp>
      <p:sp>
        <p:nvSpPr>
          <p:cNvPr id="16" name="日期占位符 15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2025/6/3</a:t>
            </a:fld>
            <a:endParaRPr lang="zh-CN" altLang="en-US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 dirty="0"/>
          </a:p>
        </p:txBody>
      </p:sp>
    </p:spTree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dirty="0">
                <a:sym typeface="+mn-ea"/>
              </a:rPr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2"/>
            </p:custDataLst>
          </p:nvPr>
        </p:nvSpPr>
        <p:spPr>
          <a:xfrm>
            <a:off x="608400" y="1490400"/>
            <a:ext cx="10969200" cy="47592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dirty="0">
                <a:sym typeface="+mn-ea"/>
              </a:rPr>
              <a:t>单击此处编辑母版文本样式</a:t>
            </a:r>
          </a:p>
          <a:p>
            <a:pPr lvl="1"/>
            <a:r>
              <a:rPr dirty="0">
                <a:sym typeface="+mn-ea"/>
              </a:rPr>
              <a:t>第二级</a:t>
            </a:r>
          </a:p>
          <a:p>
            <a:pPr lvl="2"/>
            <a:r>
              <a:rPr dirty="0">
                <a:sym typeface="+mn-ea"/>
              </a:rPr>
              <a:t>第三级</a:t>
            </a:r>
          </a:p>
          <a:p>
            <a:pPr lvl="3"/>
            <a:r>
              <a:rPr dirty="0">
                <a:sym typeface="+mn-ea"/>
              </a:rPr>
              <a:t>第四级</a:t>
            </a:r>
          </a:p>
          <a:p>
            <a:pPr lvl="4"/>
            <a:r>
              <a:rPr dirty="0">
                <a:sym typeface="+mn-ea"/>
              </a:rPr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2025/6/3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1"/>
            </p:custDataLst>
          </p:nvPr>
        </p:nvSpPr>
        <p:spPr>
          <a:xfrm>
            <a:off x="1990800" y="3848400"/>
            <a:ext cx="7768800" cy="766800"/>
          </a:xfrm>
        </p:spPr>
        <p:txBody>
          <a:bodyPr lIns="90000" tIns="46800" rIns="90000" bIns="46800" anchor="b" anchorCtr="0">
            <a:normAutofit/>
          </a:bodyPr>
          <a:lstStyle>
            <a:lvl1pPr>
              <a:defRPr sz="4400"/>
            </a:lvl1pPr>
          </a:lstStyle>
          <a:p>
            <a:r>
              <a:rPr lang="zh-CN" altLang="en-US" dirty="0"/>
              <a:t>单击此处编辑标题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2"/>
            </p:custDataLst>
          </p:nvPr>
        </p:nvSpPr>
        <p:spPr>
          <a:xfrm>
            <a:off x="1990800" y="4615200"/>
            <a:ext cx="7768800" cy="867600"/>
          </a:xfrm>
        </p:spPr>
        <p:txBody>
          <a:bodyPr lIns="90000" tIns="46800" rIns="90000" bIns="46800">
            <a:normAutofit/>
          </a:bodyPr>
          <a:lstStyle>
            <a:lvl1pPr marL="0" indent="0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单击此处编辑文本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2025/6/3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dirty="0">
                <a:sym typeface="+mn-ea"/>
              </a:rPr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2"/>
            </p:custDataLst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dirty="0">
                <a:sym typeface="+mn-ea"/>
              </a:rPr>
              <a:t>单击此处编辑母版文本样式</a:t>
            </a:r>
          </a:p>
          <a:p>
            <a:pPr lvl="1"/>
            <a:r>
              <a:rPr dirty="0">
                <a:sym typeface="+mn-ea"/>
              </a:rPr>
              <a:t>第二级</a:t>
            </a:r>
          </a:p>
          <a:p>
            <a:pPr lvl="2"/>
            <a:r>
              <a:rPr dirty="0">
                <a:sym typeface="+mn-ea"/>
              </a:rPr>
              <a:t>第三级</a:t>
            </a:r>
          </a:p>
          <a:p>
            <a:pPr lvl="3"/>
            <a:r>
              <a:rPr dirty="0">
                <a:sym typeface="+mn-ea"/>
              </a:rPr>
              <a:t>第四级</a:t>
            </a:r>
          </a:p>
          <a:p>
            <a:pPr lvl="4"/>
            <a:r>
              <a:rPr dirty="0">
                <a:sym typeface="+mn-ea"/>
              </a:rPr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3"/>
            </p:custDataLst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2025/6/3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dirty="0">
                <a:sym typeface="+mn-ea"/>
              </a:rPr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2"/>
            </p:custDataLst>
          </p:nvPr>
        </p:nvSpPr>
        <p:spPr>
          <a:xfrm>
            <a:off x="608400" y="1429200"/>
            <a:ext cx="5342400" cy="381600"/>
          </a:xfrm>
        </p:spPr>
        <p:txBody>
          <a:bodyPr lIns="101600" tIns="38100" rIns="76200" bIns="3810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单击此处编辑文本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3"/>
            </p:custDataLst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dirty="0">
                <a:sym typeface="+mn-ea"/>
              </a:rPr>
              <a:t>单击此处编辑母版文本样式</a:t>
            </a:r>
          </a:p>
          <a:p>
            <a:pPr lvl="1"/>
            <a:r>
              <a:rPr dirty="0">
                <a:sym typeface="+mn-ea"/>
              </a:rPr>
              <a:t>第二级</a:t>
            </a:r>
          </a:p>
          <a:p>
            <a:pPr lvl="2"/>
            <a:r>
              <a:rPr dirty="0">
                <a:sym typeface="+mn-ea"/>
              </a:rPr>
              <a:t>第三级</a:t>
            </a:r>
          </a:p>
          <a:p>
            <a:pPr lvl="3"/>
            <a:r>
              <a:rPr dirty="0">
                <a:sym typeface="+mn-ea"/>
              </a:rPr>
              <a:t>第四级</a:t>
            </a:r>
          </a:p>
          <a:p>
            <a:pPr lvl="4"/>
            <a:r>
              <a:rPr dirty="0">
                <a:sym typeface="+mn-ea"/>
              </a:rPr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4"/>
            </p:custDataLst>
          </p:nvPr>
        </p:nvSpPr>
        <p:spPr>
          <a:xfrm>
            <a:off x="6235750" y="1421729"/>
            <a:ext cx="5342400" cy="381600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>
                <a:sym typeface="+mn-ea"/>
              </a:rPr>
              <a:t>单击此处编辑文本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5"/>
            </p:custDataLst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dirty="0">
                <a:sym typeface="+mn-ea"/>
              </a:rPr>
              <a:t>单击此处编辑母版文本样式</a:t>
            </a:r>
          </a:p>
          <a:p>
            <a:pPr lvl="1"/>
            <a:r>
              <a:rPr dirty="0">
                <a:sym typeface="+mn-ea"/>
              </a:rPr>
              <a:t>第二级</a:t>
            </a:r>
          </a:p>
          <a:p>
            <a:pPr lvl="2"/>
            <a:r>
              <a:rPr dirty="0">
                <a:sym typeface="+mn-ea"/>
              </a:rPr>
              <a:t>第三级</a:t>
            </a:r>
          </a:p>
          <a:p>
            <a:pPr lvl="3"/>
            <a:r>
              <a:rPr dirty="0">
                <a:sym typeface="+mn-ea"/>
              </a:rPr>
              <a:t>第四级</a:t>
            </a:r>
          </a:p>
          <a:p>
            <a:pPr lvl="4"/>
            <a:r>
              <a:rPr dirty="0">
                <a:sym typeface="+mn-ea"/>
              </a:rPr>
              <a:t>第五级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6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2025/6/3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7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8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>
                <a:sym typeface="+mn-ea"/>
              </a:rPr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2025/6/3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1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2025/6/3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2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3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/>
          <p:cNvSpPr>
            <a:spLocks noGrp="1"/>
          </p:cNvSpPr>
          <p:nvPr>
            <p:ph type="pic" idx="1"/>
            <p:custDataLst>
              <p:tags r:id="rId1"/>
            </p:custDataLst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endParaRPr dirty="0">
              <a:sym typeface="+mn-ea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  <p:custDataLst>
              <p:tags r:id="rId2"/>
            </p:custDataLst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  <a:t>2025/6/3</a:t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/>
            <p:custDataLst>
              <p:tags r:id="rId6"/>
            </p:custDataLst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</p:spTree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 hasCustomPrompt="1"/>
            <p:custDataLst>
              <p:tags r:id="rId1"/>
            </p:custDataLst>
          </p:nvPr>
        </p:nvSpPr>
        <p:spPr>
          <a:xfrm>
            <a:off x="10234800" y="914400"/>
            <a:ext cx="1044000" cy="5029200"/>
          </a:xfrm>
        </p:spPr>
        <p:txBody>
          <a:bodyPr vert="eaVert" lIns="90000" tIns="46800" rIns="90000" bIns="46800" rtlCol="0" anchor="ctr" anchorCtr="0">
            <a:normAutofit/>
          </a:bodyPr>
          <a:lstStyle>
            <a:lvl1pPr>
              <a:buNone/>
              <a:defRPr sz="2800"/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  <p:custDataLst>
              <p:tags r:id="rId2"/>
            </p:custDataLst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>
              <a:spcAft>
                <a:spcPts val="1000"/>
              </a:spcAft>
              <a:defRPr spc="300"/>
            </a:lvl1pPr>
            <a:lvl2pPr marL="685800" indent="-228600">
              <a:defRPr spc="300"/>
            </a:lvl2pPr>
            <a:lvl3pPr marL="1143000" indent="-228600">
              <a:defRPr spc="300"/>
            </a:lvl3pPr>
            <a:lvl4pPr marL="1600200" indent="-228600">
              <a:defRPr spc="300"/>
            </a:lvl4pPr>
            <a:lvl5pPr marL="2057400" indent="-228600">
              <a:defRPr spc="300"/>
            </a:lvl5pPr>
          </a:lstStyle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2025/6/3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1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2025/6/3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2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3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4"/>
            </p:custDataLst>
          </p:nvPr>
        </p:nvSpPr>
        <p:spPr>
          <a:xfrm>
            <a:off x="608400" y="774000"/>
            <a:ext cx="10972800" cy="5482800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</p:spTree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1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2025/6/3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2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3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4"/>
            </p:custDataLst>
          </p:nvPr>
        </p:nvSpPr>
        <p:spPr>
          <a:xfrm>
            <a:off x="1198800" y="2484000"/>
            <a:ext cx="9799200" cy="1018800"/>
          </a:xfrm>
        </p:spPr>
        <p:txBody>
          <a:bodyPr vert="horz" lIns="90000" tIns="46800" rIns="90000" bIns="46800" rtlCol="0" anchor="t" anchorCtr="0">
            <a:normAutofit/>
          </a:bodyPr>
          <a:lstStyle>
            <a:lvl1pPr algn="ctr">
              <a:defRPr sz="6000"/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5"/>
            </p:custDataLst>
          </p:nvPr>
        </p:nvSpPr>
        <p:spPr>
          <a:xfrm>
            <a:off x="1198800" y="3560400"/>
            <a:ext cx="9799200" cy="471600"/>
          </a:xfrm>
        </p:spPr>
        <p:txBody>
          <a:bodyPr lIns="90000" tIns="46800" rIns="90000" bIns="46800">
            <a:normAutofit/>
          </a:bodyPr>
          <a:lstStyle>
            <a:lvl1pPr algn="ctr">
              <a:lnSpc>
                <a:spcPct val="110000"/>
              </a:lnSpc>
              <a:buNone/>
              <a:defRPr sz="2400" spc="200"/>
            </a:lvl1pPr>
          </a:lstStyle>
          <a:p>
            <a:pPr lvl="0"/>
            <a:r>
              <a:rPr lang="zh-CN" altLang="en-US" dirty="0"/>
              <a:t>单击此处编辑母版文本样式</a:t>
            </a:r>
          </a:p>
        </p:txBody>
      </p:sp>
    </p:spTree>
  </p:cSld>
  <p:clrMapOvr>
    <a:masterClrMapping/>
  </p:clrMapOvr>
  <p:hf hdr="0" ft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ags" Target="../tags/tag1.xml"/><Relationship Id="rId18" Type="http://schemas.openxmlformats.org/officeDocument/2006/relationships/tags" Target="../tags/tag6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17" Type="http://schemas.openxmlformats.org/officeDocument/2006/relationships/tags" Target="../tags/tag5.xml"/><Relationship Id="rId2" Type="http://schemas.openxmlformats.org/officeDocument/2006/relationships/slideLayout" Target="../slideLayouts/slideLayout2.xml"/><Relationship Id="rId16" Type="http://schemas.openxmlformats.org/officeDocument/2006/relationships/tags" Target="../tags/tag4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ags" Target="../tags/tag3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ags" Target="../tags/tag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9D9D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  <p:custDataLst>
              <p:tags r:id="rId14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170" tIns="46990" rIns="90170" bIns="46990" rtlCol="0" anchor="ctr" anchorCtr="0">
            <a:normAutofit/>
          </a:bodyPr>
          <a:lstStyle/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15"/>
            </p:custDataLst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16"/>
            </p:custDataLst>
          </p:nvPr>
        </p:nvSpPr>
        <p:spPr>
          <a:xfrm>
            <a:off x="6120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000" baseline="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</a:lstStyle>
          <a:p>
            <a:fld id="{760FBDFE-C587-4B4C-A407-44438C67B59E}" type="datetimeFigureOut">
              <a:rPr lang="zh-CN" altLang="en-US" smtClean="0"/>
              <a:t>2025/6/3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17"/>
            </p:custDataLst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000" baseline="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18"/>
            </p:custDataLst>
          </p:nvPr>
        </p:nvSpPr>
        <p:spPr>
          <a:xfrm>
            <a:off x="88776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000" baseline="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 dirty="0"/>
          </a:p>
        </p:txBody>
      </p:sp>
    </p:spTree>
    <p:custDataLst>
      <p:tags r:id="rId13"/>
    </p:custData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1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tags" Target="../tags/tag6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6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6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6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6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68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69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70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7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7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73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74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75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7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/>
          <p:cNvSpPr/>
          <p:nvPr/>
        </p:nvSpPr>
        <p:spPr>
          <a:xfrm>
            <a:off x="0" y="2022465"/>
            <a:ext cx="12192000" cy="2551589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华文中宋" panose="02010600040101010101" pitchFamily="2" charset="-122"/>
              <a:ea typeface="华文中宋" panose="02010600040101010101" pitchFamily="2" charset="-122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1961991" y="2083376"/>
            <a:ext cx="8268018" cy="1015663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zh-CN" altLang="en-US" sz="6000" b="1">
                <a:solidFill>
                  <a:schemeClr val="bg1"/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算法设计与分析大作业</a:t>
            </a:r>
          </a:p>
        </p:txBody>
      </p:sp>
      <p:sp>
        <p:nvSpPr>
          <p:cNvPr id="10" name="文本框 9"/>
          <p:cNvSpPr txBox="1"/>
          <p:nvPr/>
        </p:nvSpPr>
        <p:spPr>
          <a:xfrm>
            <a:off x="3930173" y="3106024"/>
            <a:ext cx="433165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800">
                <a:solidFill>
                  <a:schemeClr val="bg1"/>
                </a:solidFill>
                <a:latin typeface="华文中宋" panose="02010600040101010101" pitchFamily="2" charset="-122"/>
                <a:ea typeface="华文中宋" panose="02010600040101010101" pitchFamily="2" charset="-122"/>
                <a:cs typeface="微软雅黑" panose="020B0503020204020204" pitchFamily="34" charset="-122"/>
              </a:rPr>
              <a:t>选题：算法改进</a:t>
            </a:r>
            <a:endParaRPr lang="en-US" altLang="zh-CN" sz="2800">
              <a:solidFill>
                <a:schemeClr val="bg1"/>
              </a:solidFill>
              <a:latin typeface="华文中宋" panose="02010600040101010101" pitchFamily="2" charset="-122"/>
              <a:ea typeface="华文中宋" panose="02010600040101010101" pitchFamily="2" charset="-122"/>
              <a:cs typeface="微软雅黑" panose="020B0503020204020204" pitchFamily="34" charset="-122"/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3060700" y="3688805"/>
            <a:ext cx="604583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000">
                <a:solidFill>
                  <a:schemeClr val="bg1"/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组长：谢雨航</a:t>
            </a:r>
            <a:r>
              <a:rPr lang="en-US" altLang="zh-CN" sz="2000">
                <a:solidFill>
                  <a:schemeClr val="bg1"/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  </a:t>
            </a:r>
            <a:r>
              <a:rPr lang="zh-CN" altLang="en-US" sz="2000">
                <a:solidFill>
                  <a:schemeClr val="bg1"/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组员：陈添硕、许英帅</a:t>
            </a:r>
            <a:endParaRPr lang="en-US" altLang="zh-CN" sz="2000">
              <a:solidFill>
                <a:schemeClr val="bg1"/>
              </a:solidFill>
              <a:latin typeface="华文中宋" panose="02010600040101010101" pitchFamily="2" charset="-122"/>
              <a:ea typeface="华文中宋" panose="02010600040101010101" pitchFamily="2" charset="-122"/>
            </a:endParaRPr>
          </a:p>
        </p:txBody>
      </p:sp>
      <p:sp>
        <p:nvSpPr>
          <p:cNvPr id="17" name="直角三角形 16"/>
          <p:cNvSpPr/>
          <p:nvPr/>
        </p:nvSpPr>
        <p:spPr>
          <a:xfrm rot="16200000">
            <a:off x="11381740" y="3763794"/>
            <a:ext cx="791845" cy="828675"/>
          </a:xfrm>
          <a:prstGeom prst="rtTriangle">
            <a:avLst/>
          </a:prstGeom>
          <a:solidFill>
            <a:srgbClr val="D9D9D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bg1"/>
              </a:solidFill>
              <a:latin typeface="华文中宋" panose="02010600040101010101" pitchFamily="2" charset="-122"/>
              <a:ea typeface="华文中宋" panose="02010600040101010101" pitchFamily="2" charset="-122"/>
            </a:endParaRPr>
          </a:p>
        </p:txBody>
      </p:sp>
      <p:sp>
        <p:nvSpPr>
          <p:cNvPr id="3" name="直角三角形 2">
            <a:extLst>
              <a:ext uri="{FF2B5EF4-FFF2-40B4-BE49-F238E27FC236}">
                <a16:creationId xmlns:a16="http://schemas.microsoft.com/office/drawing/2014/main" id="{BDA7E4ED-7CB7-76DF-3B72-3386C8C83C89}"/>
              </a:ext>
            </a:extLst>
          </p:cNvPr>
          <p:cNvSpPr/>
          <p:nvPr/>
        </p:nvSpPr>
        <p:spPr>
          <a:xfrm rot="5400000">
            <a:off x="18415" y="2003881"/>
            <a:ext cx="791845" cy="828675"/>
          </a:xfrm>
          <a:prstGeom prst="rtTriangle">
            <a:avLst/>
          </a:prstGeom>
          <a:solidFill>
            <a:srgbClr val="D9D9D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bg1"/>
              </a:solidFill>
              <a:latin typeface="华文中宋" panose="02010600040101010101" pitchFamily="2" charset="-122"/>
              <a:ea typeface="华文中宋" panose="02010600040101010101" pitchFamily="2" charset="-122"/>
            </a:endParaRPr>
          </a:p>
        </p:txBody>
      </p:sp>
      <p:sp>
        <p:nvSpPr>
          <p:cNvPr id="15" name="直角三角形 14">
            <a:extLst>
              <a:ext uri="{FF2B5EF4-FFF2-40B4-BE49-F238E27FC236}">
                <a16:creationId xmlns:a16="http://schemas.microsoft.com/office/drawing/2014/main" id="{57387F93-FBA5-01FE-2DAE-B4D5AA6B0E33}"/>
              </a:ext>
            </a:extLst>
          </p:cNvPr>
          <p:cNvSpPr/>
          <p:nvPr/>
        </p:nvSpPr>
        <p:spPr>
          <a:xfrm>
            <a:off x="0" y="3745379"/>
            <a:ext cx="791845" cy="828675"/>
          </a:xfrm>
          <a:prstGeom prst="rtTriangle">
            <a:avLst/>
          </a:prstGeom>
          <a:solidFill>
            <a:srgbClr val="D9D9D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bg1"/>
              </a:solidFill>
              <a:latin typeface="华文中宋" panose="02010600040101010101" pitchFamily="2" charset="-122"/>
              <a:ea typeface="华文中宋" panose="02010600040101010101" pitchFamily="2" charset="-122"/>
            </a:endParaRPr>
          </a:p>
        </p:txBody>
      </p:sp>
      <p:sp>
        <p:nvSpPr>
          <p:cNvPr id="18" name="直角三角形 17">
            <a:extLst>
              <a:ext uri="{FF2B5EF4-FFF2-40B4-BE49-F238E27FC236}">
                <a16:creationId xmlns:a16="http://schemas.microsoft.com/office/drawing/2014/main" id="{5D6FA338-F817-A726-BC16-8526A0AA422C}"/>
              </a:ext>
            </a:extLst>
          </p:cNvPr>
          <p:cNvSpPr/>
          <p:nvPr/>
        </p:nvSpPr>
        <p:spPr>
          <a:xfrm rot="10800000">
            <a:off x="11400155" y="2022296"/>
            <a:ext cx="791845" cy="828675"/>
          </a:xfrm>
          <a:prstGeom prst="rtTriangle">
            <a:avLst/>
          </a:prstGeom>
          <a:solidFill>
            <a:srgbClr val="D9D9D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bg1"/>
              </a:solidFill>
              <a:latin typeface="华文中宋" panose="02010600040101010101" pitchFamily="2" charset="-122"/>
              <a:ea typeface="华文中宋" panose="02010600040101010101" pitchFamily="2" charset="-122"/>
            </a:endParaRPr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497E5150-7ABE-AF3F-2D75-452179B6F00F}"/>
              </a:ext>
            </a:extLst>
          </p:cNvPr>
          <p:cNvSpPr txBox="1"/>
          <p:nvPr/>
        </p:nvSpPr>
        <p:spPr>
          <a:xfrm>
            <a:off x="3073081" y="4135776"/>
            <a:ext cx="604583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000">
                <a:solidFill>
                  <a:schemeClr val="bg1"/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任课教师：刘春凤、宫秀军</a:t>
            </a:r>
            <a:endParaRPr lang="en-US" altLang="zh-CN" sz="2000">
              <a:solidFill>
                <a:schemeClr val="bg1"/>
              </a:solidFill>
              <a:latin typeface="华文中宋" panose="02010600040101010101" pitchFamily="2" charset="-122"/>
              <a:ea typeface="华文中宋" panose="02010600040101010101" pitchFamily="2" charset="-122"/>
            </a:endParaRPr>
          </a:p>
        </p:txBody>
      </p:sp>
    </p:spTree>
    <p:custDataLst>
      <p:tags r:id="rId1"/>
    </p:custData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组合 1">
            <a:extLst>
              <a:ext uri="{FF2B5EF4-FFF2-40B4-BE49-F238E27FC236}">
                <a16:creationId xmlns:a16="http://schemas.microsoft.com/office/drawing/2014/main" id="{E2BAD8C3-CF28-63B3-7247-28FB09BB31A4}"/>
              </a:ext>
            </a:extLst>
          </p:cNvPr>
          <p:cNvGrpSpPr/>
          <p:nvPr/>
        </p:nvGrpSpPr>
        <p:grpSpPr>
          <a:xfrm rot="5400000">
            <a:off x="1472130" y="-1105776"/>
            <a:ext cx="1740535" cy="4251960"/>
            <a:chOff x="3263900" y="1682750"/>
            <a:chExt cx="1740535" cy="4251960"/>
          </a:xfrm>
        </p:grpSpPr>
        <p:sp>
          <p:nvSpPr>
            <p:cNvPr id="4" name="矩形 3"/>
            <p:cNvSpPr/>
            <p:nvPr/>
          </p:nvSpPr>
          <p:spPr>
            <a:xfrm rot="16200000">
              <a:off x="2260233" y="3187199"/>
              <a:ext cx="3735804" cy="1243061"/>
            </a:xfrm>
            <a:prstGeom prst="rect">
              <a:avLst/>
            </a:prstGeom>
            <a:solidFill>
              <a:schemeClr val="tx2">
                <a:lumMod val="75000"/>
                <a:lumOff val="25000"/>
              </a:schemeClr>
            </a:solidFill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rtlCol="0" anchor="ctr"/>
            <a:lstStyle/>
            <a:p>
              <a:pPr algn="ctr"/>
              <a:r>
                <a:rPr lang="zh-CN" altLang="en-US" sz="4000">
                  <a:latin typeface="Consolas" panose="020B0609020204030204" pitchFamily="49" charset="0"/>
                  <a:ea typeface="华文中宋" panose="02010600040101010101" pitchFamily="2" charset="-122"/>
                </a:rPr>
                <a:t>目录</a:t>
              </a:r>
              <a:endParaRPr lang="en-US" altLang="zh-CN" sz="4000">
                <a:latin typeface="Consolas" panose="020B0609020204030204" pitchFamily="49" charset="0"/>
                <a:ea typeface="华文中宋" panose="02010600040101010101" pitchFamily="2" charset="-122"/>
              </a:endParaRPr>
            </a:p>
            <a:p>
              <a:pPr algn="ctr"/>
              <a:r>
                <a:rPr lang="en-US" altLang="zh-CN" sz="2800">
                  <a:latin typeface="Consolas" panose="020B0609020204030204" pitchFamily="49" charset="0"/>
                  <a:ea typeface="华文中宋" panose="02010600040101010101" pitchFamily="2" charset="-122"/>
                </a:rPr>
                <a:t>Content</a:t>
              </a:r>
              <a:endParaRPr lang="zh-CN" altLang="en-US" sz="2800">
                <a:latin typeface="Consolas" panose="020B0609020204030204" pitchFamily="49" charset="0"/>
                <a:ea typeface="华文中宋" panose="02010600040101010101" pitchFamily="2" charset="-122"/>
              </a:endParaRPr>
            </a:p>
          </p:txBody>
        </p:sp>
        <p:grpSp>
          <p:nvGrpSpPr>
            <p:cNvPr id="19" name="组合 18"/>
            <p:cNvGrpSpPr/>
            <p:nvPr/>
          </p:nvGrpSpPr>
          <p:grpSpPr>
            <a:xfrm>
              <a:off x="3263900" y="4796790"/>
              <a:ext cx="1734820" cy="1137920"/>
              <a:chOff x="5056" y="7512"/>
              <a:chExt cx="2732" cy="1792"/>
            </a:xfrm>
          </p:grpSpPr>
          <p:sp>
            <p:nvSpPr>
              <p:cNvPr id="16" name="矩形 15"/>
              <p:cNvSpPr/>
              <p:nvPr/>
            </p:nvSpPr>
            <p:spPr>
              <a:xfrm>
                <a:off x="5056" y="7512"/>
                <a:ext cx="143" cy="179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" name="矩形 16"/>
              <p:cNvSpPr/>
              <p:nvPr/>
            </p:nvSpPr>
            <p:spPr>
              <a:xfrm>
                <a:off x="7646" y="7512"/>
                <a:ext cx="143" cy="179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" name="矩形 17"/>
              <p:cNvSpPr/>
              <p:nvPr/>
            </p:nvSpPr>
            <p:spPr>
              <a:xfrm>
                <a:off x="5198" y="9162"/>
                <a:ext cx="2438" cy="13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20" name="组合 19"/>
            <p:cNvGrpSpPr/>
            <p:nvPr/>
          </p:nvGrpSpPr>
          <p:grpSpPr>
            <a:xfrm rot="10800000">
              <a:off x="3269615" y="1682750"/>
              <a:ext cx="1734820" cy="1137920"/>
              <a:chOff x="5056" y="7512"/>
              <a:chExt cx="2732" cy="1792"/>
            </a:xfrm>
          </p:grpSpPr>
          <p:sp>
            <p:nvSpPr>
              <p:cNvPr id="21" name="矩形 20"/>
              <p:cNvSpPr/>
              <p:nvPr/>
            </p:nvSpPr>
            <p:spPr>
              <a:xfrm>
                <a:off x="5056" y="7512"/>
                <a:ext cx="143" cy="179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" name="矩形 21"/>
              <p:cNvSpPr/>
              <p:nvPr/>
            </p:nvSpPr>
            <p:spPr>
              <a:xfrm>
                <a:off x="7646" y="7512"/>
                <a:ext cx="143" cy="179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" name="矩形 22"/>
              <p:cNvSpPr/>
              <p:nvPr/>
            </p:nvSpPr>
            <p:spPr>
              <a:xfrm>
                <a:off x="5198" y="9162"/>
                <a:ext cx="2438" cy="13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</p:grpSp>
      <p:sp>
        <p:nvSpPr>
          <p:cNvPr id="7" name="文本框 6"/>
          <p:cNvSpPr txBox="1"/>
          <p:nvPr/>
        </p:nvSpPr>
        <p:spPr>
          <a:xfrm>
            <a:off x="6186420" y="1014171"/>
            <a:ext cx="3112870" cy="707886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571500" indent="-571500">
              <a:buFont typeface="Wingdings" panose="05000000000000000000" pitchFamily="2" charset="2"/>
              <a:buChar char="Ø"/>
            </a:pPr>
            <a:r>
              <a:rPr lang="zh-CN" altLang="en-US" sz="4000">
                <a:solidFill>
                  <a:schemeClr val="tx2">
                    <a:lumMod val="75000"/>
                    <a:lumOff val="25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课题概述</a:t>
            </a: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E25FE752-5C58-1213-81E7-4EBE80162276}"/>
              </a:ext>
            </a:extLst>
          </p:cNvPr>
          <p:cNvSpPr txBox="1"/>
          <p:nvPr/>
        </p:nvSpPr>
        <p:spPr>
          <a:xfrm>
            <a:off x="6186420" y="2121225"/>
            <a:ext cx="3112870" cy="707886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571500" indent="-571500">
              <a:buFont typeface="Wingdings" panose="05000000000000000000" pitchFamily="2" charset="2"/>
              <a:buChar char="Ø"/>
            </a:pPr>
            <a:r>
              <a:rPr lang="zh-CN" altLang="en-US" sz="4000">
                <a:solidFill>
                  <a:schemeClr val="tx2">
                    <a:lumMod val="75000"/>
                    <a:lumOff val="25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项目结构</a:t>
            </a: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26560D94-2051-E6E9-A0FD-4AD3EA7CFE16}"/>
              </a:ext>
            </a:extLst>
          </p:cNvPr>
          <p:cNvSpPr txBox="1"/>
          <p:nvPr/>
        </p:nvSpPr>
        <p:spPr>
          <a:xfrm>
            <a:off x="6186420" y="3228279"/>
            <a:ext cx="3112870" cy="707886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571500" indent="-571500">
              <a:buFont typeface="Wingdings" panose="05000000000000000000" pitchFamily="2" charset="2"/>
              <a:buChar char="Ø"/>
            </a:pPr>
            <a:r>
              <a:rPr lang="zh-CN" altLang="en-US" sz="4000">
                <a:solidFill>
                  <a:schemeClr val="tx2">
                    <a:lumMod val="75000"/>
                    <a:lumOff val="25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实验过程</a:t>
            </a:r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B9B4B0DB-8BB1-843F-1C54-791777F3137A}"/>
              </a:ext>
            </a:extLst>
          </p:cNvPr>
          <p:cNvSpPr txBox="1"/>
          <p:nvPr/>
        </p:nvSpPr>
        <p:spPr>
          <a:xfrm>
            <a:off x="6186420" y="4335333"/>
            <a:ext cx="6066622" cy="707886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571500" indent="-571500">
              <a:buFont typeface="Wingdings" panose="05000000000000000000" pitchFamily="2" charset="2"/>
              <a:buChar char="Ø"/>
            </a:pPr>
            <a:r>
              <a:rPr lang="zh-CN" altLang="en-US" sz="4000">
                <a:solidFill>
                  <a:schemeClr val="tx2">
                    <a:lumMod val="75000"/>
                    <a:lumOff val="25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实验结果与结论</a:t>
            </a:r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9C6E0942-1125-3FBB-BA47-2819B7D2D73E}"/>
              </a:ext>
            </a:extLst>
          </p:cNvPr>
          <p:cNvSpPr txBox="1"/>
          <p:nvPr/>
        </p:nvSpPr>
        <p:spPr>
          <a:xfrm>
            <a:off x="6186420" y="5442387"/>
            <a:ext cx="3112870" cy="707886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571500" indent="-571500">
              <a:buFont typeface="Wingdings" panose="05000000000000000000" pitchFamily="2" charset="2"/>
              <a:buChar char="Ø"/>
            </a:pPr>
            <a:r>
              <a:rPr lang="zh-CN" altLang="en-US" sz="4000">
                <a:solidFill>
                  <a:schemeClr val="tx2">
                    <a:lumMod val="75000"/>
                    <a:lumOff val="25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小组分工</a:t>
            </a:r>
          </a:p>
        </p:txBody>
      </p:sp>
      <p:sp>
        <p:nvSpPr>
          <p:cNvPr id="35" name="椭圆 34">
            <a:extLst>
              <a:ext uri="{FF2B5EF4-FFF2-40B4-BE49-F238E27FC236}">
                <a16:creationId xmlns:a16="http://schemas.microsoft.com/office/drawing/2014/main" id="{2FBCF5B5-B5A4-455B-B97F-18E88E1C03E9}"/>
              </a:ext>
            </a:extLst>
          </p:cNvPr>
          <p:cNvSpPr/>
          <p:nvPr/>
        </p:nvSpPr>
        <p:spPr>
          <a:xfrm>
            <a:off x="-622601" y="4667773"/>
            <a:ext cx="2964999" cy="2964999"/>
          </a:xfrm>
          <a:prstGeom prst="ellipse">
            <a:avLst/>
          </a:prstGeom>
          <a:solidFill>
            <a:srgbClr val="32427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6" name="椭圆 35">
            <a:extLst>
              <a:ext uri="{FF2B5EF4-FFF2-40B4-BE49-F238E27FC236}">
                <a16:creationId xmlns:a16="http://schemas.microsoft.com/office/drawing/2014/main" id="{39AC8301-9510-161D-FEEF-F431D61F01F9}"/>
              </a:ext>
            </a:extLst>
          </p:cNvPr>
          <p:cNvSpPr/>
          <p:nvPr/>
        </p:nvSpPr>
        <p:spPr>
          <a:xfrm>
            <a:off x="673801" y="3598563"/>
            <a:ext cx="637641" cy="637641"/>
          </a:xfrm>
          <a:prstGeom prst="ellipse">
            <a:avLst/>
          </a:prstGeom>
          <a:solidFill>
            <a:srgbClr val="32427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7" name="椭圆 36">
            <a:extLst>
              <a:ext uri="{FF2B5EF4-FFF2-40B4-BE49-F238E27FC236}">
                <a16:creationId xmlns:a16="http://schemas.microsoft.com/office/drawing/2014/main" id="{8660DB20-53EB-C18D-7524-C28FEB8BA3C2}"/>
              </a:ext>
            </a:extLst>
          </p:cNvPr>
          <p:cNvSpPr/>
          <p:nvPr/>
        </p:nvSpPr>
        <p:spPr>
          <a:xfrm>
            <a:off x="1508242" y="4315018"/>
            <a:ext cx="400437" cy="400437"/>
          </a:xfrm>
          <a:prstGeom prst="ellipse">
            <a:avLst/>
          </a:prstGeom>
          <a:solidFill>
            <a:srgbClr val="32427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8" name="椭圆 37">
            <a:extLst>
              <a:ext uri="{FF2B5EF4-FFF2-40B4-BE49-F238E27FC236}">
                <a16:creationId xmlns:a16="http://schemas.microsoft.com/office/drawing/2014/main" id="{BB0D9B69-6AD1-227A-E5A5-801E28A43263}"/>
              </a:ext>
            </a:extLst>
          </p:cNvPr>
          <p:cNvSpPr/>
          <p:nvPr/>
        </p:nvSpPr>
        <p:spPr>
          <a:xfrm>
            <a:off x="2454833" y="3740218"/>
            <a:ext cx="1550036" cy="1550036"/>
          </a:xfrm>
          <a:prstGeom prst="ellipse">
            <a:avLst/>
          </a:prstGeom>
          <a:solidFill>
            <a:srgbClr val="32427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custDataLst>
      <p:tags r:id="rId1"/>
    </p:custData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1933575" y="3660775"/>
            <a:ext cx="8324215" cy="427990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矩形 2"/>
          <p:cNvSpPr/>
          <p:nvPr/>
        </p:nvSpPr>
        <p:spPr>
          <a:xfrm>
            <a:off x="3903713" y="2679383"/>
            <a:ext cx="874395" cy="874395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4800">
                <a:latin typeface="微软雅黑" panose="020B0503020204020204" pitchFamily="34" charset="-122"/>
                <a:ea typeface="微软雅黑" panose="020B0503020204020204" pitchFamily="34" charset="-122"/>
              </a:rPr>
              <a:t>1</a:t>
            </a:r>
          </a:p>
        </p:txBody>
      </p:sp>
      <p:sp>
        <p:nvSpPr>
          <p:cNvPr id="14" name="文本框 13"/>
          <p:cNvSpPr txBox="1"/>
          <p:nvPr/>
        </p:nvSpPr>
        <p:spPr>
          <a:xfrm>
            <a:off x="4778108" y="2596177"/>
            <a:ext cx="3916680" cy="92333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zh-CN" altLang="en-US" sz="5400" b="1">
                <a:solidFill>
                  <a:schemeClr val="tx2">
                    <a:lumMod val="75000"/>
                    <a:lumOff val="25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课题概述</a:t>
            </a:r>
          </a:p>
        </p:txBody>
      </p:sp>
      <p:cxnSp>
        <p:nvCxnSpPr>
          <p:cNvPr id="32" name="直接连接符 31"/>
          <p:cNvCxnSpPr/>
          <p:nvPr/>
        </p:nvCxnSpPr>
        <p:spPr>
          <a:xfrm>
            <a:off x="2157095" y="3874770"/>
            <a:ext cx="787781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" name="组合 3">
            <a:extLst>
              <a:ext uri="{FF2B5EF4-FFF2-40B4-BE49-F238E27FC236}">
                <a16:creationId xmlns:a16="http://schemas.microsoft.com/office/drawing/2014/main" id="{3FC41E73-E696-1B9B-DF68-1722D0B3B147}"/>
              </a:ext>
            </a:extLst>
          </p:cNvPr>
          <p:cNvGrpSpPr/>
          <p:nvPr/>
        </p:nvGrpSpPr>
        <p:grpSpPr>
          <a:xfrm>
            <a:off x="0" y="-17780"/>
            <a:ext cx="1593850" cy="6095365"/>
            <a:chOff x="0" y="-17780"/>
            <a:chExt cx="1593850" cy="6095365"/>
          </a:xfrm>
        </p:grpSpPr>
        <p:sp>
          <p:nvSpPr>
            <p:cNvPr id="24" name="等腰三角形 23"/>
            <p:cNvSpPr/>
            <p:nvPr/>
          </p:nvSpPr>
          <p:spPr>
            <a:xfrm rot="10800000">
              <a:off x="0" y="-17780"/>
              <a:ext cx="1593850" cy="1210945"/>
            </a:xfrm>
            <a:prstGeom prst="triangle">
              <a:avLst/>
            </a:prstGeom>
            <a:solidFill>
              <a:schemeClr val="tx2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33" name="直接连接符 32"/>
            <p:cNvCxnSpPr/>
            <p:nvPr/>
          </p:nvCxnSpPr>
          <p:spPr>
            <a:xfrm>
              <a:off x="200025" y="2540"/>
              <a:ext cx="0" cy="6075045"/>
            </a:xfrm>
            <a:prstGeom prst="line">
              <a:avLst/>
            </a:prstGeom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直接连接符 33"/>
            <p:cNvCxnSpPr/>
            <p:nvPr/>
          </p:nvCxnSpPr>
          <p:spPr>
            <a:xfrm>
              <a:off x="409575" y="348615"/>
              <a:ext cx="0" cy="4763135"/>
            </a:xfrm>
            <a:prstGeom prst="line">
              <a:avLst/>
            </a:prstGeom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直接连接符 36"/>
            <p:cNvCxnSpPr/>
            <p:nvPr/>
          </p:nvCxnSpPr>
          <p:spPr>
            <a:xfrm>
              <a:off x="628015" y="576580"/>
              <a:ext cx="0" cy="3105150"/>
            </a:xfrm>
            <a:prstGeom prst="line">
              <a:avLst/>
            </a:prstGeom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" name="组合 4">
            <a:extLst>
              <a:ext uri="{FF2B5EF4-FFF2-40B4-BE49-F238E27FC236}">
                <a16:creationId xmlns:a16="http://schemas.microsoft.com/office/drawing/2014/main" id="{3C4DAB68-012D-6D3A-1BBC-850CD14F3125}"/>
              </a:ext>
            </a:extLst>
          </p:cNvPr>
          <p:cNvGrpSpPr/>
          <p:nvPr/>
        </p:nvGrpSpPr>
        <p:grpSpPr>
          <a:xfrm flipH="1">
            <a:off x="10598150" y="0"/>
            <a:ext cx="1593850" cy="6095365"/>
            <a:chOff x="0" y="-17780"/>
            <a:chExt cx="1593850" cy="6095365"/>
          </a:xfrm>
        </p:grpSpPr>
        <p:sp>
          <p:nvSpPr>
            <p:cNvPr id="6" name="等腰三角形 5">
              <a:extLst>
                <a:ext uri="{FF2B5EF4-FFF2-40B4-BE49-F238E27FC236}">
                  <a16:creationId xmlns:a16="http://schemas.microsoft.com/office/drawing/2014/main" id="{817E435F-C114-793C-3DDA-7F94390B42CF}"/>
                </a:ext>
              </a:extLst>
            </p:cNvPr>
            <p:cNvSpPr/>
            <p:nvPr/>
          </p:nvSpPr>
          <p:spPr>
            <a:xfrm rot="10800000">
              <a:off x="0" y="-17780"/>
              <a:ext cx="1593850" cy="1210945"/>
            </a:xfrm>
            <a:prstGeom prst="triangle">
              <a:avLst/>
            </a:prstGeom>
            <a:solidFill>
              <a:schemeClr val="tx2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7" name="直接连接符 6">
              <a:extLst>
                <a:ext uri="{FF2B5EF4-FFF2-40B4-BE49-F238E27FC236}">
                  <a16:creationId xmlns:a16="http://schemas.microsoft.com/office/drawing/2014/main" id="{F7898038-EF49-FBEE-0FFC-C5BB598055F8}"/>
                </a:ext>
              </a:extLst>
            </p:cNvPr>
            <p:cNvCxnSpPr/>
            <p:nvPr/>
          </p:nvCxnSpPr>
          <p:spPr>
            <a:xfrm>
              <a:off x="200025" y="2540"/>
              <a:ext cx="0" cy="6075045"/>
            </a:xfrm>
            <a:prstGeom prst="line">
              <a:avLst/>
            </a:prstGeom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直接连接符 7">
              <a:extLst>
                <a:ext uri="{FF2B5EF4-FFF2-40B4-BE49-F238E27FC236}">
                  <a16:creationId xmlns:a16="http://schemas.microsoft.com/office/drawing/2014/main" id="{CDAB24DD-6E19-B5E2-6242-AA569DCFC750}"/>
                </a:ext>
              </a:extLst>
            </p:cNvPr>
            <p:cNvCxnSpPr/>
            <p:nvPr/>
          </p:nvCxnSpPr>
          <p:spPr>
            <a:xfrm>
              <a:off x="409575" y="348615"/>
              <a:ext cx="0" cy="4763135"/>
            </a:xfrm>
            <a:prstGeom prst="line">
              <a:avLst/>
            </a:prstGeom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直接连接符 8">
              <a:extLst>
                <a:ext uri="{FF2B5EF4-FFF2-40B4-BE49-F238E27FC236}">
                  <a16:creationId xmlns:a16="http://schemas.microsoft.com/office/drawing/2014/main" id="{DA63B20D-4ACF-967B-3F6B-69F75BA59E2D}"/>
                </a:ext>
              </a:extLst>
            </p:cNvPr>
            <p:cNvCxnSpPr/>
            <p:nvPr/>
          </p:nvCxnSpPr>
          <p:spPr>
            <a:xfrm>
              <a:off x="628015" y="576580"/>
              <a:ext cx="0" cy="3105150"/>
            </a:xfrm>
            <a:prstGeom prst="line">
              <a:avLst/>
            </a:prstGeom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custDataLst>
      <p:tags r:id="rId1"/>
    </p:custData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1DF6DC-26F0-C637-C427-0CFF929B59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" name="组合 24">
            <a:extLst>
              <a:ext uri="{FF2B5EF4-FFF2-40B4-BE49-F238E27FC236}">
                <a16:creationId xmlns:a16="http://schemas.microsoft.com/office/drawing/2014/main" id="{6132503D-962F-32D0-DB3E-F677B5E17EA9}"/>
              </a:ext>
            </a:extLst>
          </p:cNvPr>
          <p:cNvGrpSpPr/>
          <p:nvPr/>
        </p:nvGrpSpPr>
        <p:grpSpPr>
          <a:xfrm>
            <a:off x="-12700" y="-13335"/>
            <a:ext cx="3762375" cy="874395"/>
            <a:chOff x="-12700" y="-13335"/>
            <a:chExt cx="3762375" cy="874395"/>
          </a:xfrm>
        </p:grpSpPr>
        <p:sp>
          <p:nvSpPr>
            <p:cNvPr id="5" name="矩形 4">
              <a:extLst>
                <a:ext uri="{FF2B5EF4-FFF2-40B4-BE49-F238E27FC236}">
                  <a16:creationId xmlns:a16="http://schemas.microsoft.com/office/drawing/2014/main" id="{FD3A0BD0-4840-3088-71AD-2F68699F198C}"/>
                </a:ext>
              </a:extLst>
            </p:cNvPr>
            <p:cNvSpPr/>
            <p:nvPr/>
          </p:nvSpPr>
          <p:spPr>
            <a:xfrm>
              <a:off x="-12700" y="784860"/>
              <a:ext cx="3762375" cy="76200"/>
            </a:xfrm>
            <a:prstGeom prst="rect">
              <a:avLst/>
            </a:prstGeom>
            <a:solidFill>
              <a:schemeClr val="tx2">
                <a:lumMod val="75000"/>
                <a:lumOff val="2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" name="矩形 2">
              <a:extLst>
                <a:ext uri="{FF2B5EF4-FFF2-40B4-BE49-F238E27FC236}">
                  <a16:creationId xmlns:a16="http://schemas.microsoft.com/office/drawing/2014/main" id="{9001313F-C381-124A-5B6C-798640FAAC8F}"/>
                </a:ext>
              </a:extLst>
            </p:cNvPr>
            <p:cNvSpPr/>
            <p:nvPr/>
          </p:nvSpPr>
          <p:spPr>
            <a:xfrm>
              <a:off x="-12700" y="-13335"/>
              <a:ext cx="874395" cy="874395"/>
            </a:xfrm>
            <a:prstGeom prst="rect">
              <a:avLst/>
            </a:prstGeom>
            <a:solidFill>
              <a:schemeClr val="tx2">
                <a:lumMod val="75000"/>
                <a:lumOff val="2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4800">
                  <a:latin typeface="微软雅黑" panose="020B0503020204020204" pitchFamily="34" charset="-122"/>
                  <a:ea typeface="微软雅黑" panose="020B0503020204020204" pitchFamily="34" charset="-122"/>
                </a:rPr>
                <a:t>1</a:t>
              </a:r>
            </a:p>
          </p:txBody>
        </p:sp>
        <p:sp>
          <p:nvSpPr>
            <p:cNvPr id="14" name="文本框 13">
              <a:extLst>
                <a:ext uri="{FF2B5EF4-FFF2-40B4-BE49-F238E27FC236}">
                  <a16:creationId xmlns:a16="http://schemas.microsoft.com/office/drawing/2014/main" id="{37820FC6-ECDB-8480-FAA1-09B795787D48}"/>
                </a:ext>
              </a:extLst>
            </p:cNvPr>
            <p:cNvSpPr txBox="1"/>
            <p:nvPr/>
          </p:nvSpPr>
          <p:spPr>
            <a:xfrm>
              <a:off x="861695" y="0"/>
              <a:ext cx="2887980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4800" b="1">
                  <a:solidFill>
                    <a:schemeClr val="tx2">
                      <a:lumMod val="75000"/>
                      <a:lumOff val="25000"/>
                    </a:schemeClr>
                  </a:solidFill>
                  <a:latin typeface="华文中宋" panose="02010600040101010101" pitchFamily="2" charset="-122"/>
                  <a:ea typeface="华文中宋" panose="02010600040101010101" pitchFamily="2" charset="-122"/>
                </a:rPr>
                <a:t>课题概述</a:t>
              </a:r>
            </a:p>
          </p:txBody>
        </p:sp>
      </p:grpSp>
      <p:grpSp>
        <p:nvGrpSpPr>
          <p:cNvPr id="16" name="组合 15">
            <a:extLst>
              <a:ext uri="{FF2B5EF4-FFF2-40B4-BE49-F238E27FC236}">
                <a16:creationId xmlns:a16="http://schemas.microsoft.com/office/drawing/2014/main" id="{91582667-BC46-A5EA-25DE-DDFD422074F9}"/>
              </a:ext>
            </a:extLst>
          </p:cNvPr>
          <p:cNvGrpSpPr/>
          <p:nvPr/>
        </p:nvGrpSpPr>
        <p:grpSpPr>
          <a:xfrm>
            <a:off x="861695" y="1154538"/>
            <a:ext cx="4901799" cy="5114645"/>
            <a:chOff x="3756602" y="1237665"/>
            <a:chExt cx="4901799" cy="5114645"/>
          </a:xfrm>
        </p:grpSpPr>
        <p:grpSp>
          <p:nvGrpSpPr>
            <p:cNvPr id="2" name="组合 1">
              <a:extLst>
                <a:ext uri="{FF2B5EF4-FFF2-40B4-BE49-F238E27FC236}">
                  <a16:creationId xmlns:a16="http://schemas.microsoft.com/office/drawing/2014/main" id="{1BD4A0A6-1790-ACBB-803B-CECA7F9A8788}"/>
                </a:ext>
              </a:extLst>
            </p:cNvPr>
            <p:cNvGrpSpPr/>
            <p:nvPr/>
          </p:nvGrpSpPr>
          <p:grpSpPr>
            <a:xfrm>
              <a:off x="3756602" y="1237665"/>
              <a:ext cx="4901799" cy="5114645"/>
              <a:chOff x="3201664" y="1914282"/>
              <a:chExt cx="7576826" cy="3823578"/>
            </a:xfrm>
          </p:grpSpPr>
          <p:sp>
            <p:nvSpPr>
              <p:cNvPr id="8" name="矩形 7">
                <a:extLst>
                  <a:ext uri="{FF2B5EF4-FFF2-40B4-BE49-F238E27FC236}">
                    <a16:creationId xmlns:a16="http://schemas.microsoft.com/office/drawing/2014/main" id="{6972625F-BB3D-34D1-7521-AF8AD401E68A}"/>
                  </a:ext>
                </a:extLst>
              </p:cNvPr>
              <p:cNvSpPr/>
              <p:nvPr/>
            </p:nvSpPr>
            <p:spPr>
              <a:xfrm>
                <a:off x="3201670" y="2395220"/>
                <a:ext cx="100330" cy="3342640"/>
              </a:xfrm>
              <a:prstGeom prst="rect">
                <a:avLst/>
              </a:prstGeom>
              <a:solidFill>
                <a:schemeClr val="tx2">
                  <a:lumMod val="75000"/>
                  <a:lumOff val="25000"/>
                </a:schemeClr>
              </a:solidFill>
              <a:ln w="6350">
                <a:solidFill>
                  <a:srgbClr val="324273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" name="矩形 8">
                <a:extLst>
                  <a:ext uri="{FF2B5EF4-FFF2-40B4-BE49-F238E27FC236}">
                    <a16:creationId xmlns:a16="http://schemas.microsoft.com/office/drawing/2014/main" id="{B75AEBD1-3645-766F-BD8C-509A811A9D7A}"/>
                  </a:ext>
                </a:extLst>
              </p:cNvPr>
              <p:cNvSpPr/>
              <p:nvPr/>
            </p:nvSpPr>
            <p:spPr>
              <a:xfrm>
                <a:off x="10678160" y="2395220"/>
                <a:ext cx="100330" cy="3342640"/>
              </a:xfrm>
              <a:prstGeom prst="rect">
                <a:avLst/>
              </a:prstGeom>
              <a:solidFill>
                <a:schemeClr val="tx2">
                  <a:lumMod val="75000"/>
                  <a:lumOff val="25000"/>
                </a:schemeClr>
              </a:solidFill>
              <a:ln w="6350">
                <a:solidFill>
                  <a:srgbClr val="324273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" name="矩形 9">
                <a:extLst>
                  <a:ext uri="{FF2B5EF4-FFF2-40B4-BE49-F238E27FC236}">
                    <a16:creationId xmlns:a16="http://schemas.microsoft.com/office/drawing/2014/main" id="{C28627D4-941A-00AE-03E8-7D7B0CC4C0B7}"/>
                  </a:ext>
                </a:extLst>
              </p:cNvPr>
              <p:cNvSpPr/>
              <p:nvPr/>
            </p:nvSpPr>
            <p:spPr>
              <a:xfrm rot="5400000">
                <a:off x="4822825" y="673735"/>
                <a:ext cx="100330" cy="3342640"/>
              </a:xfrm>
              <a:prstGeom prst="rect">
                <a:avLst/>
              </a:prstGeom>
              <a:solidFill>
                <a:schemeClr val="tx2">
                  <a:lumMod val="75000"/>
                  <a:lumOff val="25000"/>
                </a:schemeClr>
              </a:solidFill>
              <a:ln w="6350">
                <a:solidFill>
                  <a:srgbClr val="324273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" name="矩形 10">
                <a:extLst>
                  <a:ext uri="{FF2B5EF4-FFF2-40B4-BE49-F238E27FC236}">
                    <a16:creationId xmlns:a16="http://schemas.microsoft.com/office/drawing/2014/main" id="{A83372DF-717F-68DE-6B6D-D8B7A426ED6D}"/>
                  </a:ext>
                </a:extLst>
              </p:cNvPr>
              <p:cNvSpPr/>
              <p:nvPr/>
            </p:nvSpPr>
            <p:spPr>
              <a:xfrm rot="5400000">
                <a:off x="8956675" y="4016375"/>
                <a:ext cx="100330" cy="3342640"/>
              </a:xfrm>
              <a:prstGeom prst="rect">
                <a:avLst/>
              </a:prstGeom>
              <a:solidFill>
                <a:schemeClr val="tx2">
                  <a:lumMod val="75000"/>
                  <a:lumOff val="25000"/>
                </a:schemeClr>
              </a:solidFill>
              <a:ln w="6350">
                <a:solidFill>
                  <a:srgbClr val="324273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" name="文本框 14">
                <a:extLst>
                  <a:ext uri="{FF2B5EF4-FFF2-40B4-BE49-F238E27FC236}">
                    <a16:creationId xmlns:a16="http://schemas.microsoft.com/office/drawing/2014/main" id="{63241292-B850-4FC5-F0AB-312C925C241A}"/>
                  </a:ext>
                </a:extLst>
              </p:cNvPr>
              <p:cNvSpPr txBox="1"/>
              <p:nvPr/>
            </p:nvSpPr>
            <p:spPr>
              <a:xfrm>
                <a:off x="3201664" y="1914282"/>
                <a:ext cx="3342641" cy="391146"/>
              </a:xfrm>
              <a:prstGeom prst="rect">
                <a:avLst/>
              </a:prstGeom>
              <a:noFill/>
              <a:ln w="19050">
                <a:solidFill>
                  <a:schemeClr val="tx2">
                    <a:lumMod val="75000"/>
                    <a:lumOff val="25000"/>
                  </a:schemeClr>
                </a:solidFill>
              </a:ln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zh-CN" altLang="en-US" sz="2800" b="1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华文中宋" panose="02010600040101010101" pitchFamily="2" charset="-122"/>
                    <a:ea typeface="华文中宋" panose="02010600040101010101" pitchFamily="2" charset="-122"/>
                    <a:cs typeface="微软雅黑" panose="020B0503020204020204" pitchFamily="34" charset="-122"/>
                  </a:rPr>
                  <a:t>主题选择</a:t>
                </a:r>
                <a:endParaRPr lang="en-US" altLang="zh-CN" sz="2800" b="1">
                  <a:solidFill>
                    <a:schemeClr val="tx2">
                      <a:lumMod val="75000"/>
                      <a:lumOff val="25000"/>
                    </a:schemeClr>
                  </a:solidFill>
                  <a:latin typeface="华文中宋" panose="02010600040101010101" pitchFamily="2" charset="-122"/>
                  <a:ea typeface="华文中宋" panose="02010600040101010101" pitchFamily="2" charset="-122"/>
                  <a:cs typeface="微软雅黑" panose="020B0503020204020204" pitchFamily="34" charset="-122"/>
                </a:endParaRPr>
              </a:p>
            </p:txBody>
          </p:sp>
        </p:grpSp>
        <p:sp>
          <p:nvSpPr>
            <p:cNvPr id="7" name="文本框 6">
              <a:extLst>
                <a:ext uri="{FF2B5EF4-FFF2-40B4-BE49-F238E27FC236}">
                  <a16:creationId xmlns:a16="http://schemas.microsoft.com/office/drawing/2014/main" id="{24E2E0F9-D960-ED9F-154C-7B6D233345B2}"/>
                </a:ext>
              </a:extLst>
            </p:cNvPr>
            <p:cNvSpPr txBox="1"/>
            <p:nvPr/>
          </p:nvSpPr>
          <p:spPr>
            <a:xfrm>
              <a:off x="4117754" y="2270008"/>
              <a:ext cx="4179488" cy="335091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indent="457200" algn="just">
                <a:lnSpc>
                  <a:spcPct val="150000"/>
                </a:lnSpc>
              </a:pPr>
              <a:r>
                <a:rPr lang="zh-CN" altLang="en-US" sz="2400">
                  <a:solidFill>
                    <a:schemeClr val="tx2">
                      <a:lumMod val="75000"/>
                      <a:lumOff val="25000"/>
                    </a:schemeClr>
                  </a:solidFill>
                  <a:latin typeface="华文中宋" panose="02010600040101010101" pitchFamily="2" charset="-122"/>
                  <a:ea typeface="华文中宋" panose="02010600040101010101" pitchFamily="2" charset="-122"/>
                </a:rPr>
                <a:t>我们选择了第</a:t>
              </a:r>
              <a:r>
                <a:rPr lang="en-US" altLang="zh-CN" sz="2400">
                  <a:solidFill>
                    <a:schemeClr val="tx2">
                      <a:lumMod val="75000"/>
                      <a:lumOff val="25000"/>
                    </a:schemeClr>
                  </a:solidFill>
                  <a:latin typeface="华文中宋" panose="02010600040101010101" pitchFamily="2" charset="-122"/>
                  <a:ea typeface="华文中宋" panose="02010600040101010101" pitchFamily="2" charset="-122"/>
                </a:rPr>
                <a:t>1</a:t>
              </a:r>
              <a:r>
                <a:rPr lang="zh-CN" altLang="en-US" sz="2400">
                  <a:solidFill>
                    <a:schemeClr val="tx2">
                      <a:lumMod val="75000"/>
                      <a:lumOff val="25000"/>
                    </a:schemeClr>
                  </a:solidFill>
                  <a:latin typeface="华文中宋" panose="02010600040101010101" pitchFamily="2" charset="-122"/>
                  <a:ea typeface="华文中宋" panose="02010600040101010101" pitchFamily="2" charset="-122"/>
                </a:rPr>
                <a:t>个主题：算法改进类。我们希望在某一个</a:t>
              </a:r>
              <a:r>
                <a:rPr lang="en-US" altLang="zh-CN" sz="2400">
                  <a:solidFill>
                    <a:schemeClr val="tx2">
                      <a:lumMod val="75000"/>
                      <a:lumOff val="25000"/>
                    </a:schemeClr>
                  </a:solidFill>
                  <a:latin typeface="华文中宋" panose="02010600040101010101" pitchFamily="2" charset="-122"/>
                  <a:ea typeface="华文中宋" panose="02010600040101010101" pitchFamily="2" charset="-122"/>
                </a:rPr>
                <a:t>NP</a:t>
              </a:r>
              <a:r>
                <a:rPr lang="zh-CN" altLang="en-US" sz="2400">
                  <a:solidFill>
                    <a:schemeClr val="tx2">
                      <a:lumMod val="75000"/>
                      <a:lumOff val="25000"/>
                    </a:schemeClr>
                  </a:solidFill>
                  <a:latin typeface="华文中宋" panose="02010600040101010101" pitchFamily="2" charset="-122"/>
                  <a:ea typeface="华文中宋" panose="02010600040101010101" pitchFamily="2" charset="-122"/>
                </a:rPr>
                <a:t>难问题上，通过不同的算法策略，以及针对某一算法策略进行改进，以得到更好的性能与更准确的结果。</a:t>
              </a:r>
            </a:p>
          </p:txBody>
        </p:sp>
      </p:grpSp>
      <p:grpSp>
        <p:nvGrpSpPr>
          <p:cNvPr id="17" name="组合 16">
            <a:extLst>
              <a:ext uri="{FF2B5EF4-FFF2-40B4-BE49-F238E27FC236}">
                <a16:creationId xmlns:a16="http://schemas.microsoft.com/office/drawing/2014/main" id="{32B3607B-ED81-AB21-4F07-1F71AE3614F5}"/>
              </a:ext>
            </a:extLst>
          </p:cNvPr>
          <p:cNvGrpSpPr/>
          <p:nvPr/>
        </p:nvGrpSpPr>
        <p:grpSpPr>
          <a:xfrm>
            <a:off x="6428508" y="1154538"/>
            <a:ext cx="4901799" cy="5114645"/>
            <a:chOff x="3756602" y="1237665"/>
            <a:chExt cx="4901799" cy="5114645"/>
          </a:xfrm>
        </p:grpSpPr>
        <p:grpSp>
          <p:nvGrpSpPr>
            <p:cNvPr id="18" name="组合 17">
              <a:extLst>
                <a:ext uri="{FF2B5EF4-FFF2-40B4-BE49-F238E27FC236}">
                  <a16:creationId xmlns:a16="http://schemas.microsoft.com/office/drawing/2014/main" id="{BB451057-AFDD-3442-D613-3B4F8DB8D07C}"/>
                </a:ext>
              </a:extLst>
            </p:cNvPr>
            <p:cNvGrpSpPr/>
            <p:nvPr/>
          </p:nvGrpSpPr>
          <p:grpSpPr>
            <a:xfrm>
              <a:off x="3756602" y="1237665"/>
              <a:ext cx="4901799" cy="5114645"/>
              <a:chOff x="3201664" y="1914282"/>
              <a:chExt cx="7576826" cy="3823578"/>
            </a:xfrm>
          </p:grpSpPr>
          <p:sp>
            <p:nvSpPr>
              <p:cNvPr id="20" name="矩形 19">
                <a:extLst>
                  <a:ext uri="{FF2B5EF4-FFF2-40B4-BE49-F238E27FC236}">
                    <a16:creationId xmlns:a16="http://schemas.microsoft.com/office/drawing/2014/main" id="{96B2A680-E930-4C27-A50C-9903AD080C88}"/>
                  </a:ext>
                </a:extLst>
              </p:cNvPr>
              <p:cNvSpPr/>
              <p:nvPr/>
            </p:nvSpPr>
            <p:spPr>
              <a:xfrm>
                <a:off x="3201670" y="2395220"/>
                <a:ext cx="100330" cy="3342640"/>
              </a:xfrm>
              <a:prstGeom prst="rect">
                <a:avLst/>
              </a:prstGeom>
              <a:solidFill>
                <a:schemeClr val="tx2">
                  <a:lumMod val="75000"/>
                  <a:lumOff val="25000"/>
                </a:schemeClr>
              </a:solidFill>
              <a:ln w="6350">
                <a:solidFill>
                  <a:srgbClr val="324273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" name="矩形 20">
                <a:extLst>
                  <a:ext uri="{FF2B5EF4-FFF2-40B4-BE49-F238E27FC236}">
                    <a16:creationId xmlns:a16="http://schemas.microsoft.com/office/drawing/2014/main" id="{9C2D55F9-8B88-CE16-ACB9-C336EB92FFA3}"/>
                  </a:ext>
                </a:extLst>
              </p:cNvPr>
              <p:cNvSpPr/>
              <p:nvPr/>
            </p:nvSpPr>
            <p:spPr>
              <a:xfrm>
                <a:off x="10678160" y="2395220"/>
                <a:ext cx="100330" cy="3342640"/>
              </a:xfrm>
              <a:prstGeom prst="rect">
                <a:avLst/>
              </a:prstGeom>
              <a:solidFill>
                <a:schemeClr val="tx2">
                  <a:lumMod val="75000"/>
                  <a:lumOff val="25000"/>
                </a:schemeClr>
              </a:solidFill>
              <a:ln w="6350">
                <a:solidFill>
                  <a:srgbClr val="324273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" name="矩形 21">
                <a:extLst>
                  <a:ext uri="{FF2B5EF4-FFF2-40B4-BE49-F238E27FC236}">
                    <a16:creationId xmlns:a16="http://schemas.microsoft.com/office/drawing/2014/main" id="{C5105E90-62F5-15A4-95E4-2B8A7983FA48}"/>
                  </a:ext>
                </a:extLst>
              </p:cNvPr>
              <p:cNvSpPr/>
              <p:nvPr/>
            </p:nvSpPr>
            <p:spPr>
              <a:xfrm rot="5400000">
                <a:off x="4822825" y="673735"/>
                <a:ext cx="100330" cy="3342640"/>
              </a:xfrm>
              <a:prstGeom prst="rect">
                <a:avLst/>
              </a:prstGeom>
              <a:solidFill>
                <a:schemeClr val="tx2">
                  <a:lumMod val="75000"/>
                  <a:lumOff val="25000"/>
                </a:schemeClr>
              </a:solidFill>
              <a:ln w="6350">
                <a:solidFill>
                  <a:srgbClr val="324273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" name="矩形 22">
                <a:extLst>
                  <a:ext uri="{FF2B5EF4-FFF2-40B4-BE49-F238E27FC236}">
                    <a16:creationId xmlns:a16="http://schemas.microsoft.com/office/drawing/2014/main" id="{721D68F6-D4D8-A5B3-9107-C650C5B19D13}"/>
                  </a:ext>
                </a:extLst>
              </p:cNvPr>
              <p:cNvSpPr/>
              <p:nvPr/>
            </p:nvSpPr>
            <p:spPr>
              <a:xfrm rot="5400000">
                <a:off x="8956675" y="4016375"/>
                <a:ext cx="100330" cy="3342640"/>
              </a:xfrm>
              <a:prstGeom prst="rect">
                <a:avLst/>
              </a:prstGeom>
              <a:solidFill>
                <a:schemeClr val="tx2">
                  <a:lumMod val="75000"/>
                  <a:lumOff val="25000"/>
                </a:schemeClr>
              </a:solidFill>
              <a:ln w="6350">
                <a:solidFill>
                  <a:srgbClr val="324273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" name="文本框 23">
                <a:extLst>
                  <a:ext uri="{FF2B5EF4-FFF2-40B4-BE49-F238E27FC236}">
                    <a16:creationId xmlns:a16="http://schemas.microsoft.com/office/drawing/2014/main" id="{6F694131-CC42-076B-D925-445BF1684233}"/>
                  </a:ext>
                </a:extLst>
              </p:cNvPr>
              <p:cNvSpPr txBox="1"/>
              <p:nvPr/>
            </p:nvSpPr>
            <p:spPr>
              <a:xfrm>
                <a:off x="3201664" y="1914282"/>
                <a:ext cx="3342641" cy="391146"/>
              </a:xfrm>
              <a:prstGeom prst="rect">
                <a:avLst/>
              </a:prstGeom>
              <a:noFill/>
              <a:ln w="19050">
                <a:solidFill>
                  <a:schemeClr val="tx2">
                    <a:lumMod val="75000"/>
                    <a:lumOff val="25000"/>
                  </a:schemeClr>
                </a:solidFill>
              </a:ln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zh-CN" altLang="en-US" sz="2800" b="1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华文中宋" panose="02010600040101010101" pitchFamily="2" charset="-122"/>
                    <a:ea typeface="华文中宋" panose="02010600040101010101" pitchFamily="2" charset="-122"/>
                    <a:cs typeface="微软雅黑" panose="020B0503020204020204" pitchFamily="34" charset="-122"/>
                  </a:rPr>
                  <a:t>问题选择</a:t>
                </a:r>
                <a:endParaRPr lang="en-US" altLang="zh-CN" sz="2800" b="1">
                  <a:solidFill>
                    <a:schemeClr val="tx2">
                      <a:lumMod val="75000"/>
                      <a:lumOff val="25000"/>
                    </a:schemeClr>
                  </a:solidFill>
                  <a:latin typeface="华文中宋" panose="02010600040101010101" pitchFamily="2" charset="-122"/>
                  <a:ea typeface="华文中宋" panose="02010600040101010101" pitchFamily="2" charset="-122"/>
                  <a:cs typeface="微软雅黑" panose="020B0503020204020204" pitchFamily="34" charset="-122"/>
                </a:endParaRPr>
              </a:p>
            </p:txBody>
          </p:sp>
        </p:grpSp>
        <p:sp>
          <p:nvSpPr>
            <p:cNvPr id="19" name="文本框 18">
              <a:extLst>
                <a:ext uri="{FF2B5EF4-FFF2-40B4-BE49-F238E27FC236}">
                  <a16:creationId xmlns:a16="http://schemas.microsoft.com/office/drawing/2014/main" id="{3F102A5C-5341-56DA-08AA-C39B2B6D1381}"/>
                </a:ext>
              </a:extLst>
            </p:cNvPr>
            <p:cNvSpPr txBox="1"/>
            <p:nvPr/>
          </p:nvSpPr>
          <p:spPr>
            <a:xfrm>
              <a:off x="4117754" y="2374091"/>
              <a:ext cx="4179488" cy="335091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indent="457200" algn="just">
                <a:lnSpc>
                  <a:spcPct val="150000"/>
                </a:lnSpc>
              </a:pPr>
              <a:r>
                <a:rPr lang="zh-CN" altLang="en-US" sz="2400">
                  <a:solidFill>
                    <a:schemeClr val="tx2">
                      <a:lumMod val="75000"/>
                      <a:lumOff val="25000"/>
                    </a:schemeClr>
                  </a:solidFill>
                  <a:latin typeface="华文中宋" panose="02010600040101010101" pitchFamily="2" charset="-122"/>
                  <a:ea typeface="华文中宋" panose="02010600040101010101" pitchFamily="2" charset="-122"/>
                </a:rPr>
                <a:t>我们选择了</a:t>
              </a:r>
              <a:r>
                <a:rPr lang="en-US" altLang="zh-CN" sz="2400">
                  <a:solidFill>
                    <a:schemeClr val="tx2">
                      <a:lumMod val="75000"/>
                      <a:lumOff val="25000"/>
                    </a:schemeClr>
                  </a:solidFill>
                  <a:latin typeface="华文中宋" panose="02010600040101010101" pitchFamily="2" charset="-122"/>
                  <a:ea typeface="华文中宋" panose="02010600040101010101" pitchFamily="2" charset="-122"/>
                </a:rPr>
                <a:t>TSP</a:t>
              </a:r>
              <a:r>
                <a:rPr lang="zh-CN" altLang="en-US" sz="2400">
                  <a:solidFill>
                    <a:schemeClr val="tx2">
                      <a:lumMod val="75000"/>
                      <a:lumOff val="25000"/>
                    </a:schemeClr>
                  </a:solidFill>
                  <a:latin typeface="华文中宋" panose="02010600040101010101" pitchFamily="2" charset="-122"/>
                  <a:ea typeface="华文中宋" panose="02010600040101010101" pitchFamily="2" charset="-122"/>
                </a:rPr>
                <a:t>（旅行商）问题。我们注意到该问题数据集的的大部分数据来源于现实，具有很好的数学性质，而且扩展性强，是个很有研究意义的问题。</a:t>
              </a:r>
            </a:p>
          </p:txBody>
        </p:sp>
      </p:grpSp>
    </p:spTree>
    <p:custDataLst>
      <p:tags r:id="rId1"/>
    </p:custDataLst>
    <p:extLst>
      <p:ext uri="{BB962C8B-B14F-4D97-AF65-F5344CB8AC3E}">
        <p14:creationId xmlns:p14="http://schemas.microsoft.com/office/powerpoint/2010/main" val="2755067211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1D4EC9-11E9-3945-7DFF-0490A31051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" name="组合 24">
            <a:extLst>
              <a:ext uri="{FF2B5EF4-FFF2-40B4-BE49-F238E27FC236}">
                <a16:creationId xmlns:a16="http://schemas.microsoft.com/office/drawing/2014/main" id="{3C7BFDC5-1F9F-E4A6-7AEC-415A9DD03E59}"/>
              </a:ext>
            </a:extLst>
          </p:cNvPr>
          <p:cNvGrpSpPr/>
          <p:nvPr/>
        </p:nvGrpSpPr>
        <p:grpSpPr>
          <a:xfrm>
            <a:off x="-12700" y="-13335"/>
            <a:ext cx="3762375" cy="874395"/>
            <a:chOff x="-12700" y="-13335"/>
            <a:chExt cx="3762375" cy="874395"/>
          </a:xfrm>
        </p:grpSpPr>
        <p:sp>
          <p:nvSpPr>
            <p:cNvPr id="5" name="矩形 4">
              <a:extLst>
                <a:ext uri="{FF2B5EF4-FFF2-40B4-BE49-F238E27FC236}">
                  <a16:creationId xmlns:a16="http://schemas.microsoft.com/office/drawing/2014/main" id="{C6DA288C-DCCC-CD73-DFF8-848FCC05AE0F}"/>
                </a:ext>
              </a:extLst>
            </p:cNvPr>
            <p:cNvSpPr/>
            <p:nvPr/>
          </p:nvSpPr>
          <p:spPr>
            <a:xfrm>
              <a:off x="-12700" y="784860"/>
              <a:ext cx="3762375" cy="76200"/>
            </a:xfrm>
            <a:prstGeom prst="rect">
              <a:avLst/>
            </a:prstGeom>
            <a:solidFill>
              <a:schemeClr val="tx2">
                <a:lumMod val="75000"/>
                <a:lumOff val="2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" name="矩形 2">
              <a:extLst>
                <a:ext uri="{FF2B5EF4-FFF2-40B4-BE49-F238E27FC236}">
                  <a16:creationId xmlns:a16="http://schemas.microsoft.com/office/drawing/2014/main" id="{4DB24D56-F122-7388-15C6-16F37E74155C}"/>
                </a:ext>
              </a:extLst>
            </p:cNvPr>
            <p:cNvSpPr/>
            <p:nvPr/>
          </p:nvSpPr>
          <p:spPr>
            <a:xfrm>
              <a:off x="-12700" y="-13335"/>
              <a:ext cx="874395" cy="874395"/>
            </a:xfrm>
            <a:prstGeom prst="rect">
              <a:avLst/>
            </a:prstGeom>
            <a:solidFill>
              <a:schemeClr val="tx2">
                <a:lumMod val="75000"/>
                <a:lumOff val="2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4800">
                  <a:latin typeface="微软雅黑" panose="020B0503020204020204" pitchFamily="34" charset="-122"/>
                  <a:ea typeface="微软雅黑" panose="020B0503020204020204" pitchFamily="34" charset="-122"/>
                </a:rPr>
                <a:t>1</a:t>
              </a:r>
            </a:p>
          </p:txBody>
        </p:sp>
        <p:sp>
          <p:nvSpPr>
            <p:cNvPr id="14" name="文本框 13">
              <a:extLst>
                <a:ext uri="{FF2B5EF4-FFF2-40B4-BE49-F238E27FC236}">
                  <a16:creationId xmlns:a16="http://schemas.microsoft.com/office/drawing/2014/main" id="{0216B8B6-05C1-F45F-7DC8-56476184ADE8}"/>
                </a:ext>
              </a:extLst>
            </p:cNvPr>
            <p:cNvSpPr txBox="1"/>
            <p:nvPr/>
          </p:nvSpPr>
          <p:spPr>
            <a:xfrm>
              <a:off x="861695" y="0"/>
              <a:ext cx="2887980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4800" b="1">
                  <a:solidFill>
                    <a:schemeClr val="tx2">
                      <a:lumMod val="75000"/>
                      <a:lumOff val="25000"/>
                    </a:schemeClr>
                  </a:solidFill>
                  <a:latin typeface="华文中宋" panose="02010600040101010101" pitchFamily="2" charset="-122"/>
                  <a:ea typeface="华文中宋" panose="02010600040101010101" pitchFamily="2" charset="-122"/>
                </a:rPr>
                <a:t>课题概述</a:t>
              </a:r>
            </a:p>
          </p:txBody>
        </p:sp>
      </p:grpSp>
      <p:grpSp>
        <p:nvGrpSpPr>
          <p:cNvPr id="16" name="组合 15">
            <a:extLst>
              <a:ext uri="{FF2B5EF4-FFF2-40B4-BE49-F238E27FC236}">
                <a16:creationId xmlns:a16="http://schemas.microsoft.com/office/drawing/2014/main" id="{0DCDF4AD-0ABA-19A7-090D-98219F328FE6}"/>
              </a:ext>
            </a:extLst>
          </p:cNvPr>
          <p:cNvGrpSpPr/>
          <p:nvPr/>
        </p:nvGrpSpPr>
        <p:grpSpPr>
          <a:xfrm>
            <a:off x="1549733" y="1440335"/>
            <a:ext cx="9092533" cy="4632805"/>
            <a:chOff x="3756602" y="1237665"/>
            <a:chExt cx="4901799" cy="5114645"/>
          </a:xfrm>
        </p:grpSpPr>
        <p:grpSp>
          <p:nvGrpSpPr>
            <p:cNvPr id="2" name="组合 1">
              <a:extLst>
                <a:ext uri="{FF2B5EF4-FFF2-40B4-BE49-F238E27FC236}">
                  <a16:creationId xmlns:a16="http://schemas.microsoft.com/office/drawing/2014/main" id="{0E656DA3-CCFC-2E60-0157-611503CBC1BC}"/>
                </a:ext>
              </a:extLst>
            </p:cNvPr>
            <p:cNvGrpSpPr/>
            <p:nvPr/>
          </p:nvGrpSpPr>
          <p:grpSpPr>
            <a:xfrm>
              <a:off x="3756602" y="1237665"/>
              <a:ext cx="4901799" cy="5114645"/>
              <a:chOff x="3201664" y="1914282"/>
              <a:chExt cx="7576826" cy="3823578"/>
            </a:xfrm>
          </p:grpSpPr>
          <p:sp>
            <p:nvSpPr>
              <p:cNvPr id="8" name="矩形 7">
                <a:extLst>
                  <a:ext uri="{FF2B5EF4-FFF2-40B4-BE49-F238E27FC236}">
                    <a16:creationId xmlns:a16="http://schemas.microsoft.com/office/drawing/2014/main" id="{A81E3E32-B3F7-56AF-9916-A96E80D0802B}"/>
                  </a:ext>
                </a:extLst>
              </p:cNvPr>
              <p:cNvSpPr/>
              <p:nvPr/>
            </p:nvSpPr>
            <p:spPr>
              <a:xfrm>
                <a:off x="3201670" y="2395220"/>
                <a:ext cx="100330" cy="3342640"/>
              </a:xfrm>
              <a:prstGeom prst="rect">
                <a:avLst/>
              </a:prstGeom>
              <a:solidFill>
                <a:schemeClr val="tx2">
                  <a:lumMod val="75000"/>
                  <a:lumOff val="25000"/>
                </a:schemeClr>
              </a:solidFill>
              <a:ln w="6350">
                <a:solidFill>
                  <a:srgbClr val="324273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" name="矩形 8">
                <a:extLst>
                  <a:ext uri="{FF2B5EF4-FFF2-40B4-BE49-F238E27FC236}">
                    <a16:creationId xmlns:a16="http://schemas.microsoft.com/office/drawing/2014/main" id="{765A923C-A3E8-A093-6B3D-3B8A44225E96}"/>
                  </a:ext>
                </a:extLst>
              </p:cNvPr>
              <p:cNvSpPr/>
              <p:nvPr/>
            </p:nvSpPr>
            <p:spPr>
              <a:xfrm>
                <a:off x="10678160" y="2395220"/>
                <a:ext cx="100330" cy="3342640"/>
              </a:xfrm>
              <a:prstGeom prst="rect">
                <a:avLst/>
              </a:prstGeom>
              <a:solidFill>
                <a:schemeClr val="tx2">
                  <a:lumMod val="75000"/>
                  <a:lumOff val="25000"/>
                </a:schemeClr>
              </a:solidFill>
              <a:ln w="6350">
                <a:solidFill>
                  <a:srgbClr val="324273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" name="矩形 9">
                <a:extLst>
                  <a:ext uri="{FF2B5EF4-FFF2-40B4-BE49-F238E27FC236}">
                    <a16:creationId xmlns:a16="http://schemas.microsoft.com/office/drawing/2014/main" id="{B48CD2FB-1EAD-A47C-116F-DF8BCE8BE663}"/>
                  </a:ext>
                </a:extLst>
              </p:cNvPr>
              <p:cNvSpPr/>
              <p:nvPr/>
            </p:nvSpPr>
            <p:spPr>
              <a:xfrm rot="5400000">
                <a:off x="4822825" y="673735"/>
                <a:ext cx="100330" cy="3342640"/>
              </a:xfrm>
              <a:prstGeom prst="rect">
                <a:avLst/>
              </a:prstGeom>
              <a:solidFill>
                <a:schemeClr val="tx2">
                  <a:lumMod val="75000"/>
                  <a:lumOff val="25000"/>
                </a:schemeClr>
              </a:solidFill>
              <a:ln w="6350">
                <a:solidFill>
                  <a:srgbClr val="324273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" name="矩形 10">
                <a:extLst>
                  <a:ext uri="{FF2B5EF4-FFF2-40B4-BE49-F238E27FC236}">
                    <a16:creationId xmlns:a16="http://schemas.microsoft.com/office/drawing/2014/main" id="{F32F2524-9A31-A06A-1986-481AC08E4831}"/>
                  </a:ext>
                </a:extLst>
              </p:cNvPr>
              <p:cNvSpPr/>
              <p:nvPr/>
            </p:nvSpPr>
            <p:spPr>
              <a:xfrm rot="5400000">
                <a:off x="8956675" y="4016375"/>
                <a:ext cx="100330" cy="3342640"/>
              </a:xfrm>
              <a:prstGeom prst="rect">
                <a:avLst/>
              </a:prstGeom>
              <a:solidFill>
                <a:schemeClr val="tx2">
                  <a:lumMod val="75000"/>
                  <a:lumOff val="25000"/>
                </a:schemeClr>
              </a:solidFill>
              <a:ln w="6350">
                <a:solidFill>
                  <a:srgbClr val="324273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" name="文本框 14">
                <a:extLst>
                  <a:ext uri="{FF2B5EF4-FFF2-40B4-BE49-F238E27FC236}">
                    <a16:creationId xmlns:a16="http://schemas.microsoft.com/office/drawing/2014/main" id="{CF3495BF-E8E6-7B23-325E-8A3B4F213989}"/>
                  </a:ext>
                </a:extLst>
              </p:cNvPr>
              <p:cNvSpPr txBox="1"/>
              <p:nvPr/>
            </p:nvSpPr>
            <p:spPr>
              <a:xfrm>
                <a:off x="3201664" y="1914282"/>
                <a:ext cx="3342641" cy="391146"/>
              </a:xfrm>
              <a:prstGeom prst="rect">
                <a:avLst/>
              </a:prstGeom>
              <a:noFill/>
              <a:ln w="19050">
                <a:solidFill>
                  <a:schemeClr val="tx2">
                    <a:lumMod val="75000"/>
                    <a:lumOff val="25000"/>
                  </a:schemeClr>
                </a:solidFill>
              </a:ln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zh-CN" altLang="en-US" sz="2800" b="1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华文中宋" panose="02010600040101010101" pitchFamily="2" charset="-122"/>
                    <a:ea typeface="华文中宋" panose="02010600040101010101" pitchFamily="2" charset="-122"/>
                    <a:cs typeface="微软雅黑" panose="020B0503020204020204" pitchFamily="34" charset="-122"/>
                  </a:rPr>
                  <a:t>数据特点</a:t>
                </a:r>
                <a:endParaRPr lang="en-US" altLang="zh-CN" sz="2800" b="1">
                  <a:solidFill>
                    <a:schemeClr val="tx2">
                      <a:lumMod val="75000"/>
                      <a:lumOff val="25000"/>
                    </a:schemeClr>
                  </a:solidFill>
                  <a:latin typeface="华文中宋" panose="02010600040101010101" pitchFamily="2" charset="-122"/>
                  <a:ea typeface="华文中宋" panose="02010600040101010101" pitchFamily="2" charset="-122"/>
                  <a:cs typeface="微软雅黑" panose="020B0503020204020204" pitchFamily="34" charset="-122"/>
                </a:endParaRPr>
              </a:p>
            </p:txBody>
          </p:sp>
        </p:grpSp>
        <p:sp>
          <p:nvSpPr>
            <p:cNvPr id="7" name="文本框 6">
              <a:extLst>
                <a:ext uri="{FF2B5EF4-FFF2-40B4-BE49-F238E27FC236}">
                  <a16:creationId xmlns:a16="http://schemas.microsoft.com/office/drawing/2014/main" id="{C7E1A786-5179-0E62-9A69-95B6B40C42AE}"/>
                </a:ext>
              </a:extLst>
            </p:cNvPr>
            <p:cNvSpPr txBox="1"/>
            <p:nvPr/>
          </p:nvSpPr>
          <p:spPr>
            <a:xfrm>
              <a:off x="4117759" y="2629243"/>
              <a:ext cx="4179488" cy="24762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indent="457200" algn="just">
                <a:lnSpc>
                  <a:spcPct val="150000"/>
                </a:lnSpc>
              </a:pPr>
              <a:r>
                <a:rPr lang="zh-CN" altLang="en-US" sz="2400">
                  <a:solidFill>
                    <a:schemeClr val="tx2">
                      <a:lumMod val="75000"/>
                      <a:lumOff val="25000"/>
                    </a:schemeClr>
                  </a:solidFill>
                  <a:latin typeface="华文中宋" panose="02010600040101010101" pitchFamily="2" charset="-122"/>
                  <a:ea typeface="华文中宋" panose="02010600040101010101" pitchFamily="2" charset="-122"/>
                </a:rPr>
                <a:t>我们使用的数据集具有以下特点：</a:t>
              </a:r>
              <a:endParaRPr lang="en-US" altLang="zh-CN" sz="2400">
                <a:solidFill>
                  <a:schemeClr val="tx2">
                    <a:lumMod val="75000"/>
                    <a:lumOff val="25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</a:endParaRPr>
            </a:p>
            <a:p>
              <a:pPr marL="457200" indent="-457200" algn="just">
                <a:lnSpc>
                  <a:spcPct val="150000"/>
                </a:lnSpc>
                <a:buAutoNum type="arabicPeriod"/>
              </a:pPr>
              <a:r>
                <a:rPr lang="zh-CN" altLang="en-US" sz="2400">
                  <a:solidFill>
                    <a:schemeClr val="tx2">
                      <a:lumMod val="75000"/>
                      <a:lumOff val="25000"/>
                    </a:schemeClr>
                  </a:solidFill>
                  <a:latin typeface="华文中宋" panose="02010600040101010101" pitchFamily="2" charset="-122"/>
                  <a:ea typeface="华文中宋" panose="02010600040101010101" pitchFamily="2" charset="-122"/>
                </a:rPr>
                <a:t>节点均为现实中的城市，坐标为真实二维坐标。</a:t>
              </a:r>
              <a:endParaRPr lang="en-US" altLang="zh-CN" sz="2400">
                <a:solidFill>
                  <a:schemeClr val="tx2">
                    <a:lumMod val="75000"/>
                    <a:lumOff val="25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</a:endParaRPr>
            </a:p>
            <a:p>
              <a:pPr marL="457200" indent="-457200" algn="just">
                <a:lnSpc>
                  <a:spcPct val="150000"/>
                </a:lnSpc>
                <a:buAutoNum type="arabicPeriod"/>
              </a:pPr>
              <a:r>
                <a:rPr lang="zh-CN" altLang="en-US" sz="2400">
                  <a:solidFill>
                    <a:schemeClr val="tx2">
                      <a:lumMod val="75000"/>
                      <a:lumOff val="25000"/>
                    </a:schemeClr>
                  </a:solidFill>
                  <a:latin typeface="华文中宋" panose="02010600040101010101" pitchFamily="2" charset="-122"/>
                  <a:ea typeface="华文中宋" panose="02010600040101010101" pitchFamily="2" charset="-122"/>
                </a:rPr>
                <a:t>节点间距离为欧式几何距离，满足三角不等式。</a:t>
              </a:r>
              <a:endParaRPr lang="en-US" altLang="zh-CN" sz="2400">
                <a:solidFill>
                  <a:schemeClr val="tx2">
                    <a:lumMod val="75000"/>
                    <a:lumOff val="25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</a:endParaRPr>
            </a:p>
            <a:p>
              <a:pPr marL="457200" indent="-457200" algn="just">
                <a:lnSpc>
                  <a:spcPct val="150000"/>
                </a:lnSpc>
                <a:buAutoNum type="arabicPeriod"/>
              </a:pPr>
              <a:r>
                <a:rPr lang="zh-CN" altLang="en-US" sz="2400">
                  <a:solidFill>
                    <a:schemeClr val="tx2">
                      <a:lumMod val="75000"/>
                      <a:lumOff val="25000"/>
                    </a:schemeClr>
                  </a:solidFill>
                  <a:latin typeface="华文中宋" panose="02010600040101010101" pitchFamily="2" charset="-122"/>
                  <a:ea typeface="华文中宋" panose="02010600040101010101" pitchFamily="2" charset="-122"/>
                </a:rPr>
                <a:t>图为无向完全图。</a:t>
              </a:r>
              <a:endParaRPr lang="en-US" altLang="zh-CN" sz="2400">
                <a:solidFill>
                  <a:schemeClr val="tx2">
                    <a:lumMod val="75000"/>
                    <a:lumOff val="25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</a:endParaRPr>
            </a:p>
          </p:txBody>
        </p:sp>
      </p:grpSp>
    </p:spTree>
    <p:custDataLst>
      <p:tags r:id="rId1"/>
    </p:custDataLst>
    <p:extLst>
      <p:ext uri="{BB962C8B-B14F-4D97-AF65-F5344CB8AC3E}">
        <p14:creationId xmlns:p14="http://schemas.microsoft.com/office/powerpoint/2010/main" val="1874456831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A5BFB8-9E65-42FB-EF3D-D1F95681F3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6F031A07-3333-20B7-13D5-BB84F74C1CAD}"/>
              </a:ext>
            </a:extLst>
          </p:cNvPr>
          <p:cNvSpPr/>
          <p:nvPr/>
        </p:nvSpPr>
        <p:spPr>
          <a:xfrm>
            <a:off x="1933575" y="3660775"/>
            <a:ext cx="8324215" cy="427990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D6B9BEB7-84B2-3FDB-A6B7-6863AF772212}"/>
              </a:ext>
            </a:extLst>
          </p:cNvPr>
          <p:cNvSpPr/>
          <p:nvPr/>
        </p:nvSpPr>
        <p:spPr>
          <a:xfrm>
            <a:off x="3903713" y="2679383"/>
            <a:ext cx="874395" cy="874395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4800">
                <a:latin typeface="微软雅黑" panose="020B0503020204020204" pitchFamily="34" charset="-122"/>
                <a:ea typeface="微软雅黑" panose="020B0503020204020204" pitchFamily="34" charset="-122"/>
              </a:rPr>
              <a:t>2</a:t>
            </a: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F420F147-F58F-C736-D38A-4F739E3812F4}"/>
              </a:ext>
            </a:extLst>
          </p:cNvPr>
          <p:cNvSpPr txBox="1"/>
          <p:nvPr/>
        </p:nvSpPr>
        <p:spPr>
          <a:xfrm>
            <a:off x="4778108" y="2596177"/>
            <a:ext cx="3916680" cy="92333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zh-CN" altLang="en-US" sz="5400" b="1">
                <a:solidFill>
                  <a:schemeClr val="tx2">
                    <a:lumMod val="75000"/>
                    <a:lumOff val="25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项目结构</a:t>
            </a:r>
          </a:p>
        </p:txBody>
      </p:sp>
      <p:cxnSp>
        <p:nvCxnSpPr>
          <p:cNvPr id="32" name="直接连接符 31">
            <a:extLst>
              <a:ext uri="{FF2B5EF4-FFF2-40B4-BE49-F238E27FC236}">
                <a16:creationId xmlns:a16="http://schemas.microsoft.com/office/drawing/2014/main" id="{2394437A-17B0-289E-ECCA-0503EEC3F8CB}"/>
              </a:ext>
            </a:extLst>
          </p:cNvPr>
          <p:cNvCxnSpPr/>
          <p:nvPr/>
        </p:nvCxnSpPr>
        <p:spPr>
          <a:xfrm>
            <a:off x="2157095" y="3874770"/>
            <a:ext cx="787781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" name="组合 3">
            <a:extLst>
              <a:ext uri="{FF2B5EF4-FFF2-40B4-BE49-F238E27FC236}">
                <a16:creationId xmlns:a16="http://schemas.microsoft.com/office/drawing/2014/main" id="{0D8447C8-811B-BE2E-42CD-4253AE36C225}"/>
              </a:ext>
            </a:extLst>
          </p:cNvPr>
          <p:cNvGrpSpPr/>
          <p:nvPr/>
        </p:nvGrpSpPr>
        <p:grpSpPr>
          <a:xfrm>
            <a:off x="0" y="-17780"/>
            <a:ext cx="1593850" cy="6095365"/>
            <a:chOff x="0" y="-17780"/>
            <a:chExt cx="1593850" cy="6095365"/>
          </a:xfrm>
        </p:grpSpPr>
        <p:sp>
          <p:nvSpPr>
            <p:cNvPr id="24" name="等腰三角形 23">
              <a:extLst>
                <a:ext uri="{FF2B5EF4-FFF2-40B4-BE49-F238E27FC236}">
                  <a16:creationId xmlns:a16="http://schemas.microsoft.com/office/drawing/2014/main" id="{9F0E39C1-6109-125C-90A5-B79E085B87A4}"/>
                </a:ext>
              </a:extLst>
            </p:cNvPr>
            <p:cNvSpPr/>
            <p:nvPr/>
          </p:nvSpPr>
          <p:spPr>
            <a:xfrm rot="10800000">
              <a:off x="0" y="-17780"/>
              <a:ext cx="1593850" cy="1210945"/>
            </a:xfrm>
            <a:prstGeom prst="triangle">
              <a:avLst/>
            </a:prstGeom>
            <a:solidFill>
              <a:schemeClr val="tx2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33" name="直接连接符 32">
              <a:extLst>
                <a:ext uri="{FF2B5EF4-FFF2-40B4-BE49-F238E27FC236}">
                  <a16:creationId xmlns:a16="http://schemas.microsoft.com/office/drawing/2014/main" id="{41DDCB7B-F528-1425-A0D0-7EA880672185}"/>
                </a:ext>
              </a:extLst>
            </p:cNvPr>
            <p:cNvCxnSpPr/>
            <p:nvPr/>
          </p:nvCxnSpPr>
          <p:spPr>
            <a:xfrm>
              <a:off x="200025" y="2540"/>
              <a:ext cx="0" cy="6075045"/>
            </a:xfrm>
            <a:prstGeom prst="line">
              <a:avLst/>
            </a:prstGeom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直接连接符 33">
              <a:extLst>
                <a:ext uri="{FF2B5EF4-FFF2-40B4-BE49-F238E27FC236}">
                  <a16:creationId xmlns:a16="http://schemas.microsoft.com/office/drawing/2014/main" id="{406330B6-6460-BC36-394A-053A2BE08B8A}"/>
                </a:ext>
              </a:extLst>
            </p:cNvPr>
            <p:cNvCxnSpPr/>
            <p:nvPr/>
          </p:nvCxnSpPr>
          <p:spPr>
            <a:xfrm>
              <a:off x="409575" y="348615"/>
              <a:ext cx="0" cy="4763135"/>
            </a:xfrm>
            <a:prstGeom prst="line">
              <a:avLst/>
            </a:prstGeom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直接连接符 36">
              <a:extLst>
                <a:ext uri="{FF2B5EF4-FFF2-40B4-BE49-F238E27FC236}">
                  <a16:creationId xmlns:a16="http://schemas.microsoft.com/office/drawing/2014/main" id="{A3F42675-5DBC-A9F0-9914-61ED7B233A17}"/>
                </a:ext>
              </a:extLst>
            </p:cNvPr>
            <p:cNvCxnSpPr/>
            <p:nvPr/>
          </p:nvCxnSpPr>
          <p:spPr>
            <a:xfrm>
              <a:off x="628015" y="576580"/>
              <a:ext cx="0" cy="3105150"/>
            </a:xfrm>
            <a:prstGeom prst="line">
              <a:avLst/>
            </a:prstGeom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" name="组合 4">
            <a:extLst>
              <a:ext uri="{FF2B5EF4-FFF2-40B4-BE49-F238E27FC236}">
                <a16:creationId xmlns:a16="http://schemas.microsoft.com/office/drawing/2014/main" id="{ADBB94D3-D94D-D9F4-B08D-3518FCFEF2BB}"/>
              </a:ext>
            </a:extLst>
          </p:cNvPr>
          <p:cNvGrpSpPr/>
          <p:nvPr/>
        </p:nvGrpSpPr>
        <p:grpSpPr>
          <a:xfrm flipH="1">
            <a:off x="10598150" y="0"/>
            <a:ext cx="1593850" cy="6095365"/>
            <a:chOff x="0" y="-17780"/>
            <a:chExt cx="1593850" cy="6095365"/>
          </a:xfrm>
        </p:grpSpPr>
        <p:sp>
          <p:nvSpPr>
            <p:cNvPr id="6" name="等腰三角形 5">
              <a:extLst>
                <a:ext uri="{FF2B5EF4-FFF2-40B4-BE49-F238E27FC236}">
                  <a16:creationId xmlns:a16="http://schemas.microsoft.com/office/drawing/2014/main" id="{0AA7F8C9-0E6A-7655-2DBF-419ECD0AE286}"/>
                </a:ext>
              </a:extLst>
            </p:cNvPr>
            <p:cNvSpPr/>
            <p:nvPr/>
          </p:nvSpPr>
          <p:spPr>
            <a:xfrm rot="10800000">
              <a:off x="0" y="-17780"/>
              <a:ext cx="1593850" cy="1210945"/>
            </a:xfrm>
            <a:prstGeom prst="triangle">
              <a:avLst/>
            </a:prstGeom>
            <a:solidFill>
              <a:schemeClr val="tx2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7" name="直接连接符 6">
              <a:extLst>
                <a:ext uri="{FF2B5EF4-FFF2-40B4-BE49-F238E27FC236}">
                  <a16:creationId xmlns:a16="http://schemas.microsoft.com/office/drawing/2014/main" id="{5CB4EE99-DF8A-8B9F-2F8E-0882DEDF4F3E}"/>
                </a:ext>
              </a:extLst>
            </p:cNvPr>
            <p:cNvCxnSpPr/>
            <p:nvPr/>
          </p:nvCxnSpPr>
          <p:spPr>
            <a:xfrm>
              <a:off x="200025" y="2540"/>
              <a:ext cx="0" cy="6075045"/>
            </a:xfrm>
            <a:prstGeom prst="line">
              <a:avLst/>
            </a:prstGeom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直接连接符 7">
              <a:extLst>
                <a:ext uri="{FF2B5EF4-FFF2-40B4-BE49-F238E27FC236}">
                  <a16:creationId xmlns:a16="http://schemas.microsoft.com/office/drawing/2014/main" id="{DEDEA2F8-C427-ABBC-4164-8237F161280B}"/>
                </a:ext>
              </a:extLst>
            </p:cNvPr>
            <p:cNvCxnSpPr/>
            <p:nvPr/>
          </p:nvCxnSpPr>
          <p:spPr>
            <a:xfrm>
              <a:off x="409575" y="348615"/>
              <a:ext cx="0" cy="4763135"/>
            </a:xfrm>
            <a:prstGeom prst="line">
              <a:avLst/>
            </a:prstGeom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直接连接符 8">
              <a:extLst>
                <a:ext uri="{FF2B5EF4-FFF2-40B4-BE49-F238E27FC236}">
                  <a16:creationId xmlns:a16="http://schemas.microsoft.com/office/drawing/2014/main" id="{1C85C8F3-3DC1-EBD5-445B-D6DCE6B93A91}"/>
                </a:ext>
              </a:extLst>
            </p:cNvPr>
            <p:cNvCxnSpPr/>
            <p:nvPr/>
          </p:nvCxnSpPr>
          <p:spPr>
            <a:xfrm>
              <a:off x="628015" y="576580"/>
              <a:ext cx="0" cy="3105150"/>
            </a:xfrm>
            <a:prstGeom prst="line">
              <a:avLst/>
            </a:prstGeom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custDataLst>
      <p:tags r:id="rId1"/>
    </p:custDataLst>
    <p:extLst>
      <p:ext uri="{BB962C8B-B14F-4D97-AF65-F5344CB8AC3E}">
        <p14:creationId xmlns:p14="http://schemas.microsoft.com/office/powerpoint/2010/main" val="155080855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组合 12">
            <a:extLst>
              <a:ext uri="{FF2B5EF4-FFF2-40B4-BE49-F238E27FC236}">
                <a16:creationId xmlns:a16="http://schemas.microsoft.com/office/drawing/2014/main" id="{911C116B-BF6D-C61A-AC17-E7000936C9AA}"/>
              </a:ext>
            </a:extLst>
          </p:cNvPr>
          <p:cNvGrpSpPr/>
          <p:nvPr/>
        </p:nvGrpSpPr>
        <p:grpSpPr>
          <a:xfrm>
            <a:off x="-12700" y="-13335"/>
            <a:ext cx="3762375" cy="874395"/>
            <a:chOff x="-12700" y="-13335"/>
            <a:chExt cx="3762375" cy="874395"/>
          </a:xfrm>
        </p:grpSpPr>
        <p:sp>
          <p:nvSpPr>
            <p:cNvPr id="14" name="矩形 13">
              <a:extLst>
                <a:ext uri="{FF2B5EF4-FFF2-40B4-BE49-F238E27FC236}">
                  <a16:creationId xmlns:a16="http://schemas.microsoft.com/office/drawing/2014/main" id="{F4125912-149F-E893-E13B-1F21BA8B3197}"/>
                </a:ext>
              </a:extLst>
            </p:cNvPr>
            <p:cNvSpPr/>
            <p:nvPr/>
          </p:nvSpPr>
          <p:spPr>
            <a:xfrm>
              <a:off x="-12700" y="784860"/>
              <a:ext cx="3762375" cy="76200"/>
            </a:xfrm>
            <a:prstGeom prst="rect">
              <a:avLst/>
            </a:prstGeom>
            <a:solidFill>
              <a:schemeClr val="tx2">
                <a:lumMod val="75000"/>
                <a:lumOff val="2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5" name="矩形 14">
              <a:extLst>
                <a:ext uri="{FF2B5EF4-FFF2-40B4-BE49-F238E27FC236}">
                  <a16:creationId xmlns:a16="http://schemas.microsoft.com/office/drawing/2014/main" id="{A8831377-1D47-FD30-4F8C-18EF0CBDD60B}"/>
                </a:ext>
              </a:extLst>
            </p:cNvPr>
            <p:cNvSpPr/>
            <p:nvPr/>
          </p:nvSpPr>
          <p:spPr>
            <a:xfrm>
              <a:off x="-12700" y="-13335"/>
              <a:ext cx="874395" cy="874395"/>
            </a:xfrm>
            <a:prstGeom prst="rect">
              <a:avLst/>
            </a:prstGeom>
            <a:solidFill>
              <a:schemeClr val="tx2">
                <a:lumMod val="75000"/>
                <a:lumOff val="2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4800">
                  <a:latin typeface="微软雅黑" panose="020B0503020204020204" pitchFamily="34" charset="-122"/>
                  <a:ea typeface="微软雅黑" panose="020B0503020204020204" pitchFamily="34" charset="-122"/>
                </a:rPr>
                <a:t>2</a:t>
              </a:r>
            </a:p>
          </p:txBody>
        </p:sp>
        <p:sp>
          <p:nvSpPr>
            <p:cNvPr id="16" name="文本框 15">
              <a:extLst>
                <a:ext uri="{FF2B5EF4-FFF2-40B4-BE49-F238E27FC236}">
                  <a16:creationId xmlns:a16="http://schemas.microsoft.com/office/drawing/2014/main" id="{8169FA98-7C38-D62B-ECAB-133A028B8FFC}"/>
                </a:ext>
              </a:extLst>
            </p:cNvPr>
            <p:cNvSpPr txBox="1"/>
            <p:nvPr/>
          </p:nvSpPr>
          <p:spPr>
            <a:xfrm>
              <a:off x="861695" y="0"/>
              <a:ext cx="2887980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4800" b="1">
                  <a:solidFill>
                    <a:schemeClr val="tx2">
                      <a:lumMod val="75000"/>
                      <a:lumOff val="25000"/>
                    </a:schemeClr>
                  </a:solidFill>
                  <a:latin typeface="华文中宋" panose="02010600040101010101" pitchFamily="2" charset="-122"/>
                  <a:ea typeface="华文中宋" panose="02010600040101010101" pitchFamily="2" charset="-122"/>
                </a:rPr>
                <a:t>项目结构</a:t>
              </a:r>
            </a:p>
          </p:txBody>
        </p:sp>
      </p:grpSp>
      <p:sp>
        <p:nvSpPr>
          <p:cNvPr id="17" name="文本框 16">
            <a:extLst>
              <a:ext uri="{FF2B5EF4-FFF2-40B4-BE49-F238E27FC236}">
                <a16:creationId xmlns:a16="http://schemas.microsoft.com/office/drawing/2014/main" id="{33B7D07C-C3E7-288C-AD24-742EF91EA55A}"/>
              </a:ext>
            </a:extLst>
          </p:cNvPr>
          <p:cNvSpPr txBox="1"/>
          <p:nvPr/>
        </p:nvSpPr>
        <p:spPr>
          <a:xfrm>
            <a:off x="1575954" y="1945933"/>
            <a:ext cx="9040091" cy="296613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indent="457200" algn="just">
              <a:lnSpc>
                <a:spcPct val="150000"/>
              </a:lnSpc>
            </a:pPr>
            <a:r>
              <a:rPr lang="zh-CN" altLang="en-US" sz="3200">
                <a:solidFill>
                  <a:schemeClr val="tx2">
                    <a:lumMod val="75000"/>
                    <a:lumOff val="25000"/>
                  </a:schemeClr>
                </a:solidFill>
                <a:latin typeface="Consolas" panose="020B0609020204030204" pitchFamily="49" charset="0"/>
                <a:ea typeface="华文中宋" panose="02010600040101010101" pitchFamily="2" charset="-122"/>
              </a:rPr>
              <a:t>我们使用</a:t>
            </a:r>
            <a:r>
              <a:rPr lang="en-US" altLang="zh-CN" sz="3200">
                <a:solidFill>
                  <a:schemeClr val="tx2">
                    <a:lumMod val="75000"/>
                    <a:lumOff val="25000"/>
                  </a:schemeClr>
                </a:solidFill>
                <a:latin typeface="Consolas" panose="020B0609020204030204" pitchFamily="49" charset="0"/>
                <a:ea typeface="华文中宋" panose="02010600040101010101" pitchFamily="2" charset="-122"/>
              </a:rPr>
              <a:t>git</a:t>
            </a:r>
            <a:r>
              <a:rPr lang="zh-CN" altLang="en-US" sz="3200">
                <a:solidFill>
                  <a:schemeClr val="tx2">
                    <a:lumMod val="75000"/>
                    <a:lumOff val="25000"/>
                  </a:schemeClr>
                </a:solidFill>
                <a:latin typeface="Consolas" panose="020B0609020204030204" pitchFamily="49" charset="0"/>
                <a:ea typeface="华文中宋" panose="02010600040101010101" pitchFamily="2" charset="-122"/>
              </a:rPr>
              <a:t>工具管理原始项目，并使用分支来管理项目进行的各个阶段。这不仅有助于清晰地规划项目，更有利于多人协作时的有痕工作和版本控制。</a:t>
            </a:r>
          </a:p>
        </p:txBody>
      </p:sp>
    </p:spTree>
    <p:extLst>
      <p:ext uri="{BB962C8B-B14F-4D97-AF65-F5344CB8AC3E}">
        <p14:creationId xmlns:p14="http://schemas.microsoft.com/office/powerpoint/2010/main" val="328020261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B22415-EC18-158B-E9B0-067BE49E7C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组合 12">
            <a:extLst>
              <a:ext uri="{FF2B5EF4-FFF2-40B4-BE49-F238E27FC236}">
                <a16:creationId xmlns:a16="http://schemas.microsoft.com/office/drawing/2014/main" id="{9DAC46F0-CAB7-839B-91DB-586807794EA5}"/>
              </a:ext>
            </a:extLst>
          </p:cNvPr>
          <p:cNvGrpSpPr/>
          <p:nvPr/>
        </p:nvGrpSpPr>
        <p:grpSpPr>
          <a:xfrm>
            <a:off x="-12700" y="-13335"/>
            <a:ext cx="3762375" cy="874395"/>
            <a:chOff x="-12700" y="-13335"/>
            <a:chExt cx="3762375" cy="874395"/>
          </a:xfrm>
        </p:grpSpPr>
        <p:sp>
          <p:nvSpPr>
            <p:cNvPr id="14" name="矩形 13">
              <a:extLst>
                <a:ext uri="{FF2B5EF4-FFF2-40B4-BE49-F238E27FC236}">
                  <a16:creationId xmlns:a16="http://schemas.microsoft.com/office/drawing/2014/main" id="{23A53701-9260-6794-9033-D36E5D0A0178}"/>
                </a:ext>
              </a:extLst>
            </p:cNvPr>
            <p:cNvSpPr/>
            <p:nvPr/>
          </p:nvSpPr>
          <p:spPr>
            <a:xfrm>
              <a:off x="-12700" y="784860"/>
              <a:ext cx="3762375" cy="76200"/>
            </a:xfrm>
            <a:prstGeom prst="rect">
              <a:avLst/>
            </a:prstGeom>
            <a:solidFill>
              <a:schemeClr val="tx2">
                <a:lumMod val="75000"/>
                <a:lumOff val="2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5" name="矩形 14">
              <a:extLst>
                <a:ext uri="{FF2B5EF4-FFF2-40B4-BE49-F238E27FC236}">
                  <a16:creationId xmlns:a16="http://schemas.microsoft.com/office/drawing/2014/main" id="{145FB856-7A78-624D-60D8-DC66AA693026}"/>
                </a:ext>
              </a:extLst>
            </p:cNvPr>
            <p:cNvSpPr/>
            <p:nvPr/>
          </p:nvSpPr>
          <p:spPr>
            <a:xfrm>
              <a:off x="-12700" y="-13335"/>
              <a:ext cx="874395" cy="874395"/>
            </a:xfrm>
            <a:prstGeom prst="rect">
              <a:avLst/>
            </a:prstGeom>
            <a:solidFill>
              <a:schemeClr val="tx2">
                <a:lumMod val="75000"/>
                <a:lumOff val="2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4800">
                  <a:latin typeface="微软雅黑" panose="020B0503020204020204" pitchFamily="34" charset="-122"/>
                  <a:ea typeface="微软雅黑" panose="020B0503020204020204" pitchFamily="34" charset="-122"/>
                </a:rPr>
                <a:t>2</a:t>
              </a:r>
            </a:p>
          </p:txBody>
        </p:sp>
        <p:sp>
          <p:nvSpPr>
            <p:cNvPr id="16" name="文本框 15">
              <a:extLst>
                <a:ext uri="{FF2B5EF4-FFF2-40B4-BE49-F238E27FC236}">
                  <a16:creationId xmlns:a16="http://schemas.microsoft.com/office/drawing/2014/main" id="{2145F95E-FB4B-C99D-A198-7B989C37ECAA}"/>
                </a:ext>
              </a:extLst>
            </p:cNvPr>
            <p:cNvSpPr txBox="1"/>
            <p:nvPr/>
          </p:nvSpPr>
          <p:spPr>
            <a:xfrm>
              <a:off x="861695" y="0"/>
              <a:ext cx="2887980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4800" b="1">
                  <a:solidFill>
                    <a:schemeClr val="tx2">
                      <a:lumMod val="75000"/>
                      <a:lumOff val="25000"/>
                    </a:schemeClr>
                  </a:solidFill>
                  <a:latin typeface="华文中宋" panose="02010600040101010101" pitchFamily="2" charset="-122"/>
                  <a:ea typeface="华文中宋" panose="02010600040101010101" pitchFamily="2" charset="-122"/>
                </a:rPr>
                <a:t>项目结构</a:t>
              </a:r>
            </a:p>
          </p:txBody>
        </p:sp>
      </p:grpSp>
      <p:sp>
        <p:nvSpPr>
          <p:cNvPr id="2" name="矩形: 圆角 1">
            <a:extLst>
              <a:ext uri="{FF2B5EF4-FFF2-40B4-BE49-F238E27FC236}">
                <a16:creationId xmlns:a16="http://schemas.microsoft.com/office/drawing/2014/main" id="{91C8A602-2E1E-F335-7396-BFEC3F0FBA40}"/>
              </a:ext>
            </a:extLst>
          </p:cNvPr>
          <p:cNvSpPr/>
          <p:nvPr/>
        </p:nvSpPr>
        <p:spPr>
          <a:xfrm>
            <a:off x="1128082" y="1615857"/>
            <a:ext cx="9935836" cy="4675909"/>
          </a:xfrm>
          <a:prstGeom prst="roundRect">
            <a:avLst/>
          </a:prstGeom>
          <a:solidFill>
            <a:srgbClr val="32427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68A7CF51-B93E-21D7-0DE5-55BE9CECC449}"/>
              </a:ext>
            </a:extLst>
          </p:cNvPr>
          <p:cNvSpPr/>
          <p:nvPr/>
        </p:nvSpPr>
        <p:spPr>
          <a:xfrm>
            <a:off x="10286999" y="838938"/>
            <a:ext cx="1553837" cy="1553837"/>
          </a:xfrm>
          <a:prstGeom prst="ellipse">
            <a:avLst/>
          </a:prstGeom>
          <a:solidFill>
            <a:srgbClr val="324273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3200">
                <a:latin typeface="华文中宋" panose="02010600040101010101" pitchFamily="2" charset="-122"/>
                <a:ea typeface="华文中宋" panose="02010600040101010101" pitchFamily="2" charset="-122"/>
              </a:rPr>
              <a:t>目录</a:t>
            </a:r>
            <a:endParaRPr lang="en-US" altLang="zh-CN" sz="3200">
              <a:latin typeface="华文中宋" panose="02010600040101010101" pitchFamily="2" charset="-122"/>
              <a:ea typeface="华文中宋" panose="02010600040101010101" pitchFamily="2" charset="-122"/>
            </a:endParaRPr>
          </a:p>
          <a:p>
            <a:pPr algn="ctr"/>
            <a:r>
              <a:rPr lang="zh-CN" altLang="en-US" sz="3200">
                <a:latin typeface="华文中宋" panose="02010600040101010101" pitchFamily="2" charset="-122"/>
                <a:ea typeface="华文中宋" panose="02010600040101010101" pitchFamily="2" charset="-122"/>
              </a:rPr>
              <a:t>结构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9052EA92-18AD-4531-C35D-25946785DAE3}"/>
              </a:ext>
            </a:extLst>
          </p:cNvPr>
          <p:cNvSpPr txBox="1"/>
          <p:nvPr/>
        </p:nvSpPr>
        <p:spPr>
          <a:xfrm>
            <a:off x="1887682" y="1659255"/>
            <a:ext cx="8416636" cy="446372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2400">
                <a:solidFill>
                  <a:schemeClr val="bg1"/>
                </a:solidFill>
                <a:latin typeface="Consolas" panose="020B0609020204030204" pitchFamily="49" charset="0"/>
                <a:ea typeface="华文宋体" panose="02010600040101010101" pitchFamily="2" charset="-122"/>
              </a:rPr>
              <a:t>Project</a:t>
            </a:r>
          </a:p>
          <a:p>
            <a:pPr lvl="1">
              <a:lnSpc>
                <a:spcPct val="150000"/>
              </a:lnSpc>
              <a:buClr>
                <a:schemeClr val="bg1"/>
              </a:buClr>
            </a:pPr>
            <a:r>
              <a:rPr lang="en-US" altLang="zh-CN" sz="2400">
                <a:solidFill>
                  <a:schemeClr val="bg1"/>
                </a:solidFill>
                <a:latin typeface="Consolas" panose="020B0609020204030204" pitchFamily="49" charset="0"/>
                <a:ea typeface="华文宋体" panose="02010600040101010101" pitchFamily="2" charset="-122"/>
              </a:rPr>
              <a:t>- resource		# </a:t>
            </a:r>
            <a:r>
              <a:rPr lang="zh-CN" altLang="en-US" sz="2400">
                <a:solidFill>
                  <a:schemeClr val="bg1"/>
                </a:solidFill>
                <a:latin typeface="Consolas" panose="020B0609020204030204" pitchFamily="49" charset="0"/>
                <a:ea typeface="华文宋体" panose="02010600040101010101" pitchFamily="2" charset="-122"/>
              </a:rPr>
              <a:t>项目资源文件</a:t>
            </a:r>
            <a:endParaRPr lang="en-US" altLang="zh-CN" sz="2400">
              <a:solidFill>
                <a:schemeClr val="bg1"/>
              </a:solidFill>
              <a:latin typeface="Consolas" panose="020B0609020204030204" pitchFamily="49" charset="0"/>
              <a:ea typeface="华文宋体" panose="02010600040101010101" pitchFamily="2" charset="-122"/>
            </a:endParaRPr>
          </a:p>
          <a:p>
            <a:pPr lvl="1">
              <a:lnSpc>
                <a:spcPct val="150000"/>
              </a:lnSpc>
              <a:buClr>
                <a:schemeClr val="bg1"/>
              </a:buClr>
            </a:pPr>
            <a:r>
              <a:rPr lang="en-US" altLang="zh-CN" sz="2400">
                <a:solidFill>
                  <a:schemeClr val="bg1"/>
                </a:solidFill>
                <a:latin typeface="Consolas" panose="020B0609020204030204" pitchFamily="49" charset="0"/>
                <a:ea typeface="华文宋体" panose="02010600040101010101" pitchFamily="2" charset="-122"/>
              </a:rPr>
              <a:t>  - papers		# </a:t>
            </a:r>
            <a:r>
              <a:rPr lang="zh-CN" altLang="en-US" sz="2400">
                <a:solidFill>
                  <a:schemeClr val="bg1"/>
                </a:solidFill>
                <a:latin typeface="Consolas" panose="020B0609020204030204" pitchFamily="49" charset="0"/>
                <a:ea typeface="华文宋体" panose="02010600040101010101" pitchFamily="2" charset="-122"/>
              </a:rPr>
              <a:t>论文</a:t>
            </a:r>
            <a:endParaRPr lang="en-US" altLang="zh-CN" sz="2400">
              <a:solidFill>
                <a:schemeClr val="bg1"/>
              </a:solidFill>
              <a:latin typeface="Consolas" panose="020B0609020204030204" pitchFamily="49" charset="0"/>
              <a:ea typeface="华文宋体" panose="02010600040101010101" pitchFamily="2" charset="-122"/>
            </a:endParaRPr>
          </a:p>
          <a:p>
            <a:pPr lvl="1">
              <a:lnSpc>
                <a:spcPct val="150000"/>
              </a:lnSpc>
              <a:buClr>
                <a:schemeClr val="bg1"/>
              </a:buClr>
            </a:pPr>
            <a:r>
              <a:rPr lang="en-US" altLang="zh-CN" sz="2400">
                <a:solidFill>
                  <a:schemeClr val="bg1"/>
                </a:solidFill>
                <a:latin typeface="Consolas" panose="020B0609020204030204" pitchFamily="49" charset="0"/>
                <a:ea typeface="华文宋体" panose="02010600040101010101" pitchFamily="2" charset="-122"/>
              </a:rPr>
              <a:t>  - testcases		# </a:t>
            </a:r>
            <a:r>
              <a:rPr lang="zh-CN" altLang="en-US" sz="2400">
                <a:solidFill>
                  <a:schemeClr val="bg1"/>
                </a:solidFill>
                <a:latin typeface="Consolas" panose="020B0609020204030204" pitchFamily="49" charset="0"/>
                <a:ea typeface="华文宋体" panose="02010600040101010101" pitchFamily="2" charset="-122"/>
              </a:rPr>
              <a:t>测试用例</a:t>
            </a:r>
            <a:endParaRPr lang="en-US" altLang="zh-CN" sz="2400">
              <a:solidFill>
                <a:schemeClr val="bg1"/>
              </a:solidFill>
              <a:latin typeface="Consolas" panose="020B0609020204030204" pitchFamily="49" charset="0"/>
              <a:ea typeface="华文宋体" panose="02010600040101010101" pitchFamily="2" charset="-122"/>
            </a:endParaRPr>
          </a:p>
          <a:p>
            <a:pPr lvl="1">
              <a:lnSpc>
                <a:spcPct val="150000"/>
              </a:lnSpc>
              <a:buClr>
                <a:schemeClr val="bg1"/>
              </a:buClr>
            </a:pPr>
            <a:r>
              <a:rPr lang="en-US" altLang="zh-CN" sz="2400">
                <a:solidFill>
                  <a:schemeClr val="bg1"/>
                </a:solidFill>
                <a:latin typeface="Consolas" panose="020B0609020204030204" pitchFamily="49" charset="0"/>
                <a:ea typeface="华文宋体" panose="02010600040101010101" pitchFamily="2" charset="-122"/>
              </a:rPr>
              <a:t>- src			# </a:t>
            </a:r>
            <a:r>
              <a:rPr lang="zh-CN" altLang="en-US" sz="2400">
                <a:solidFill>
                  <a:schemeClr val="bg1"/>
                </a:solidFill>
                <a:latin typeface="Consolas" panose="020B0609020204030204" pitchFamily="49" charset="0"/>
                <a:ea typeface="华文宋体" panose="02010600040101010101" pitchFamily="2" charset="-122"/>
              </a:rPr>
              <a:t>算法代码源文件</a:t>
            </a:r>
            <a:endParaRPr lang="en-US" altLang="zh-CN" sz="2400">
              <a:solidFill>
                <a:schemeClr val="bg1"/>
              </a:solidFill>
              <a:latin typeface="Consolas" panose="020B0609020204030204" pitchFamily="49" charset="0"/>
              <a:ea typeface="华文宋体" panose="02010600040101010101" pitchFamily="2" charset="-122"/>
            </a:endParaRPr>
          </a:p>
          <a:p>
            <a:pPr lvl="1">
              <a:lnSpc>
                <a:spcPct val="150000"/>
              </a:lnSpc>
              <a:buClr>
                <a:schemeClr val="bg1"/>
              </a:buClr>
            </a:pPr>
            <a:r>
              <a:rPr lang="en-US" altLang="zh-CN" sz="2400">
                <a:solidFill>
                  <a:schemeClr val="bg1"/>
                </a:solidFill>
                <a:latin typeface="Consolas" panose="020B0609020204030204" pitchFamily="49" charset="0"/>
                <a:ea typeface="华文宋体" panose="02010600040101010101" pitchFamily="2" charset="-122"/>
              </a:rPr>
              <a:t>  - EXACT		# </a:t>
            </a:r>
            <a:r>
              <a:rPr lang="zh-CN" altLang="en-US" sz="2400">
                <a:solidFill>
                  <a:schemeClr val="bg1"/>
                </a:solidFill>
                <a:latin typeface="Consolas" panose="020B0609020204030204" pitchFamily="49" charset="0"/>
                <a:ea typeface="华文宋体" panose="02010600040101010101" pitchFamily="2" charset="-122"/>
              </a:rPr>
              <a:t>可求得精确解的算法</a:t>
            </a:r>
            <a:endParaRPr lang="en-US" altLang="zh-CN" sz="2400">
              <a:solidFill>
                <a:schemeClr val="bg1"/>
              </a:solidFill>
              <a:latin typeface="Consolas" panose="020B0609020204030204" pitchFamily="49" charset="0"/>
              <a:ea typeface="华文宋体" panose="02010600040101010101" pitchFamily="2" charset="-122"/>
            </a:endParaRPr>
          </a:p>
          <a:p>
            <a:pPr lvl="1">
              <a:lnSpc>
                <a:spcPct val="150000"/>
              </a:lnSpc>
              <a:buClr>
                <a:schemeClr val="bg1"/>
              </a:buClr>
            </a:pPr>
            <a:r>
              <a:rPr lang="en-US" altLang="zh-CN" sz="2400">
                <a:solidFill>
                  <a:schemeClr val="bg1"/>
                </a:solidFill>
                <a:latin typeface="Consolas" panose="020B0609020204030204" pitchFamily="49" charset="0"/>
                <a:ea typeface="华文宋体" panose="02010600040101010101" pitchFamily="2" charset="-122"/>
              </a:rPr>
              <a:t>  - APPRO		# </a:t>
            </a:r>
            <a:r>
              <a:rPr lang="zh-CN" altLang="en-US" sz="2400">
                <a:solidFill>
                  <a:schemeClr val="bg1"/>
                </a:solidFill>
                <a:latin typeface="Consolas" panose="020B0609020204030204" pitchFamily="49" charset="0"/>
                <a:ea typeface="华文宋体" panose="02010600040101010101" pitchFamily="2" charset="-122"/>
              </a:rPr>
              <a:t>可求得近似解的算法</a:t>
            </a:r>
            <a:endParaRPr lang="en-US" altLang="zh-CN" sz="2400">
              <a:solidFill>
                <a:schemeClr val="bg1"/>
              </a:solidFill>
              <a:latin typeface="Consolas" panose="020B0609020204030204" pitchFamily="49" charset="0"/>
              <a:ea typeface="华文宋体" panose="02010600040101010101" pitchFamily="2" charset="-122"/>
            </a:endParaRPr>
          </a:p>
          <a:p>
            <a:pPr lvl="1">
              <a:lnSpc>
                <a:spcPct val="150000"/>
              </a:lnSpc>
              <a:buClr>
                <a:schemeClr val="bg1"/>
              </a:buClr>
            </a:pPr>
            <a:r>
              <a:rPr lang="en-US" altLang="zh-CN" sz="2400">
                <a:solidFill>
                  <a:schemeClr val="bg1"/>
                </a:solidFill>
                <a:latin typeface="Consolas" panose="020B0609020204030204" pitchFamily="49" charset="0"/>
                <a:ea typeface="华文宋体" panose="02010600040101010101" pitchFamily="2" charset="-122"/>
              </a:rPr>
              <a:t>- result			# </a:t>
            </a:r>
            <a:r>
              <a:rPr lang="zh-CN" altLang="en-US" sz="2400">
                <a:solidFill>
                  <a:schemeClr val="bg1"/>
                </a:solidFill>
                <a:latin typeface="Consolas" panose="020B0609020204030204" pitchFamily="49" charset="0"/>
                <a:ea typeface="华文宋体" panose="02010600040101010101" pitchFamily="2" charset="-122"/>
              </a:rPr>
              <a:t>输出文件</a:t>
            </a:r>
            <a:endParaRPr lang="en-US" altLang="zh-CN" sz="2400">
              <a:solidFill>
                <a:schemeClr val="bg1"/>
              </a:solidFill>
              <a:latin typeface="Consolas" panose="020B0609020204030204" pitchFamily="49" charset="0"/>
              <a:ea typeface="华文宋体" panose="0201060004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24346681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0D14BF-E3DC-2BDD-4A8C-159509908E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组合 12">
            <a:extLst>
              <a:ext uri="{FF2B5EF4-FFF2-40B4-BE49-F238E27FC236}">
                <a16:creationId xmlns:a16="http://schemas.microsoft.com/office/drawing/2014/main" id="{F2B03387-808B-2B51-C2FA-DB3E0B8A2288}"/>
              </a:ext>
            </a:extLst>
          </p:cNvPr>
          <p:cNvGrpSpPr/>
          <p:nvPr/>
        </p:nvGrpSpPr>
        <p:grpSpPr>
          <a:xfrm>
            <a:off x="-12700" y="-13335"/>
            <a:ext cx="3762375" cy="874395"/>
            <a:chOff x="-12700" y="-13335"/>
            <a:chExt cx="3762375" cy="874395"/>
          </a:xfrm>
        </p:grpSpPr>
        <p:sp>
          <p:nvSpPr>
            <p:cNvPr id="14" name="矩形 13">
              <a:extLst>
                <a:ext uri="{FF2B5EF4-FFF2-40B4-BE49-F238E27FC236}">
                  <a16:creationId xmlns:a16="http://schemas.microsoft.com/office/drawing/2014/main" id="{7FBDFE2B-A637-FABE-3DAC-4028B4D5A2D9}"/>
                </a:ext>
              </a:extLst>
            </p:cNvPr>
            <p:cNvSpPr/>
            <p:nvPr/>
          </p:nvSpPr>
          <p:spPr>
            <a:xfrm>
              <a:off x="-12700" y="784860"/>
              <a:ext cx="3762375" cy="76200"/>
            </a:xfrm>
            <a:prstGeom prst="rect">
              <a:avLst/>
            </a:prstGeom>
            <a:solidFill>
              <a:schemeClr val="tx2">
                <a:lumMod val="75000"/>
                <a:lumOff val="2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5" name="矩形 14">
              <a:extLst>
                <a:ext uri="{FF2B5EF4-FFF2-40B4-BE49-F238E27FC236}">
                  <a16:creationId xmlns:a16="http://schemas.microsoft.com/office/drawing/2014/main" id="{888550C8-ABA1-9E63-AC78-22793760B769}"/>
                </a:ext>
              </a:extLst>
            </p:cNvPr>
            <p:cNvSpPr/>
            <p:nvPr/>
          </p:nvSpPr>
          <p:spPr>
            <a:xfrm>
              <a:off x="-12700" y="-13335"/>
              <a:ext cx="874395" cy="874395"/>
            </a:xfrm>
            <a:prstGeom prst="rect">
              <a:avLst/>
            </a:prstGeom>
            <a:solidFill>
              <a:schemeClr val="tx2">
                <a:lumMod val="75000"/>
                <a:lumOff val="2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4800">
                  <a:latin typeface="微软雅黑" panose="020B0503020204020204" pitchFamily="34" charset="-122"/>
                  <a:ea typeface="微软雅黑" panose="020B0503020204020204" pitchFamily="34" charset="-122"/>
                </a:rPr>
                <a:t>2</a:t>
              </a:r>
            </a:p>
          </p:txBody>
        </p:sp>
        <p:sp>
          <p:nvSpPr>
            <p:cNvPr id="16" name="文本框 15">
              <a:extLst>
                <a:ext uri="{FF2B5EF4-FFF2-40B4-BE49-F238E27FC236}">
                  <a16:creationId xmlns:a16="http://schemas.microsoft.com/office/drawing/2014/main" id="{983CB1C7-5E5B-18E5-2B4C-1EB47F914050}"/>
                </a:ext>
              </a:extLst>
            </p:cNvPr>
            <p:cNvSpPr txBox="1"/>
            <p:nvPr/>
          </p:nvSpPr>
          <p:spPr>
            <a:xfrm>
              <a:off x="861695" y="0"/>
              <a:ext cx="2887980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4800" b="1">
                  <a:solidFill>
                    <a:schemeClr val="tx2">
                      <a:lumMod val="75000"/>
                      <a:lumOff val="25000"/>
                    </a:schemeClr>
                  </a:solidFill>
                  <a:latin typeface="华文中宋" panose="02010600040101010101" pitchFamily="2" charset="-122"/>
                  <a:ea typeface="华文中宋" panose="02010600040101010101" pitchFamily="2" charset="-122"/>
                </a:rPr>
                <a:t>项目结构</a:t>
              </a:r>
            </a:p>
          </p:txBody>
        </p:sp>
      </p:grpSp>
      <p:sp>
        <p:nvSpPr>
          <p:cNvPr id="2" name="矩形: 圆角 1">
            <a:extLst>
              <a:ext uri="{FF2B5EF4-FFF2-40B4-BE49-F238E27FC236}">
                <a16:creationId xmlns:a16="http://schemas.microsoft.com/office/drawing/2014/main" id="{98D811EF-D1B5-A419-562E-AA372EE12416}"/>
              </a:ext>
            </a:extLst>
          </p:cNvPr>
          <p:cNvSpPr/>
          <p:nvPr/>
        </p:nvSpPr>
        <p:spPr>
          <a:xfrm>
            <a:off x="1128082" y="1615857"/>
            <a:ext cx="9935836" cy="4675909"/>
          </a:xfrm>
          <a:prstGeom prst="roundRect">
            <a:avLst/>
          </a:prstGeom>
          <a:solidFill>
            <a:srgbClr val="32427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5EC4E714-A654-AAF5-7F02-17AF16C757F1}"/>
              </a:ext>
            </a:extLst>
          </p:cNvPr>
          <p:cNvSpPr/>
          <p:nvPr/>
        </p:nvSpPr>
        <p:spPr>
          <a:xfrm>
            <a:off x="10286999" y="838938"/>
            <a:ext cx="1553837" cy="1553837"/>
          </a:xfrm>
          <a:prstGeom prst="ellipse">
            <a:avLst/>
          </a:prstGeom>
          <a:solidFill>
            <a:srgbClr val="324273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3200">
                <a:latin typeface="华文中宋" panose="02010600040101010101" pitchFamily="2" charset="-122"/>
                <a:ea typeface="华文中宋" panose="02010600040101010101" pitchFamily="2" charset="-122"/>
              </a:rPr>
              <a:t>分支</a:t>
            </a:r>
            <a:endParaRPr lang="en-US" altLang="zh-CN" sz="3200">
              <a:latin typeface="华文中宋" panose="02010600040101010101" pitchFamily="2" charset="-122"/>
              <a:ea typeface="华文中宋" panose="02010600040101010101" pitchFamily="2" charset="-122"/>
            </a:endParaRPr>
          </a:p>
          <a:p>
            <a:pPr algn="ctr"/>
            <a:r>
              <a:rPr lang="zh-CN" altLang="en-US" sz="3200">
                <a:latin typeface="华文中宋" panose="02010600040101010101" pitchFamily="2" charset="-122"/>
                <a:ea typeface="华文中宋" panose="02010600040101010101" pitchFamily="2" charset="-122"/>
              </a:rPr>
              <a:t>结构</a:t>
            </a:r>
          </a:p>
        </p:txBody>
      </p:sp>
      <p:grpSp>
        <p:nvGrpSpPr>
          <p:cNvPr id="18" name="组合 17">
            <a:extLst>
              <a:ext uri="{FF2B5EF4-FFF2-40B4-BE49-F238E27FC236}">
                <a16:creationId xmlns:a16="http://schemas.microsoft.com/office/drawing/2014/main" id="{9C417FE9-FE9E-F3C8-AF75-48F6520B2644}"/>
              </a:ext>
            </a:extLst>
          </p:cNvPr>
          <p:cNvGrpSpPr/>
          <p:nvPr/>
        </p:nvGrpSpPr>
        <p:grpSpPr>
          <a:xfrm>
            <a:off x="2305685" y="1776358"/>
            <a:ext cx="2959042" cy="2289951"/>
            <a:chOff x="2305685" y="1776358"/>
            <a:chExt cx="2959042" cy="2289951"/>
          </a:xfrm>
        </p:grpSpPr>
        <p:sp>
          <p:nvSpPr>
            <p:cNvPr id="9" name="箭头: 手杖形 8">
              <a:extLst>
                <a:ext uri="{FF2B5EF4-FFF2-40B4-BE49-F238E27FC236}">
                  <a16:creationId xmlns:a16="http://schemas.microsoft.com/office/drawing/2014/main" id="{8CE4C88A-B085-1A56-9A71-EDCD0030FFAD}"/>
                </a:ext>
              </a:extLst>
            </p:cNvPr>
            <p:cNvSpPr/>
            <p:nvPr/>
          </p:nvSpPr>
          <p:spPr>
            <a:xfrm>
              <a:off x="2305685" y="1898073"/>
              <a:ext cx="2959042" cy="2168236"/>
            </a:xfrm>
            <a:prstGeom prst="uturnArrow">
              <a:avLst>
                <a:gd name="adj1" fmla="val 12857"/>
                <a:gd name="adj2" fmla="val 22744"/>
                <a:gd name="adj3" fmla="val 26504"/>
                <a:gd name="adj4" fmla="val 28712"/>
                <a:gd name="adj5" fmla="val 86821"/>
              </a:avLst>
            </a:prstGeom>
            <a:solidFill>
              <a:srgbClr val="D9D9D9"/>
            </a:solidFill>
            <a:ln>
              <a:solidFill>
                <a:srgbClr val="32427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chemeClr val="tx1"/>
                </a:solidFill>
              </a:endParaRPr>
            </a:p>
          </p:txBody>
        </p:sp>
        <p:grpSp>
          <p:nvGrpSpPr>
            <p:cNvPr id="17" name="组合 16">
              <a:extLst>
                <a:ext uri="{FF2B5EF4-FFF2-40B4-BE49-F238E27FC236}">
                  <a16:creationId xmlns:a16="http://schemas.microsoft.com/office/drawing/2014/main" id="{E1F52208-75E3-2816-9F30-F6DF84071191}"/>
                </a:ext>
              </a:extLst>
            </p:cNvPr>
            <p:cNvGrpSpPr/>
            <p:nvPr/>
          </p:nvGrpSpPr>
          <p:grpSpPr>
            <a:xfrm>
              <a:off x="2454793" y="1776358"/>
              <a:ext cx="2300605" cy="893618"/>
              <a:chOff x="2634903" y="1854980"/>
              <a:chExt cx="2300605" cy="1297202"/>
            </a:xfrm>
          </p:grpSpPr>
          <p:sp>
            <p:nvSpPr>
              <p:cNvPr id="11" name="椭圆 10">
                <a:extLst>
                  <a:ext uri="{FF2B5EF4-FFF2-40B4-BE49-F238E27FC236}">
                    <a16:creationId xmlns:a16="http://schemas.microsoft.com/office/drawing/2014/main" id="{FE8CFD4E-3009-85A9-7B5C-3DA63A2F22A3}"/>
                  </a:ext>
                </a:extLst>
              </p:cNvPr>
              <p:cNvSpPr/>
              <p:nvPr/>
            </p:nvSpPr>
            <p:spPr>
              <a:xfrm>
                <a:off x="2634903" y="1854980"/>
                <a:ext cx="2300605" cy="1297202"/>
              </a:xfrm>
              <a:prstGeom prst="ellipse">
                <a:avLst/>
              </a:prstGeom>
              <a:solidFill>
                <a:srgbClr val="D9D9D9"/>
              </a:solidFill>
              <a:ln>
                <a:solidFill>
                  <a:srgbClr val="324273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altLang="zh-CN" sz="1600">
                  <a:solidFill>
                    <a:schemeClr val="tx1"/>
                  </a:solidFill>
                  <a:latin typeface="Consolas" panose="020B0609020204030204" pitchFamily="49" charset="0"/>
                </a:endParaRPr>
              </a:p>
            </p:txBody>
          </p:sp>
          <p:sp>
            <p:nvSpPr>
              <p:cNvPr id="12" name="文本框 11">
                <a:extLst>
                  <a:ext uri="{FF2B5EF4-FFF2-40B4-BE49-F238E27FC236}">
                    <a16:creationId xmlns:a16="http://schemas.microsoft.com/office/drawing/2014/main" id="{CE21E16C-0FE5-74C4-4ECD-17011568764B}"/>
                  </a:ext>
                </a:extLst>
              </p:cNvPr>
              <p:cNvSpPr txBox="1"/>
              <p:nvPr/>
            </p:nvSpPr>
            <p:spPr>
              <a:xfrm>
                <a:off x="2634903" y="2168497"/>
                <a:ext cx="2300605" cy="670166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sz="2400">
                    <a:solidFill>
                      <a:srgbClr val="324273"/>
                    </a:solidFill>
                    <a:latin typeface="Consolas" panose="020B0609020204030204" pitchFamily="49" charset="0"/>
                  </a:rPr>
                  <a:t>data-process</a:t>
                </a:r>
                <a:endParaRPr lang="zh-CN" altLang="en-US" sz="2400">
                  <a:solidFill>
                    <a:srgbClr val="324273"/>
                  </a:solidFill>
                  <a:latin typeface="Consolas" panose="020B0609020204030204" pitchFamily="49" charset="0"/>
                </a:endParaRPr>
              </a:p>
            </p:txBody>
          </p:sp>
        </p:grpSp>
      </p:grpSp>
      <p:grpSp>
        <p:nvGrpSpPr>
          <p:cNvPr id="24" name="组合 23">
            <a:extLst>
              <a:ext uri="{FF2B5EF4-FFF2-40B4-BE49-F238E27FC236}">
                <a16:creationId xmlns:a16="http://schemas.microsoft.com/office/drawing/2014/main" id="{865BC3C4-C855-F144-D680-793B17EB810C}"/>
              </a:ext>
            </a:extLst>
          </p:cNvPr>
          <p:cNvGrpSpPr/>
          <p:nvPr/>
        </p:nvGrpSpPr>
        <p:grpSpPr>
          <a:xfrm flipV="1">
            <a:off x="3106229" y="3872429"/>
            <a:ext cx="2959042" cy="2289951"/>
            <a:chOff x="2305685" y="1776358"/>
            <a:chExt cx="2959042" cy="2289951"/>
          </a:xfrm>
        </p:grpSpPr>
        <p:sp>
          <p:nvSpPr>
            <p:cNvPr id="25" name="箭头: 手杖形 24">
              <a:extLst>
                <a:ext uri="{FF2B5EF4-FFF2-40B4-BE49-F238E27FC236}">
                  <a16:creationId xmlns:a16="http://schemas.microsoft.com/office/drawing/2014/main" id="{01CBA651-BB08-4F6D-3920-3B64A7632564}"/>
                </a:ext>
              </a:extLst>
            </p:cNvPr>
            <p:cNvSpPr/>
            <p:nvPr/>
          </p:nvSpPr>
          <p:spPr>
            <a:xfrm>
              <a:off x="2305685" y="1898073"/>
              <a:ext cx="2959042" cy="2168236"/>
            </a:xfrm>
            <a:prstGeom prst="uturnArrow">
              <a:avLst>
                <a:gd name="adj1" fmla="val 12857"/>
                <a:gd name="adj2" fmla="val 22744"/>
                <a:gd name="adj3" fmla="val 26504"/>
                <a:gd name="adj4" fmla="val 28712"/>
                <a:gd name="adj5" fmla="val 86821"/>
              </a:avLst>
            </a:prstGeom>
            <a:solidFill>
              <a:srgbClr val="D9D9D9"/>
            </a:solidFill>
            <a:ln>
              <a:solidFill>
                <a:srgbClr val="32427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chemeClr val="tx1"/>
                </a:solidFill>
              </a:endParaRPr>
            </a:p>
          </p:txBody>
        </p:sp>
        <p:grpSp>
          <p:nvGrpSpPr>
            <p:cNvPr id="26" name="组合 25">
              <a:extLst>
                <a:ext uri="{FF2B5EF4-FFF2-40B4-BE49-F238E27FC236}">
                  <a16:creationId xmlns:a16="http://schemas.microsoft.com/office/drawing/2014/main" id="{93C4ED80-A076-C045-8D40-1EC57495B06D}"/>
                </a:ext>
              </a:extLst>
            </p:cNvPr>
            <p:cNvGrpSpPr/>
            <p:nvPr/>
          </p:nvGrpSpPr>
          <p:grpSpPr>
            <a:xfrm>
              <a:off x="2454793" y="1776358"/>
              <a:ext cx="2300605" cy="893618"/>
              <a:chOff x="2634903" y="1854980"/>
              <a:chExt cx="2300605" cy="1297202"/>
            </a:xfrm>
          </p:grpSpPr>
          <p:sp>
            <p:nvSpPr>
              <p:cNvPr id="27" name="椭圆 26">
                <a:extLst>
                  <a:ext uri="{FF2B5EF4-FFF2-40B4-BE49-F238E27FC236}">
                    <a16:creationId xmlns:a16="http://schemas.microsoft.com/office/drawing/2014/main" id="{76A608DA-C687-7E3B-3AD4-080C2F79EC46}"/>
                  </a:ext>
                </a:extLst>
              </p:cNvPr>
              <p:cNvSpPr/>
              <p:nvPr/>
            </p:nvSpPr>
            <p:spPr>
              <a:xfrm>
                <a:off x="2634903" y="1854980"/>
                <a:ext cx="2300605" cy="1297202"/>
              </a:xfrm>
              <a:prstGeom prst="ellipse">
                <a:avLst/>
              </a:prstGeom>
              <a:solidFill>
                <a:srgbClr val="D9D9D9"/>
              </a:solidFill>
              <a:ln>
                <a:solidFill>
                  <a:srgbClr val="324273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altLang="zh-CN" sz="1600">
                  <a:solidFill>
                    <a:schemeClr val="tx1"/>
                  </a:solidFill>
                  <a:latin typeface="Consolas" panose="020B0609020204030204" pitchFamily="49" charset="0"/>
                </a:endParaRPr>
              </a:p>
            </p:txBody>
          </p:sp>
          <p:sp>
            <p:nvSpPr>
              <p:cNvPr id="28" name="文本框 27">
                <a:extLst>
                  <a:ext uri="{FF2B5EF4-FFF2-40B4-BE49-F238E27FC236}">
                    <a16:creationId xmlns:a16="http://schemas.microsoft.com/office/drawing/2014/main" id="{47A4E97D-5F22-5BA5-EB17-40B17365A69B}"/>
                  </a:ext>
                </a:extLst>
              </p:cNvPr>
              <p:cNvSpPr txBox="1"/>
              <p:nvPr/>
            </p:nvSpPr>
            <p:spPr>
              <a:xfrm rot="10800000">
                <a:off x="2634903" y="2168497"/>
                <a:ext cx="2300605" cy="670166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sz="2400">
                    <a:solidFill>
                      <a:srgbClr val="324273"/>
                    </a:solidFill>
                    <a:latin typeface="Consolas" panose="020B0609020204030204" pitchFamily="49" charset="0"/>
                  </a:rPr>
                  <a:t>code</a:t>
                </a:r>
                <a:endParaRPr lang="zh-CN" altLang="en-US" sz="2400">
                  <a:solidFill>
                    <a:srgbClr val="324273"/>
                  </a:solidFill>
                  <a:latin typeface="Consolas" panose="020B0609020204030204" pitchFamily="49" charset="0"/>
                </a:endParaRPr>
              </a:p>
            </p:txBody>
          </p:sp>
        </p:grpSp>
      </p:grpSp>
      <p:grpSp>
        <p:nvGrpSpPr>
          <p:cNvPr id="29" name="组合 28">
            <a:extLst>
              <a:ext uri="{FF2B5EF4-FFF2-40B4-BE49-F238E27FC236}">
                <a16:creationId xmlns:a16="http://schemas.microsoft.com/office/drawing/2014/main" id="{2374CAC1-A167-729F-9578-AA5E8F158DEE}"/>
              </a:ext>
            </a:extLst>
          </p:cNvPr>
          <p:cNvGrpSpPr/>
          <p:nvPr/>
        </p:nvGrpSpPr>
        <p:grpSpPr>
          <a:xfrm>
            <a:off x="6231749" y="1794129"/>
            <a:ext cx="2300605" cy="2289951"/>
            <a:chOff x="2305685" y="1776358"/>
            <a:chExt cx="2959042" cy="2289951"/>
          </a:xfrm>
        </p:grpSpPr>
        <p:sp>
          <p:nvSpPr>
            <p:cNvPr id="30" name="箭头: 手杖形 29">
              <a:extLst>
                <a:ext uri="{FF2B5EF4-FFF2-40B4-BE49-F238E27FC236}">
                  <a16:creationId xmlns:a16="http://schemas.microsoft.com/office/drawing/2014/main" id="{FB620023-A22A-3201-1346-67F3C63270DD}"/>
                </a:ext>
              </a:extLst>
            </p:cNvPr>
            <p:cNvSpPr/>
            <p:nvPr/>
          </p:nvSpPr>
          <p:spPr>
            <a:xfrm>
              <a:off x="2305685" y="1898073"/>
              <a:ext cx="2959042" cy="2168236"/>
            </a:xfrm>
            <a:prstGeom prst="uturnArrow">
              <a:avLst>
                <a:gd name="adj1" fmla="val 12857"/>
                <a:gd name="adj2" fmla="val 22744"/>
                <a:gd name="adj3" fmla="val 26504"/>
                <a:gd name="adj4" fmla="val 28712"/>
                <a:gd name="adj5" fmla="val 86821"/>
              </a:avLst>
            </a:prstGeom>
            <a:solidFill>
              <a:srgbClr val="D9D9D9"/>
            </a:solidFill>
            <a:ln>
              <a:solidFill>
                <a:srgbClr val="32427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chemeClr val="tx1"/>
                </a:solidFill>
              </a:endParaRPr>
            </a:p>
          </p:txBody>
        </p:sp>
        <p:grpSp>
          <p:nvGrpSpPr>
            <p:cNvPr id="31" name="组合 30">
              <a:extLst>
                <a:ext uri="{FF2B5EF4-FFF2-40B4-BE49-F238E27FC236}">
                  <a16:creationId xmlns:a16="http://schemas.microsoft.com/office/drawing/2014/main" id="{18FD736E-66F2-B0C7-F8D1-FD73E306EA81}"/>
                </a:ext>
              </a:extLst>
            </p:cNvPr>
            <p:cNvGrpSpPr/>
            <p:nvPr/>
          </p:nvGrpSpPr>
          <p:grpSpPr>
            <a:xfrm>
              <a:off x="2454793" y="1776358"/>
              <a:ext cx="2300605" cy="893618"/>
              <a:chOff x="2634903" y="1854980"/>
              <a:chExt cx="2300605" cy="1297202"/>
            </a:xfrm>
          </p:grpSpPr>
          <p:sp>
            <p:nvSpPr>
              <p:cNvPr id="32" name="椭圆 31">
                <a:extLst>
                  <a:ext uri="{FF2B5EF4-FFF2-40B4-BE49-F238E27FC236}">
                    <a16:creationId xmlns:a16="http://schemas.microsoft.com/office/drawing/2014/main" id="{E1EE8BFB-CE39-6C32-CF70-131C502CF0AE}"/>
                  </a:ext>
                </a:extLst>
              </p:cNvPr>
              <p:cNvSpPr/>
              <p:nvPr/>
            </p:nvSpPr>
            <p:spPr>
              <a:xfrm>
                <a:off x="2634903" y="1854980"/>
                <a:ext cx="2300605" cy="1297202"/>
              </a:xfrm>
              <a:prstGeom prst="ellipse">
                <a:avLst/>
              </a:prstGeom>
              <a:solidFill>
                <a:srgbClr val="D9D9D9"/>
              </a:solidFill>
              <a:ln>
                <a:solidFill>
                  <a:srgbClr val="324273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altLang="zh-CN" sz="1600">
                  <a:solidFill>
                    <a:schemeClr val="tx1"/>
                  </a:solidFill>
                  <a:latin typeface="Consolas" panose="020B0609020204030204" pitchFamily="49" charset="0"/>
                </a:endParaRPr>
              </a:p>
            </p:txBody>
          </p:sp>
          <p:sp>
            <p:nvSpPr>
              <p:cNvPr id="33" name="文本框 32">
                <a:extLst>
                  <a:ext uri="{FF2B5EF4-FFF2-40B4-BE49-F238E27FC236}">
                    <a16:creationId xmlns:a16="http://schemas.microsoft.com/office/drawing/2014/main" id="{D28F2464-870A-33A2-8377-6BE3D27C2A0D}"/>
                  </a:ext>
                </a:extLst>
              </p:cNvPr>
              <p:cNvSpPr txBox="1"/>
              <p:nvPr/>
            </p:nvSpPr>
            <p:spPr>
              <a:xfrm>
                <a:off x="2634903" y="2168497"/>
                <a:ext cx="2300605" cy="670166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sz="2400">
                    <a:solidFill>
                      <a:srgbClr val="324273"/>
                    </a:solidFill>
                    <a:latin typeface="Consolas" panose="020B0609020204030204" pitchFamily="49" charset="0"/>
                  </a:rPr>
                  <a:t>output</a:t>
                </a:r>
                <a:endParaRPr lang="zh-CN" altLang="en-US" sz="2400">
                  <a:solidFill>
                    <a:srgbClr val="324273"/>
                  </a:solidFill>
                  <a:latin typeface="Consolas" panose="020B0609020204030204" pitchFamily="49" charset="0"/>
                </a:endParaRPr>
              </a:p>
            </p:txBody>
          </p:sp>
        </p:grpSp>
      </p:grpSp>
      <p:grpSp>
        <p:nvGrpSpPr>
          <p:cNvPr id="34" name="组合 33">
            <a:extLst>
              <a:ext uri="{FF2B5EF4-FFF2-40B4-BE49-F238E27FC236}">
                <a16:creationId xmlns:a16="http://schemas.microsoft.com/office/drawing/2014/main" id="{A652E499-80FF-A0C5-B90C-4544F4D91BA5}"/>
              </a:ext>
            </a:extLst>
          </p:cNvPr>
          <p:cNvGrpSpPr/>
          <p:nvPr/>
        </p:nvGrpSpPr>
        <p:grpSpPr>
          <a:xfrm flipV="1">
            <a:off x="8532353" y="3845060"/>
            <a:ext cx="1883831" cy="2289951"/>
            <a:chOff x="2305685" y="1776358"/>
            <a:chExt cx="2959042" cy="2289951"/>
          </a:xfrm>
        </p:grpSpPr>
        <p:sp>
          <p:nvSpPr>
            <p:cNvPr id="35" name="箭头: 手杖形 34">
              <a:extLst>
                <a:ext uri="{FF2B5EF4-FFF2-40B4-BE49-F238E27FC236}">
                  <a16:creationId xmlns:a16="http://schemas.microsoft.com/office/drawing/2014/main" id="{A2AC05B5-AC4B-D578-9A0A-978AE90D4A5F}"/>
                </a:ext>
              </a:extLst>
            </p:cNvPr>
            <p:cNvSpPr/>
            <p:nvPr/>
          </p:nvSpPr>
          <p:spPr>
            <a:xfrm>
              <a:off x="2305685" y="1898073"/>
              <a:ext cx="2959042" cy="2168236"/>
            </a:xfrm>
            <a:prstGeom prst="uturnArrow">
              <a:avLst>
                <a:gd name="adj1" fmla="val 12857"/>
                <a:gd name="adj2" fmla="val 22744"/>
                <a:gd name="adj3" fmla="val 26504"/>
                <a:gd name="adj4" fmla="val 28712"/>
                <a:gd name="adj5" fmla="val 86821"/>
              </a:avLst>
            </a:prstGeom>
            <a:solidFill>
              <a:srgbClr val="D9D9D9"/>
            </a:solidFill>
            <a:ln>
              <a:solidFill>
                <a:srgbClr val="32427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chemeClr val="tx1"/>
                </a:solidFill>
              </a:endParaRPr>
            </a:p>
          </p:txBody>
        </p:sp>
        <p:grpSp>
          <p:nvGrpSpPr>
            <p:cNvPr id="36" name="组合 35">
              <a:extLst>
                <a:ext uri="{FF2B5EF4-FFF2-40B4-BE49-F238E27FC236}">
                  <a16:creationId xmlns:a16="http://schemas.microsoft.com/office/drawing/2014/main" id="{B060758C-77C0-7A30-432A-2388E0AB6279}"/>
                </a:ext>
              </a:extLst>
            </p:cNvPr>
            <p:cNvGrpSpPr/>
            <p:nvPr/>
          </p:nvGrpSpPr>
          <p:grpSpPr>
            <a:xfrm>
              <a:off x="2454793" y="1776358"/>
              <a:ext cx="2300605" cy="893618"/>
              <a:chOff x="2634903" y="1854980"/>
              <a:chExt cx="2300605" cy="1297202"/>
            </a:xfrm>
          </p:grpSpPr>
          <p:sp>
            <p:nvSpPr>
              <p:cNvPr id="37" name="椭圆 36">
                <a:extLst>
                  <a:ext uri="{FF2B5EF4-FFF2-40B4-BE49-F238E27FC236}">
                    <a16:creationId xmlns:a16="http://schemas.microsoft.com/office/drawing/2014/main" id="{05D8B4C8-1919-E977-C843-3634755DC7CF}"/>
                  </a:ext>
                </a:extLst>
              </p:cNvPr>
              <p:cNvSpPr/>
              <p:nvPr/>
            </p:nvSpPr>
            <p:spPr>
              <a:xfrm>
                <a:off x="2634903" y="1854980"/>
                <a:ext cx="2300605" cy="1297202"/>
              </a:xfrm>
              <a:prstGeom prst="ellipse">
                <a:avLst/>
              </a:prstGeom>
              <a:solidFill>
                <a:srgbClr val="D9D9D9"/>
              </a:solidFill>
              <a:ln>
                <a:solidFill>
                  <a:srgbClr val="324273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altLang="zh-CN" sz="1600">
                  <a:solidFill>
                    <a:schemeClr val="tx1"/>
                  </a:solidFill>
                  <a:latin typeface="Consolas" panose="020B0609020204030204" pitchFamily="49" charset="0"/>
                </a:endParaRPr>
              </a:p>
            </p:txBody>
          </p:sp>
          <p:sp>
            <p:nvSpPr>
              <p:cNvPr id="38" name="文本框 37">
                <a:extLst>
                  <a:ext uri="{FF2B5EF4-FFF2-40B4-BE49-F238E27FC236}">
                    <a16:creationId xmlns:a16="http://schemas.microsoft.com/office/drawing/2014/main" id="{AEDC9C31-7957-7293-5666-E6B10CFB05F9}"/>
                  </a:ext>
                </a:extLst>
              </p:cNvPr>
              <p:cNvSpPr txBox="1"/>
              <p:nvPr/>
            </p:nvSpPr>
            <p:spPr>
              <a:xfrm rot="10800000">
                <a:off x="2634903" y="2168497"/>
                <a:ext cx="2300605" cy="670166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sz="2400">
                    <a:solidFill>
                      <a:srgbClr val="324273"/>
                    </a:solidFill>
                    <a:latin typeface="Consolas" panose="020B0609020204030204" pitchFamily="49" charset="0"/>
                  </a:rPr>
                  <a:t>submit</a:t>
                </a:r>
                <a:endParaRPr lang="zh-CN" altLang="en-US" sz="2400">
                  <a:solidFill>
                    <a:srgbClr val="324273"/>
                  </a:solidFill>
                  <a:latin typeface="Consolas" panose="020B0609020204030204" pitchFamily="49" charset="0"/>
                </a:endParaRPr>
              </a:p>
            </p:txBody>
          </p:sp>
        </p:grpSp>
      </p:grpSp>
      <p:grpSp>
        <p:nvGrpSpPr>
          <p:cNvPr id="10" name="组合 9">
            <a:extLst>
              <a:ext uri="{FF2B5EF4-FFF2-40B4-BE49-F238E27FC236}">
                <a16:creationId xmlns:a16="http://schemas.microsoft.com/office/drawing/2014/main" id="{02501279-8362-DB79-555C-930C9949C924}"/>
              </a:ext>
            </a:extLst>
          </p:cNvPr>
          <p:cNvGrpSpPr/>
          <p:nvPr/>
        </p:nvGrpSpPr>
        <p:grpSpPr>
          <a:xfrm>
            <a:off x="719687" y="3286440"/>
            <a:ext cx="11121150" cy="1304680"/>
            <a:chOff x="719687" y="3286440"/>
            <a:chExt cx="11121150" cy="1304680"/>
          </a:xfrm>
        </p:grpSpPr>
        <p:sp>
          <p:nvSpPr>
            <p:cNvPr id="4" name="箭头: 上 3">
              <a:extLst>
                <a:ext uri="{FF2B5EF4-FFF2-40B4-BE49-F238E27FC236}">
                  <a16:creationId xmlns:a16="http://schemas.microsoft.com/office/drawing/2014/main" id="{23F4E7DF-4E1C-B930-B49F-F7E817732B67}"/>
                </a:ext>
              </a:extLst>
            </p:cNvPr>
            <p:cNvSpPr/>
            <p:nvPr/>
          </p:nvSpPr>
          <p:spPr>
            <a:xfrm rot="5400000">
              <a:off x="5674501" y="-1575216"/>
              <a:ext cx="1274617" cy="11058055"/>
            </a:xfrm>
            <a:prstGeom prst="upArrow">
              <a:avLst>
                <a:gd name="adj1" fmla="val 27778"/>
                <a:gd name="adj2" fmla="val 88104"/>
              </a:avLst>
            </a:prstGeom>
            <a:solidFill>
              <a:schemeClr val="bg1">
                <a:lumMod val="85000"/>
              </a:schemeClr>
            </a:solidFill>
            <a:ln>
              <a:solidFill>
                <a:srgbClr val="32427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" name="椭圆 5">
              <a:extLst>
                <a:ext uri="{FF2B5EF4-FFF2-40B4-BE49-F238E27FC236}">
                  <a16:creationId xmlns:a16="http://schemas.microsoft.com/office/drawing/2014/main" id="{10D935E9-3B65-3118-A366-EED49860BC69}"/>
                </a:ext>
              </a:extLst>
            </p:cNvPr>
            <p:cNvSpPr/>
            <p:nvPr/>
          </p:nvSpPr>
          <p:spPr>
            <a:xfrm>
              <a:off x="719687" y="3286440"/>
              <a:ext cx="1297202" cy="1297202"/>
            </a:xfrm>
            <a:prstGeom prst="ellipse">
              <a:avLst/>
            </a:prstGeom>
            <a:solidFill>
              <a:srgbClr val="D9D9D9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2400">
                  <a:solidFill>
                    <a:srgbClr val="324273"/>
                  </a:solidFill>
                  <a:latin typeface="Consolas" panose="020B0609020204030204" pitchFamily="49" charset="0"/>
                </a:rPr>
                <a:t>main</a:t>
              </a:r>
              <a:endParaRPr lang="zh-CN" altLang="en-US" sz="2400">
                <a:solidFill>
                  <a:srgbClr val="324273"/>
                </a:solidFill>
                <a:latin typeface="Consolas" panose="020B06090202040302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361493377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05E9D6-E445-0EF3-C41B-181467F12C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10C36FB3-F075-6F0A-184D-D9BE167FAF1E}"/>
              </a:ext>
            </a:extLst>
          </p:cNvPr>
          <p:cNvSpPr/>
          <p:nvPr/>
        </p:nvSpPr>
        <p:spPr>
          <a:xfrm>
            <a:off x="1933575" y="3660775"/>
            <a:ext cx="8324215" cy="427990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3E688E38-D42B-D1B6-F1DD-5C5D0B73E9A6}"/>
              </a:ext>
            </a:extLst>
          </p:cNvPr>
          <p:cNvSpPr/>
          <p:nvPr/>
        </p:nvSpPr>
        <p:spPr>
          <a:xfrm>
            <a:off x="3903713" y="2679383"/>
            <a:ext cx="874395" cy="874395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4800">
                <a:latin typeface="微软雅黑" panose="020B0503020204020204" pitchFamily="34" charset="-122"/>
                <a:ea typeface="微软雅黑" panose="020B0503020204020204" pitchFamily="34" charset="-122"/>
              </a:rPr>
              <a:t>3</a:t>
            </a: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31A8E25B-4851-CEEB-CC4F-A89BB8898A5F}"/>
              </a:ext>
            </a:extLst>
          </p:cNvPr>
          <p:cNvSpPr txBox="1"/>
          <p:nvPr/>
        </p:nvSpPr>
        <p:spPr>
          <a:xfrm>
            <a:off x="4778108" y="2596177"/>
            <a:ext cx="3916680" cy="92333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zh-CN" altLang="en-US" sz="5400" b="1">
                <a:solidFill>
                  <a:schemeClr val="tx2">
                    <a:lumMod val="75000"/>
                    <a:lumOff val="25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实验过程</a:t>
            </a:r>
          </a:p>
        </p:txBody>
      </p:sp>
      <p:cxnSp>
        <p:nvCxnSpPr>
          <p:cNvPr id="32" name="直接连接符 31">
            <a:extLst>
              <a:ext uri="{FF2B5EF4-FFF2-40B4-BE49-F238E27FC236}">
                <a16:creationId xmlns:a16="http://schemas.microsoft.com/office/drawing/2014/main" id="{BC784289-EAFE-2C2C-BC13-A9039C20352C}"/>
              </a:ext>
            </a:extLst>
          </p:cNvPr>
          <p:cNvCxnSpPr/>
          <p:nvPr/>
        </p:nvCxnSpPr>
        <p:spPr>
          <a:xfrm>
            <a:off x="2157095" y="3874770"/>
            <a:ext cx="787781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" name="组合 3">
            <a:extLst>
              <a:ext uri="{FF2B5EF4-FFF2-40B4-BE49-F238E27FC236}">
                <a16:creationId xmlns:a16="http://schemas.microsoft.com/office/drawing/2014/main" id="{C58DA6AC-634E-2C43-6581-2E7711B870C1}"/>
              </a:ext>
            </a:extLst>
          </p:cNvPr>
          <p:cNvGrpSpPr/>
          <p:nvPr/>
        </p:nvGrpSpPr>
        <p:grpSpPr>
          <a:xfrm>
            <a:off x="0" y="-17780"/>
            <a:ext cx="1593850" cy="6095365"/>
            <a:chOff x="0" y="-17780"/>
            <a:chExt cx="1593850" cy="6095365"/>
          </a:xfrm>
        </p:grpSpPr>
        <p:sp>
          <p:nvSpPr>
            <p:cNvPr id="24" name="等腰三角形 23">
              <a:extLst>
                <a:ext uri="{FF2B5EF4-FFF2-40B4-BE49-F238E27FC236}">
                  <a16:creationId xmlns:a16="http://schemas.microsoft.com/office/drawing/2014/main" id="{9ED8CC34-3218-42BA-10B6-3914AC3EB1C1}"/>
                </a:ext>
              </a:extLst>
            </p:cNvPr>
            <p:cNvSpPr/>
            <p:nvPr/>
          </p:nvSpPr>
          <p:spPr>
            <a:xfrm rot="10800000">
              <a:off x="0" y="-17780"/>
              <a:ext cx="1593850" cy="1210945"/>
            </a:xfrm>
            <a:prstGeom prst="triangle">
              <a:avLst/>
            </a:prstGeom>
            <a:solidFill>
              <a:schemeClr val="tx2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33" name="直接连接符 32">
              <a:extLst>
                <a:ext uri="{FF2B5EF4-FFF2-40B4-BE49-F238E27FC236}">
                  <a16:creationId xmlns:a16="http://schemas.microsoft.com/office/drawing/2014/main" id="{3D87FC31-BCC2-F8B2-AC1B-71E6A7F461B1}"/>
                </a:ext>
              </a:extLst>
            </p:cNvPr>
            <p:cNvCxnSpPr/>
            <p:nvPr/>
          </p:nvCxnSpPr>
          <p:spPr>
            <a:xfrm>
              <a:off x="200025" y="2540"/>
              <a:ext cx="0" cy="6075045"/>
            </a:xfrm>
            <a:prstGeom prst="line">
              <a:avLst/>
            </a:prstGeom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直接连接符 33">
              <a:extLst>
                <a:ext uri="{FF2B5EF4-FFF2-40B4-BE49-F238E27FC236}">
                  <a16:creationId xmlns:a16="http://schemas.microsoft.com/office/drawing/2014/main" id="{FCC240CD-0A90-765D-53AE-68B2A5085A42}"/>
                </a:ext>
              </a:extLst>
            </p:cNvPr>
            <p:cNvCxnSpPr/>
            <p:nvPr/>
          </p:nvCxnSpPr>
          <p:spPr>
            <a:xfrm>
              <a:off x="409575" y="348615"/>
              <a:ext cx="0" cy="4763135"/>
            </a:xfrm>
            <a:prstGeom prst="line">
              <a:avLst/>
            </a:prstGeom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直接连接符 36">
              <a:extLst>
                <a:ext uri="{FF2B5EF4-FFF2-40B4-BE49-F238E27FC236}">
                  <a16:creationId xmlns:a16="http://schemas.microsoft.com/office/drawing/2014/main" id="{3F81400C-DF87-70FF-0A59-DFBDA01D0C5D}"/>
                </a:ext>
              </a:extLst>
            </p:cNvPr>
            <p:cNvCxnSpPr/>
            <p:nvPr/>
          </p:nvCxnSpPr>
          <p:spPr>
            <a:xfrm>
              <a:off x="628015" y="576580"/>
              <a:ext cx="0" cy="3105150"/>
            </a:xfrm>
            <a:prstGeom prst="line">
              <a:avLst/>
            </a:prstGeom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" name="组合 4">
            <a:extLst>
              <a:ext uri="{FF2B5EF4-FFF2-40B4-BE49-F238E27FC236}">
                <a16:creationId xmlns:a16="http://schemas.microsoft.com/office/drawing/2014/main" id="{E401BFAD-7B8B-9B21-D577-D6DADB62D49C}"/>
              </a:ext>
            </a:extLst>
          </p:cNvPr>
          <p:cNvGrpSpPr/>
          <p:nvPr/>
        </p:nvGrpSpPr>
        <p:grpSpPr>
          <a:xfrm flipH="1">
            <a:off x="10598150" y="0"/>
            <a:ext cx="1593850" cy="6095365"/>
            <a:chOff x="0" y="-17780"/>
            <a:chExt cx="1593850" cy="6095365"/>
          </a:xfrm>
        </p:grpSpPr>
        <p:sp>
          <p:nvSpPr>
            <p:cNvPr id="6" name="等腰三角形 5">
              <a:extLst>
                <a:ext uri="{FF2B5EF4-FFF2-40B4-BE49-F238E27FC236}">
                  <a16:creationId xmlns:a16="http://schemas.microsoft.com/office/drawing/2014/main" id="{314ECC4B-0218-1DF4-7226-442B39954564}"/>
                </a:ext>
              </a:extLst>
            </p:cNvPr>
            <p:cNvSpPr/>
            <p:nvPr/>
          </p:nvSpPr>
          <p:spPr>
            <a:xfrm rot="10800000">
              <a:off x="0" y="-17780"/>
              <a:ext cx="1593850" cy="1210945"/>
            </a:xfrm>
            <a:prstGeom prst="triangle">
              <a:avLst/>
            </a:prstGeom>
            <a:solidFill>
              <a:schemeClr val="tx2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7" name="直接连接符 6">
              <a:extLst>
                <a:ext uri="{FF2B5EF4-FFF2-40B4-BE49-F238E27FC236}">
                  <a16:creationId xmlns:a16="http://schemas.microsoft.com/office/drawing/2014/main" id="{AA2931EF-FC3F-E183-A54B-CBA2E0B35D84}"/>
                </a:ext>
              </a:extLst>
            </p:cNvPr>
            <p:cNvCxnSpPr/>
            <p:nvPr/>
          </p:nvCxnSpPr>
          <p:spPr>
            <a:xfrm>
              <a:off x="200025" y="2540"/>
              <a:ext cx="0" cy="6075045"/>
            </a:xfrm>
            <a:prstGeom prst="line">
              <a:avLst/>
            </a:prstGeom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直接连接符 7">
              <a:extLst>
                <a:ext uri="{FF2B5EF4-FFF2-40B4-BE49-F238E27FC236}">
                  <a16:creationId xmlns:a16="http://schemas.microsoft.com/office/drawing/2014/main" id="{B75F8B55-5964-3D8B-E43D-5E8B6BF71FA7}"/>
                </a:ext>
              </a:extLst>
            </p:cNvPr>
            <p:cNvCxnSpPr/>
            <p:nvPr/>
          </p:nvCxnSpPr>
          <p:spPr>
            <a:xfrm>
              <a:off x="409575" y="348615"/>
              <a:ext cx="0" cy="4763135"/>
            </a:xfrm>
            <a:prstGeom prst="line">
              <a:avLst/>
            </a:prstGeom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直接连接符 8">
              <a:extLst>
                <a:ext uri="{FF2B5EF4-FFF2-40B4-BE49-F238E27FC236}">
                  <a16:creationId xmlns:a16="http://schemas.microsoft.com/office/drawing/2014/main" id="{99B02B05-E412-C5A8-C8CF-ED2A84AC07EC}"/>
                </a:ext>
              </a:extLst>
            </p:cNvPr>
            <p:cNvCxnSpPr/>
            <p:nvPr/>
          </p:nvCxnSpPr>
          <p:spPr>
            <a:xfrm>
              <a:off x="628015" y="576580"/>
              <a:ext cx="0" cy="3105150"/>
            </a:xfrm>
            <a:prstGeom prst="line">
              <a:avLst/>
            </a:prstGeom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custDataLst>
      <p:tags r:id="rId1"/>
    </p:custDataLst>
    <p:extLst>
      <p:ext uri="{BB962C8B-B14F-4D97-AF65-F5344CB8AC3E}">
        <p14:creationId xmlns:p14="http://schemas.microsoft.com/office/powerpoint/2010/main" val="11895642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046009-1FF5-CD84-DE35-0202377C52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组合 12">
            <a:extLst>
              <a:ext uri="{FF2B5EF4-FFF2-40B4-BE49-F238E27FC236}">
                <a16:creationId xmlns:a16="http://schemas.microsoft.com/office/drawing/2014/main" id="{9DD7718C-326D-FDFD-41AA-123327A6B01D}"/>
              </a:ext>
            </a:extLst>
          </p:cNvPr>
          <p:cNvGrpSpPr/>
          <p:nvPr/>
        </p:nvGrpSpPr>
        <p:grpSpPr>
          <a:xfrm>
            <a:off x="-12700" y="-13335"/>
            <a:ext cx="3762375" cy="874395"/>
            <a:chOff x="-12700" y="-13335"/>
            <a:chExt cx="3762375" cy="874395"/>
          </a:xfrm>
        </p:grpSpPr>
        <p:sp>
          <p:nvSpPr>
            <p:cNvPr id="14" name="矩形 13">
              <a:extLst>
                <a:ext uri="{FF2B5EF4-FFF2-40B4-BE49-F238E27FC236}">
                  <a16:creationId xmlns:a16="http://schemas.microsoft.com/office/drawing/2014/main" id="{5837064C-FAA6-9585-0FF1-67C7CFE29B32}"/>
                </a:ext>
              </a:extLst>
            </p:cNvPr>
            <p:cNvSpPr/>
            <p:nvPr/>
          </p:nvSpPr>
          <p:spPr>
            <a:xfrm>
              <a:off x="-12700" y="784860"/>
              <a:ext cx="3762375" cy="76200"/>
            </a:xfrm>
            <a:prstGeom prst="rect">
              <a:avLst/>
            </a:prstGeom>
            <a:solidFill>
              <a:schemeClr val="tx2">
                <a:lumMod val="75000"/>
                <a:lumOff val="2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5" name="矩形 14">
              <a:extLst>
                <a:ext uri="{FF2B5EF4-FFF2-40B4-BE49-F238E27FC236}">
                  <a16:creationId xmlns:a16="http://schemas.microsoft.com/office/drawing/2014/main" id="{8D5F2967-8429-B365-B64E-86D71443C98A}"/>
                </a:ext>
              </a:extLst>
            </p:cNvPr>
            <p:cNvSpPr/>
            <p:nvPr/>
          </p:nvSpPr>
          <p:spPr>
            <a:xfrm>
              <a:off x="-12700" y="-13335"/>
              <a:ext cx="874395" cy="874395"/>
            </a:xfrm>
            <a:prstGeom prst="rect">
              <a:avLst/>
            </a:prstGeom>
            <a:solidFill>
              <a:schemeClr val="tx2">
                <a:lumMod val="75000"/>
                <a:lumOff val="2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4800">
                  <a:latin typeface="微软雅黑" panose="020B0503020204020204" pitchFamily="34" charset="-122"/>
                  <a:ea typeface="微软雅黑" panose="020B0503020204020204" pitchFamily="34" charset="-122"/>
                </a:rPr>
                <a:t>3</a:t>
              </a:r>
            </a:p>
          </p:txBody>
        </p:sp>
        <p:sp>
          <p:nvSpPr>
            <p:cNvPr id="16" name="文本框 15">
              <a:extLst>
                <a:ext uri="{FF2B5EF4-FFF2-40B4-BE49-F238E27FC236}">
                  <a16:creationId xmlns:a16="http://schemas.microsoft.com/office/drawing/2014/main" id="{E9588F53-F718-466A-493B-956268601F86}"/>
                </a:ext>
              </a:extLst>
            </p:cNvPr>
            <p:cNvSpPr txBox="1"/>
            <p:nvPr/>
          </p:nvSpPr>
          <p:spPr>
            <a:xfrm>
              <a:off x="861695" y="0"/>
              <a:ext cx="2887980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4800" b="1">
                  <a:solidFill>
                    <a:schemeClr val="tx2">
                      <a:lumMod val="75000"/>
                      <a:lumOff val="25000"/>
                    </a:schemeClr>
                  </a:solidFill>
                  <a:latin typeface="华文中宋" panose="02010600040101010101" pitchFamily="2" charset="-122"/>
                  <a:ea typeface="华文中宋" panose="02010600040101010101" pitchFamily="2" charset="-122"/>
                </a:rPr>
                <a:t>实验过程</a:t>
              </a:r>
            </a:p>
          </p:txBody>
        </p:sp>
      </p:grpSp>
      <p:grpSp>
        <p:nvGrpSpPr>
          <p:cNvPr id="7" name="组合 6">
            <a:extLst>
              <a:ext uri="{FF2B5EF4-FFF2-40B4-BE49-F238E27FC236}">
                <a16:creationId xmlns:a16="http://schemas.microsoft.com/office/drawing/2014/main" id="{1B6444A6-C1F1-ED6A-E46B-48560692CBD3}"/>
              </a:ext>
            </a:extLst>
          </p:cNvPr>
          <p:cNvGrpSpPr/>
          <p:nvPr/>
        </p:nvGrpSpPr>
        <p:grpSpPr>
          <a:xfrm>
            <a:off x="861695" y="1539502"/>
            <a:ext cx="10468609" cy="1856958"/>
            <a:chOff x="861695" y="1246460"/>
            <a:chExt cx="10468609" cy="1856958"/>
          </a:xfrm>
        </p:grpSpPr>
        <p:sp>
          <p:nvSpPr>
            <p:cNvPr id="5" name="矩形: 圆角 4">
              <a:extLst>
                <a:ext uri="{FF2B5EF4-FFF2-40B4-BE49-F238E27FC236}">
                  <a16:creationId xmlns:a16="http://schemas.microsoft.com/office/drawing/2014/main" id="{E1079BA2-7AB8-D21B-8016-393361CCE229}"/>
                </a:ext>
              </a:extLst>
            </p:cNvPr>
            <p:cNvSpPr/>
            <p:nvPr/>
          </p:nvSpPr>
          <p:spPr>
            <a:xfrm>
              <a:off x="2445327" y="1565229"/>
              <a:ext cx="8884977" cy="1538189"/>
            </a:xfrm>
            <a:prstGeom prst="roundRect">
              <a:avLst/>
            </a:prstGeom>
            <a:noFill/>
            <a:ln w="19050">
              <a:solidFill>
                <a:srgbClr val="32427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pSp>
          <p:nvGrpSpPr>
            <p:cNvPr id="4" name="组合 3">
              <a:extLst>
                <a:ext uri="{FF2B5EF4-FFF2-40B4-BE49-F238E27FC236}">
                  <a16:creationId xmlns:a16="http://schemas.microsoft.com/office/drawing/2014/main" id="{29A35B39-6CB2-9FA3-95A8-8879BAC15B5F}"/>
                </a:ext>
              </a:extLst>
            </p:cNvPr>
            <p:cNvGrpSpPr/>
            <p:nvPr/>
          </p:nvGrpSpPr>
          <p:grpSpPr>
            <a:xfrm>
              <a:off x="861695" y="1246460"/>
              <a:ext cx="8233410" cy="738794"/>
              <a:chOff x="1070610" y="2122170"/>
              <a:chExt cx="8233410" cy="738794"/>
            </a:xfrm>
          </p:grpSpPr>
          <p:sp>
            <p:nvSpPr>
              <p:cNvPr id="2" name="矩形 1">
                <a:extLst>
                  <a:ext uri="{FF2B5EF4-FFF2-40B4-BE49-F238E27FC236}">
                    <a16:creationId xmlns:a16="http://schemas.microsoft.com/office/drawing/2014/main" id="{DE34FD45-3C04-67A1-359A-A9206388D7BF}"/>
                  </a:ext>
                </a:extLst>
              </p:cNvPr>
              <p:cNvSpPr/>
              <p:nvPr/>
            </p:nvSpPr>
            <p:spPr>
              <a:xfrm>
                <a:off x="1070610" y="2122170"/>
                <a:ext cx="8233410" cy="637540"/>
              </a:xfrm>
              <a:prstGeom prst="rect">
                <a:avLst/>
              </a:prstGeom>
              <a:solidFill>
                <a:schemeClr val="tx2">
                  <a:lumMod val="75000"/>
                  <a:lumOff val="25000"/>
                </a:schemeClr>
              </a:solidFill>
              <a:ln>
                <a:solidFill>
                  <a:schemeClr val="tx2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2400">
                    <a:latin typeface="华文中宋" panose="02010600040101010101" pitchFamily="2" charset="-122"/>
                    <a:ea typeface="华文中宋" panose="02010600040101010101" pitchFamily="2" charset="-122"/>
                  </a:rPr>
                  <a:t>一、项目初期</a:t>
                </a:r>
              </a:p>
            </p:txBody>
          </p:sp>
          <p:sp>
            <p:nvSpPr>
              <p:cNvPr id="3" name="L 形 2">
                <a:extLst>
                  <a:ext uri="{FF2B5EF4-FFF2-40B4-BE49-F238E27FC236}">
                    <a16:creationId xmlns:a16="http://schemas.microsoft.com/office/drawing/2014/main" id="{0323AFC2-DB98-7666-9A8F-77AFC467A9BB}"/>
                  </a:ext>
                </a:extLst>
              </p:cNvPr>
              <p:cNvSpPr/>
              <p:nvPr/>
            </p:nvSpPr>
            <p:spPr>
              <a:xfrm>
                <a:off x="1070610" y="2122170"/>
                <a:ext cx="619645" cy="738794"/>
              </a:xfrm>
              <a:prstGeom prst="corner">
                <a:avLst>
                  <a:gd name="adj1" fmla="val 38914"/>
                  <a:gd name="adj2" fmla="val 48191"/>
                </a:avLst>
              </a:prstGeom>
              <a:solidFill>
                <a:schemeClr val="bg1"/>
              </a:solidFill>
              <a:ln>
                <a:solidFill>
                  <a:srgbClr val="324273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sp>
          <p:nvSpPr>
            <p:cNvPr id="6" name="文本框 5">
              <a:extLst>
                <a:ext uri="{FF2B5EF4-FFF2-40B4-BE49-F238E27FC236}">
                  <a16:creationId xmlns:a16="http://schemas.microsoft.com/office/drawing/2014/main" id="{5CE4184E-F854-63D4-C0E1-DE2083DA1CBB}"/>
                </a:ext>
              </a:extLst>
            </p:cNvPr>
            <p:cNvSpPr txBox="1"/>
            <p:nvPr/>
          </p:nvSpPr>
          <p:spPr>
            <a:xfrm>
              <a:off x="2682960" y="1985254"/>
              <a:ext cx="8409710" cy="9651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indent="457200" algn="just">
                <a:lnSpc>
                  <a:spcPct val="150000"/>
                </a:lnSpc>
              </a:pPr>
              <a:r>
                <a:rPr lang="zh-CN" altLang="en-US" sz="2000">
                  <a:solidFill>
                    <a:srgbClr val="324273"/>
                  </a:solidFill>
                  <a:latin typeface="Consolas" panose="020B0609020204030204" pitchFamily="49" charset="0"/>
                  <a:ea typeface="华文中宋" panose="02010600040101010101" pitchFamily="2" charset="-122"/>
                </a:rPr>
                <a:t>在主题和问题确定之前，建立</a:t>
              </a:r>
              <a:r>
                <a:rPr lang="en-US" altLang="zh-CN" sz="2000">
                  <a:solidFill>
                    <a:srgbClr val="324273"/>
                  </a:solidFill>
                  <a:latin typeface="Consolas" panose="020B0609020204030204" pitchFamily="49" charset="0"/>
                  <a:ea typeface="华文中宋" panose="02010600040101010101" pitchFamily="2" charset="-122"/>
                </a:rPr>
                <a:t>git</a:t>
              </a:r>
              <a:r>
                <a:rPr lang="zh-CN" altLang="en-US" sz="2000">
                  <a:solidFill>
                    <a:srgbClr val="324273"/>
                  </a:solidFill>
                  <a:latin typeface="Consolas" panose="020B0609020204030204" pitchFamily="49" charset="0"/>
                  <a:ea typeface="华文中宋" panose="02010600040101010101" pitchFamily="2" charset="-122"/>
                </a:rPr>
                <a:t>仓库，并准备所有可能需要使用到的论文和数据集。</a:t>
              </a:r>
            </a:p>
          </p:txBody>
        </p:sp>
      </p:grpSp>
      <p:grpSp>
        <p:nvGrpSpPr>
          <p:cNvPr id="8" name="组合 7">
            <a:extLst>
              <a:ext uri="{FF2B5EF4-FFF2-40B4-BE49-F238E27FC236}">
                <a16:creationId xmlns:a16="http://schemas.microsoft.com/office/drawing/2014/main" id="{88C0CF39-0D29-EF45-A190-45E53E8F3E02}"/>
              </a:ext>
            </a:extLst>
          </p:cNvPr>
          <p:cNvGrpSpPr/>
          <p:nvPr/>
        </p:nvGrpSpPr>
        <p:grpSpPr>
          <a:xfrm>
            <a:off x="1481340" y="4216182"/>
            <a:ext cx="10468609" cy="1856958"/>
            <a:chOff x="861695" y="1246460"/>
            <a:chExt cx="10468609" cy="1856958"/>
          </a:xfrm>
        </p:grpSpPr>
        <p:sp>
          <p:nvSpPr>
            <p:cNvPr id="9" name="矩形: 圆角 8">
              <a:extLst>
                <a:ext uri="{FF2B5EF4-FFF2-40B4-BE49-F238E27FC236}">
                  <a16:creationId xmlns:a16="http://schemas.microsoft.com/office/drawing/2014/main" id="{54A7B9EF-6803-57EE-96D6-5DAA15C4D98B}"/>
                </a:ext>
              </a:extLst>
            </p:cNvPr>
            <p:cNvSpPr/>
            <p:nvPr/>
          </p:nvSpPr>
          <p:spPr>
            <a:xfrm>
              <a:off x="2445327" y="1565229"/>
              <a:ext cx="8884977" cy="1538189"/>
            </a:xfrm>
            <a:prstGeom prst="roundRect">
              <a:avLst/>
            </a:prstGeom>
            <a:noFill/>
            <a:ln w="19050">
              <a:solidFill>
                <a:srgbClr val="32427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pSp>
          <p:nvGrpSpPr>
            <p:cNvPr id="10" name="组合 9">
              <a:extLst>
                <a:ext uri="{FF2B5EF4-FFF2-40B4-BE49-F238E27FC236}">
                  <a16:creationId xmlns:a16="http://schemas.microsoft.com/office/drawing/2014/main" id="{B0B18FDE-C0C5-A0DC-A5C6-6842CBF3C7F1}"/>
                </a:ext>
              </a:extLst>
            </p:cNvPr>
            <p:cNvGrpSpPr/>
            <p:nvPr/>
          </p:nvGrpSpPr>
          <p:grpSpPr>
            <a:xfrm>
              <a:off x="861695" y="1246460"/>
              <a:ext cx="8233410" cy="738794"/>
              <a:chOff x="1070610" y="2122170"/>
              <a:chExt cx="8233410" cy="738794"/>
            </a:xfrm>
          </p:grpSpPr>
          <p:sp>
            <p:nvSpPr>
              <p:cNvPr id="12" name="矩形 11">
                <a:extLst>
                  <a:ext uri="{FF2B5EF4-FFF2-40B4-BE49-F238E27FC236}">
                    <a16:creationId xmlns:a16="http://schemas.microsoft.com/office/drawing/2014/main" id="{C4B4664F-875E-B718-CDD5-31F7A76A7236}"/>
                  </a:ext>
                </a:extLst>
              </p:cNvPr>
              <p:cNvSpPr/>
              <p:nvPr/>
            </p:nvSpPr>
            <p:spPr>
              <a:xfrm>
                <a:off x="1070610" y="2122170"/>
                <a:ext cx="8233410" cy="637540"/>
              </a:xfrm>
              <a:prstGeom prst="rect">
                <a:avLst/>
              </a:prstGeom>
              <a:solidFill>
                <a:schemeClr val="tx2">
                  <a:lumMod val="75000"/>
                  <a:lumOff val="25000"/>
                </a:schemeClr>
              </a:solidFill>
              <a:ln>
                <a:solidFill>
                  <a:schemeClr val="tx2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2400">
                    <a:latin typeface="华文中宋" panose="02010600040101010101" pitchFamily="2" charset="-122"/>
                    <a:ea typeface="华文中宋" panose="02010600040101010101" pitchFamily="2" charset="-122"/>
                  </a:rPr>
                  <a:t>二、数据处理（</a:t>
                </a:r>
                <a:r>
                  <a:rPr lang="en-US" altLang="zh-CN" sz="2400">
                    <a:latin typeface="华文中宋" panose="02010600040101010101" pitchFamily="2" charset="-122"/>
                    <a:ea typeface="华文中宋" panose="02010600040101010101" pitchFamily="2" charset="-122"/>
                  </a:rPr>
                  <a:t>data-process</a:t>
                </a:r>
                <a:r>
                  <a:rPr lang="zh-CN" altLang="en-US" sz="2400">
                    <a:latin typeface="华文中宋" panose="02010600040101010101" pitchFamily="2" charset="-122"/>
                    <a:ea typeface="华文中宋" panose="02010600040101010101" pitchFamily="2" charset="-122"/>
                  </a:rPr>
                  <a:t>分支）</a:t>
                </a:r>
              </a:p>
            </p:txBody>
          </p:sp>
          <p:sp>
            <p:nvSpPr>
              <p:cNvPr id="18" name="L 形 17">
                <a:extLst>
                  <a:ext uri="{FF2B5EF4-FFF2-40B4-BE49-F238E27FC236}">
                    <a16:creationId xmlns:a16="http://schemas.microsoft.com/office/drawing/2014/main" id="{1B28E74A-8190-A861-BBA4-0791F0A36963}"/>
                  </a:ext>
                </a:extLst>
              </p:cNvPr>
              <p:cNvSpPr/>
              <p:nvPr/>
            </p:nvSpPr>
            <p:spPr>
              <a:xfrm>
                <a:off x="1070610" y="2122170"/>
                <a:ext cx="619645" cy="738794"/>
              </a:xfrm>
              <a:prstGeom prst="corner">
                <a:avLst>
                  <a:gd name="adj1" fmla="val 38914"/>
                  <a:gd name="adj2" fmla="val 48191"/>
                </a:avLst>
              </a:prstGeom>
              <a:solidFill>
                <a:schemeClr val="bg1"/>
              </a:solidFill>
              <a:ln>
                <a:solidFill>
                  <a:srgbClr val="324273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sp>
          <p:nvSpPr>
            <p:cNvPr id="11" name="文本框 10">
              <a:extLst>
                <a:ext uri="{FF2B5EF4-FFF2-40B4-BE49-F238E27FC236}">
                  <a16:creationId xmlns:a16="http://schemas.microsoft.com/office/drawing/2014/main" id="{427C89CD-0BA3-D964-A6AA-0168F292AF6A}"/>
                </a:ext>
              </a:extLst>
            </p:cNvPr>
            <p:cNvSpPr txBox="1"/>
            <p:nvPr/>
          </p:nvSpPr>
          <p:spPr>
            <a:xfrm>
              <a:off x="2682960" y="1985254"/>
              <a:ext cx="8409710" cy="9651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indent="457200" algn="just">
                <a:lnSpc>
                  <a:spcPct val="150000"/>
                </a:lnSpc>
              </a:pPr>
              <a:r>
                <a:rPr lang="zh-CN" altLang="en-US" sz="2000">
                  <a:solidFill>
                    <a:srgbClr val="324273"/>
                  </a:solidFill>
                  <a:latin typeface="Consolas" panose="020B0609020204030204" pitchFamily="49" charset="0"/>
                  <a:ea typeface="华文中宋" panose="02010600040101010101" pitchFamily="2" charset="-122"/>
                </a:rPr>
                <a:t>确定研究主题和问题之后，对输入数据文件和对照文件做标准化处理，以便于代码的统一输入以及调试对照。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16870458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8FD527-AC5C-13CF-FAEB-1F4EBC5DBC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组合 12">
            <a:extLst>
              <a:ext uri="{FF2B5EF4-FFF2-40B4-BE49-F238E27FC236}">
                <a16:creationId xmlns:a16="http://schemas.microsoft.com/office/drawing/2014/main" id="{BBB72144-FFC6-3A27-D49A-16AD0266E459}"/>
              </a:ext>
            </a:extLst>
          </p:cNvPr>
          <p:cNvGrpSpPr/>
          <p:nvPr/>
        </p:nvGrpSpPr>
        <p:grpSpPr>
          <a:xfrm>
            <a:off x="-12700" y="-13335"/>
            <a:ext cx="3762375" cy="874395"/>
            <a:chOff x="-12700" y="-13335"/>
            <a:chExt cx="3762375" cy="874395"/>
          </a:xfrm>
        </p:grpSpPr>
        <p:sp>
          <p:nvSpPr>
            <p:cNvPr id="14" name="矩形 13">
              <a:extLst>
                <a:ext uri="{FF2B5EF4-FFF2-40B4-BE49-F238E27FC236}">
                  <a16:creationId xmlns:a16="http://schemas.microsoft.com/office/drawing/2014/main" id="{6B5BD1BC-4EB4-295D-1ED1-C3799A7A2D2C}"/>
                </a:ext>
              </a:extLst>
            </p:cNvPr>
            <p:cNvSpPr/>
            <p:nvPr/>
          </p:nvSpPr>
          <p:spPr>
            <a:xfrm>
              <a:off x="-12700" y="784860"/>
              <a:ext cx="3762375" cy="76200"/>
            </a:xfrm>
            <a:prstGeom prst="rect">
              <a:avLst/>
            </a:prstGeom>
            <a:solidFill>
              <a:schemeClr val="tx2">
                <a:lumMod val="75000"/>
                <a:lumOff val="2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5" name="矩形 14">
              <a:extLst>
                <a:ext uri="{FF2B5EF4-FFF2-40B4-BE49-F238E27FC236}">
                  <a16:creationId xmlns:a16="http://schemas.microsoft.com/office/drawing/2014/main" id="{58E0793E-99DA-0B6B-BF03-8769F691E4CD}"/>
                </a:ext>
              </a:extLst>
            </p:cNvPr>
            <p:cNvSpPr/>
            <p:nvPr/>
          </p:nvSpPr>
          <p:spPr>
            <a:xfrm>
              <a:off x="-12700" y="-13335"/>
              <a:ext cx="874395" cy="874395"/>
            </a:xfrm>
            <a:prstGeom prst="rect">
              <a:avLst/>
            </a:prstGeom>
            <a:solidFill>
              <a:schemeClr val="tx2">
                <a:lumMod val="75000"/>
                <a:lumOff val="2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4800">
                  <a:latin typeface="微软雅黑" panose="020B0503020204020204" pitchFamily="34" charset="-122"/>
                  <a:ea typeface="微软雅黑" panose="020B0503020204020204" pitchFamily="34" charset="-122"/>
                </a:rPr>
                <a:t>3</a:t>
              </a:r>
            </a:p>
          </p:txBody>
        </p:sp>
        <p:sp>
          <p:nvSpPr>
            <p:cNvPr id="16" name="文本框 15">
              <a:extLst>
                <a:ext uri="{FF2B5EF4-FFF2-40B4-BE49-F238E27FC236}">
                  <a16:creationId xmlns:a16="http://schemas.microsoft.com/office/drawing/2014/main" id="{86EAE3E5-97A7-4522-28D6-43271DAFE888}"/>
                </a:ext>
              </a:extLst>
            </p:cNvPr>
            <p:cNvSpPr txBox="1"/>
            <p:nvPr/>
          </p:nvSpPr>
          <p:spPr>
            <a:xfrm>
              <a:off x="861695" y="0"/>
              <a:ext cx="2887980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4800" b="1">
                  <a:solidFill>
                    <a:schemeClr val="tx2">
                      <a:lumMod val="75000"/>
                      <a:lumOff val="25000"/>
                    </a:schemeClr>
                  </a:solidFill>
                  <a:latin typeface="华文中宋" panose="02010600040101010101" pitchFamily="2" charset="-122"/>
                  <a:ea typeface="华文中宋" panose="02010600040101010101" pitchFamily="2" charset="-122"/>
                </a:rPr>
                <a:t>实验过程</a:t>
              </a:r>
            </a:p>
          </p:txBody>
        </p:sp>
      </p:grpSp>
      <p:grpSp>
        <p:nvGrpSpPr>
          <p:cNvPr id="7" name="组合 6">
            <a:extLst>
              <a:ext uri="{FF2B5EF4-FFF2-40B4-BE49-F238E27FC236}">
                <a16:creationId xmlns:a16="http://schemas.microsoft.com/office/drawing/2014/main" id="{ECE3490B-4BB3-42B1-5607-6A442C70A593}"/>
              </a:ext>
            </a:extLst>
          </p:cNvPr>
          <p:cNvGrpSpPr/>
          <p:nvPr/>
        </p:nvGrpSpPr>
        <p:grpSpPr>
          <a:xfrm>
            <a:off x="861695" y="1053366"/>
            <a:ext cx="10468609" cy="1834080"/>
            <a:chOff x="861695" y="1246460"/>
            <a:chExt cx="10468609" cy="1834080"/>
          </a:xfrm>
        </p:grpSpPr>
        <p:sp>
          <p:nvSpPr>
            <p:cNvPr id="5" name="矩形: 圆角 4">
              <a:extLst>
                <a:ext uri="{FF2B5EF4-FFF2-40B4-BE49-F238E27FC236}">
                  <a16:creationId xmlns:a16="http://schemas.microsoft.com/office/drawing/2014/main" id="{507586F8-9B45-DBEF-379F-C88869A02332}"/>
                </a:ext>
              </a:extLst>
            </p:cNvPr>
            <p:cNvSpPr/>
            <p:nvPr/>
          </p:nvSpPr>
          <p:spPr>
            <a:xfrm>
              <a:off x="2445327" y="1565229"/>
              <a:ext cx="8884977" cy="1515311"/>
            </a:xfrm>
            <a:prstGeom prst="roundRect">
              <a:avLst/>
            </a:prstGeom>
            <a:noFill/>
            <a:ln w="19050">
              <a:solidFill>
                <a:srgbClr val="32427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pSp>
          <p:nvGrpSpPr>
            <p:cNvPr id="4" name="组合 3">
              <a:extLst>
                <a:ext uri="{FF2B5EF4-FFF2-40B4-BE49-F238E27FC236}">
                  <a16:creationId xmlns:a16="http://schemas.microsoft.com/office/drawing/2014/main" id="{259D5F51-5A13-ACF6-7081-D71944E6B2FB}"/>
                </a:ext>
              </a:extLst>
            </p:cNvPr>
            <p:cNvGrpSpPr/>
            <p:nvPr/>
          </p:nvGrpSpPr>
          <p:grpSpPr>
            <a:xfrm>
              <a:off x="861695" y="1246460"/>
              <a:ext cx="8233410" cy="738794"/>
              <a:chOff x="1070610" y="2122170"/>
              <a:chExt cx="8233410" cy="738794"/>
            </a:xfrm>
          </p:grpSpPr>
          <p:sp>
            <p:nvSpPr>
              <p:cNvPr id="2" name="矩形 1">
                <a:extLst>
                  <a:ext uri="{FF2B5EF4-FFF2-40B4-BE49-F238E27FC236}">
                    <a16:creationId xmlns:a16="http://schemas.microsoft.com/office/drawing/2014/main" id="{02CB0E92-D69C-ECBD-2F3D-0A0FB92978E6}"/>
                  </a:ext>
                </a:extLst>
              </p:cNvPr>
              <p:cNvSpPr/>
              <p:nvPr/>
            </p:nvSpPr>
            <p:spPr>
              <a:xfrm>
                <a:off x="1070610" y="2122170"/>
                <a:ext cx="8233410" cy="637540"/>
              </a:xfrm>
              <a:prstGeom prst="rect">
                <a:avLst/>
              </a:prstGeom>
              <a:solidFill>
                <a:schemeClr val="tx2">
                  <a:lumMod val="75000"/>
                  <a:lumOff val="25000"/>
                </a:schemeClr>
              </a:solidFill>
              <a:ln>
                <a:solidFill>
                  <a:schemeClr val="tx2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2400">
                    <a:latin typeface="华文中宋" panose="02010600040101010101" pitchFamily="2" charset="-122"/>
                    <a:ea typeface="华文中宋" panose="02010600040101010101" pitchFamily="2" charset="-122"/>
                  </a:rPr>
                  <a:t>三、代码编写（</a:t>
                </a:r>
                <a:r>
                  <a:rPr lang="en-US" altLang="zh-CN" sz="2400">
                    <a:latin typeface="华文中宋" panose="02010600040101010101" pitchFamily="2" charset="-122"/>
                    <a:ea typeface="华文中宋" panose="02010600040101010101" pitchFamily="2" charset="-122"/>
                  </a:rPr>
                  <a:t>code</a:t>
                </a:r>
                <a:r>
                  <a:rPr lang="zh-CN" altLang="en-US" sz="2400">
                    <a:latin typeface="华文中宋" panose="02010600040101010101" pitchFamily="2" charset="-122"/>
                    <a:ea typeface="华文中宋" panose="02010600040101010101" pitchFamily="2" charset="-122"/>
                  </a:rPr>
                  <a:t>分支）</a:t>
                </a:r>
              </a:p>
            </p:txBody>
          </p:sp>
          <p:sp>
            <p:nvSpPr>
              <p:cNvPr id="3" name="L 形 2">
                <a:extLst>
                  <a:ext uri="{FF2B5EF4-FFF2-40B4-BE49-F238E27FC236}">
                    <a16:creationId xmlns:a16="http://schemas.microsoft.com/office/drawing/2014/main" id="{3674CEF9-6B98-6C41-1F45-0B89899602CC}"/>
                  </a:ext>
                </a:extLst>
              </p:cNvPr>
              <p:cNvSpPr/>
              <p:nvPr/>
            </p:nvSpPr>
            <p:spPr>
              <a:xfrm>
                <a:off x="1070610" y="2122170"/>
                <a:ext cx="619645" cy="738794"/>
              </a:xfrm>
              <a:prstGeom prst="corner">
                <a:avLst>
                  <a:gd name="adj1" fmla="val 38914"/>
                  <a:gd name="adj2" fmla="val 48191"/>
                </a:avLst>
              </a:prstGeom>
              <a:solidFill>
                <a:schemeClr val="bg1"/>
              </a:solidFill>
              <a:ln>
                <a:solidFill>
                  <a:srgbClr val="324273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sp>
          <p:nvSpPr>
            <p:cNvPr id="6" name="文本框 5">
              <a:extLst>
                <a:ext uri="{FF2B5EF4-FFF2-40B4-BE49-F238E27FC236}">
                  <a16:creationId xmlns:a16="http://schemas.microsoft.com/office/drawing/2014/main" id="{7F6CAE1F-CF0C-B3D7-1A19-826946AB0A2E}"/>
                </a:ext>
              </a:extLst>
            </p:cNvPr>
            <p:cNvSpPr txBox="1"/>
            <p:nvPr/>
          </p:nvSpPr>
          <p:spPr>
            <a:xfrm>
              <a:off x="3227932" y="2018456"/>
              <a:ext cx="6724276" cy="50456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50000"/>
                </a:lnSpc>
              </a:pPr>
              <a:r>
                <a:rPr lang="zh-CN" altLang="en-US" sz="2000">
                  <a:solidFill>
                    <a:srgbClr val="324273"/>
                  </a:solidFill>
                  <a:latin typeface="Consolas" panose="020B0609020204030204" pitchFamily="49" charset="0"/>
                  <a:ea typeface="华文中宋" panose="02010600040101010101" pitchFamily="2" charset="-122"/>
                </a:rPr>
                <a:t>我们决定采用多种不同的策略求解</a:t>
              </a:r>
              <a:r>
                <a:rPr lang="en-US" altLang="zh-CN" sz="2000">
                  <a:solidFill>
                    <a:srgbClr val="324273"/>
                  </a:solidFill>
                  <a:latin typeface="Consolas" panose="020B0609020204030204" pitchFamily="49" charset="0"/>
                  <a:ea typeface="华文中宋" panose="02010600040101010101" pitchFamily="2" charset="-122"/>
                </a:rPr>
                <a:t>TSP</a:t>
              </a:r>
              <a:r>
                <a:rPr lang="zh-CN" altLang="en-US" sz="2000">
                  <a:solidFill>
                    <a:srgbClr val="324273"/>
                  </a:solidFill>
                  <a:latin typeface="Consolas" panose="020B0609020204030204" pitchFamily="49" charset="0"/>
                  <a:ea typeface="华文中宋" panose="02010600040101010101" pitchFamily="2" charset="-122"/>
                </a:rPr>
                <a:t>问题。</a:t>
              </a:r>
            </a:p>
          </p:txBody>
        </p:sp>
      </p:grpSp>
      <p:grpSp>
        <p:nvGrpSpPr>
          <p:cNvPr id="38" name="组合 37">
            <a:extLst>
              <a:ext uri="{FF2B5EF4-FFF2-40B4-BE49-F238E27FC236}">
                <a16:creationId xmlns:a16="http://schemas.microsoft.com/office/drawing/2014/main" id="{8B99F299-5E5B-29CA-23F4-FDC40E7AAAE2}"/>
              </a:ext>
            </a:extLst>
          </p:cNvPr>
          <p:cNvGrpSpPr/>
          <p:nvPr/>
        </p:nvGrpSpPr>
        <p:grpSpPr>
          <a:xfrm>
            <a:off x="826367" y="2522084"/>
            <a:ext cx="3231919" cy="3943770"/>
            <a:chOff x="844031" y="2642858"/>
            <a:chExt cx="3231919" cy="3943770"/>
          </a:xfrm>
        </p:grpSpPr>
        <p:grpSp>
          <p:nvGrpSpPr>
            <p:cNvPr id="22" name="组合 21">
              <a:extLst>
                <a:ext uri="{FF2B5EF4-FFF2-40B4-BE49-F238E27FC236}">
                  <a16:creationId xmlns:a16="http://schemas.microsoft.com/office/drawing/2014/main" id="{8D70F280-70B4-D284-FA70-4967C0CF8167}"/>
                </a:ext>
              </a:extLst>
            </p:cNvPr>
            <p:cNvGrpSpPr/>
            <p:nvPr/>
          </p:nvGrpSpPr>
          <p:grpSpPr>
            <a:xfrm>
              <a:off x="861695" y="2642858"/>
              <a:ext cx="3214255" cy="3943770"/>
              <a:chOff x="1171517" y="2642858"/>
              <a:chExt cx="3214255" cy="3943770"/>
            </a:xfrm>
          </p:grpSpPr>
          <p:sp>
            <p:nvSpPr>
              <p:cNvPr id="17" name="矩形: 圆角 16">
                <a:extLst>
                  <a:ext uri="{FF2B5EF4-FFF2-40B4-BE49-F238E27FC236}">
                    <a16:creationId xmlns:a16="http://schemas.microsoft.com/office/drawing/2014/main" id="{FEBA9793-26C4-3749-8940-ACB91AE54452}"/>
                  </a:ext>
                </a:extLst>
              </p:cNvPr>
              <p:cNvSpPr/>
              <p:nvPr/>
            </p:nvSpPr>
            <p:spPr>
              <a:xfrm>
                <a:off x="1171517" y="2642858"/>
                <a:ext cx="3214255" cy="3943770"/>
              </a:xfrm>
              <a:prstGeom prst="roundRect">
                <a:avLst/>
              </a:prstGeom>
              <a:solidFill>
                <a:srgbClr val="D9D9D9"/>
              </a:solidFill>
              <a:ln w="19050">
                <a:solidFill>
                  <a:srgbClr val="324273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" name="文本框 19">
                <a:extLst>
                  <a:ext uri="{FF2B5EF4-FFF2-40B4-BE49-F238E27FC236}">
                    <a16:creationId xmlns:a16="http://schemas.microsoft.com/office/drawing/2014/main" id="{84318373-B746-B3EF-1ED6-75A0EB7C136E}"/>
                  </a:ext>
                </a:extLst>
              </p:cNvPr>
              <p:cNvSpPr txBox="1"/>
              <p:nvPr/>
            </p:nvSpPr>
            <p:spPr>
              <a:xfrm>
                <a:off x="1711844" y="2776587"/>
                <a:ext cx="2133600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2800" b="1">
                    <a:solidFill>
                      <a:srgbClr val="324273"/>
                    </a:solidFill>
                    <a:latin typeface="Consolas" panose="020B0609020204030204" pitchFamily="49" charset="0"/>
                    <a:ea typeface="华文中宋" panose="02010600040101010101" pitchFamily="2" charset="-122"/>
                  </a:rPr>
                  <a:t>DFS</a:t>
                </a:r>
                <a:endParaRPr lang="zh-CN" altLang="en-US" sz="2800" b="1">
                  <a:solidFill>
                    <a:srgbClr val="324273"/>
                  </a:solidFill>
                  <a:latin typeface="Consolas" panose="020B0609020204030204" pitchFamily="49" charset="0"/>
                  <a:ea typeface="华文中宋" panose="02010600040101010101" pitchFamily="2" charset="-122"/>
                </a:endParaRPr>
              </a:p>
            </p:txBody>
          </p:sp>
        </p:grpSp>
        <p:sp>
          <p:nvSpPr>
            <p:cNvPr id="31" name="文本框 30">
              <a:extLst>
                <a:ext uri="{FF2B5EF4-FFF2-40B4-BE49-F238E27FC236}">
                  <a16:creationId xmlns:a16="http://schemas.microsoft.com/office/drawing/2014/main" id="{0E2A269C-2F80-7CFF-148D-5AE8B96C1064}"/>
                </a:ext>
              </a:extLst>
            </p:cNvPr>
            <p:cNvSpPr txBox="1"/>
            <p:nvPr/>
          </p:nvSpPr>
          <p:spPr>
            <a:xfrm>
              <a:off x="844031" y="3373582"/>
              <a:ext cx="874395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zh-CN"/>
              </a:defPPr>
              <a:lvl1pPr algn="ctr">
                <a:defRPr sz="2800" b="1">
                  <a:solidFill>
                    <a:srgbClr val="324273"/>
                  </a:solidFill>
                  <a:latin typeface="Consolas" panose="020B0609020204030204" pitchFamily="49" charset="0"/>
                  <a:ea typeface="华文中宋" panose="02010600040101010101" pitchFamily="2" charset="-122"/>
                </a:defRPr>
              </a:lvl1pPr>
            </a:lstStyle>
            <a:p>
              <a:pPr algn="l"/>
              <a:r>
                <a:rPr lang="zh-CN" altLang="en-US" sz="2000"/>
                <a:t>优点：</a:t>
              </a:r>
            </a:p>
          </p:txBody>
        </p:sp>
        <p:sp>
          <p:nvSpPr>
            <p:cNvPr id="32" name="文本框 31">
              <a:extLst>
                <a:ext uri="{FF2B5EF4-FFF2-40B4-BE49-F238E27FC236}">
                  <a16:creationId xmlns:a16="http://schemas.microsoft.com/office/drawing/2014/main" id="{D1BFB850-34AA-AA74-012E-E7B921574542}"/>
                </a:ext>
              </a:extLst>
            </p:cNvPr>
            <p:cNvSpPr txBox="1"/>
            <p:nvPr/>
          </p:nvSpPr>
          <p:spPr>
            <a:xfrm>
              <a:off x="844031" y="4790818"/>
              <a:ext cx="874395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zh-CN"/>
              </a:defPPr>
              <a:lvl1pPr algn="ctr">
                <a:defRPr sz="2800" b="1">
                  <a:solidFill>
                    <a:srgbClr val="324273"/>
                  </a:solidFill>
                  <a:latin typeface="Consolas" panose="020B0609020204030204" pitchFamily="49" charset="0"/>
                  <a:ea typeface="华文中宋" panose="02010600040101010101" pitchFamily="2" charset="-122"/>
                </a:defRPr>
              </a:lvl1pPr>
            </a:lstStyle>
            <a:p>
              <a:pPr algn="l"/>
              <a:r>
                <a:rPr lang="zh-CN" altLang="en-US" sz="2000"/>
                <a:t>缺点：</a:t>
              </a:r>
            </a:p>
          </p:txBody>
        </p:sp>
        <p:sp>
          <p:nvSpPr>
            <p:cNvPr id="33" name="文本框 32">
              <a:extLst>
                <a:ext uri="{FF2B5EF4-FFF2-40B4-BE49-F238E27FC236}">
                  <a16:creationId xmlns:a16="http://schemas.microsoft.com/office/drawing/2014/main" id="{4C8A254B-1D6D-96AC-03E5-9E3C30E053BC}"/>
                </a:ext>
              </a:extLst>
            </p:cNvPr>
            <p:cNvSpPr txBox="1"/>
            <p:nvPr/>
          </p:nvSpPr>
          <p:spPr>
            <a:xfrm>
              <a:off x="1586258" y="3330584"/>
              <a:ext cx="2472027" cy="121520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just">
                <a:lnSpc>
                  <a:spcPct val="125000"/>
                </a:lnSpc>
              </a:pPr>
              <a:r>
                <a:rPr lang="zh-CN" altLang="en-US" sz="2000">
                  <a:solidFill>
                    <a:srgbClr val="324273"/>
                  </a:solidFill>
                  <a:latin typeface="Consolas" panose="020B0609020204030204" pitchFamily="49" charset="0"/>
                  <a:ea typeface="华文中宋" panose="02010600040101010101" pitchFamily="2" charset="-122"/>
                </a:rPr>
                <a:t>状态空间树占用空间较少，且易于用递归实现。</a:t>
              </a:r>
            </a:p>
          </p:txBody>
        </p:sp>
        <p:sp>
          <p:nvSpPr>
            <p:cNvPr id="34" name="文本框 33">
              <a:extLst>
                <a:ext uri="{FF2B5EF4-FFF2-40B4-BE49-F238E27FC236}">
                  <a16:creationId xmlns:a16="http://schemas.microsoft.com/office/drawing/2014/main" id="{850BCE0A-3889-79CE-33A4-92C8FCBC0458}"/>
                </a:ext>
              </a:extLst>
            </p:cNvPr>
            <p:cNvSpPr txBox="1"/>
            <p:nvPr/>
          </p:nvSpPr>
          <p:spPr>
            <a:xfrm>
              <a:off x="1581811" y="4747844"/>
              <a:ext cx="2472027" cy="159992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just">
                <a:lnSpc>
                  <a:spcPct val="125000"/>
                </a:lnSpc>
              </a:pPr>
              <a:r>
                <a:rPr lang="zh-CN" altLang="en-US" sz="2000">
                  <a:solidFill>
                    <a:srgbClr val="324273"/>
                  </a:solidFill>
                  <a:latin typeface="Consolas" panose="020B0609020204030204" pitchFamily="49" charset="0"/>
                  <a:ea typeface="华文中宋" panose="02010600040101010101" pitchFamily="2" charset="-122"/>
                </a:rPr>
                <a:t>当状态空间树很高时，函数调用栈可能溢出，并且难以在全局上进行优化。</a:t>
              </a:r>
            </a:p>
          </p:txBody>
        </p:sp>
      </p:grpSp>
      <p:grpSp>
        <p:nvGrpSpPr>
          <p:cNvPr id="8" name="组合 7">
            <a:extLst>
              <a:ext uri="{FF2B5EF4-FFF2-40B4-BE49-F238E27FC236}">
                <a16:creationId xmlns:a16="http://schemas.microsoft.com/office/drawing/2014/main" id="{B5DA57BA-1AA9-B9A1-C4EB-18EA32D95BF4}"/>
              </a:ext>
            </a:extLst>
          </p:cNvPr>
          <p:cNvGrpSpPr/>
          <p:nvPr/>
        </p:nvGrpSpPr>
        <p:grpSpPr>
          <a:xfrm>
            <a:off x="4616277" y="2522084"/>
            <a:ext cx="3231919" cy="3943770"/>
            <a:chOff x="844031" y="2642858"/>
            <a:chExt cx="3231919" cy="3943770"/>
          </a:xfrm>
        </p:grpSpPr>
        <p:grpSp>
          <p:nvGrpSpPr>
            <p:cNvPr id="9" name="组合 8">
              <a:extLst>
                <a:ext uri="{FF2B5EF4-FFF2-40B4-BE49-F238E27FC236}">
                  <a16:creationId xmlns:a16="http://schemas.microsoft.com/office/drawing/2014/main" id="{CBCCA810-30DD-26AF-CEE2-C0C41007BEE6}"/>
                </a:ext>
              </a:extLst>
            </p:cNvPr>
            <p:cNvGrpSpPr/>
            <p:nvPr/>
          </p:nvGrpSpPr>
          <p:grpSpPr>
            <a:xfrm>
              <a:off x="861695" y="2642858"/>
              <a:ext cx="3214255" cy="3943770"/>
              <a:chOff x="1171517" y="2642858"/>
              <a:chExt cx="3214255" cy="3943770"/>
            </a:xfrm>
          </p:grpSpPr>
          <p:sp>
            <p:nvSpPr>
              <p:cNvPr id="19" name="矩形: 圆角 18">
                <a:extLst>
                  <a:ext uri="{FF2B5EF4-FFF2-40B4-BE49-F238E27FC236}">
                    <a16:creationId xmlns:a16="http://schemas.microsoft.com/office/drawing/2014/main" id="{ABD18F83-8A1D-6FA4-4912-6003ADACF677}"/>
                  </a:ext>
                </a:extLst>
              </p:cNvPr>
              <p:cNvSpPr/>
              <p:nvPr/>
            </p:nvSpPr>
            <p:spPr>
              <a:xfrm>
                <a:off x="1171517" y="2642858"/>
                <a:ext cx="3214255" cy="3943770"/>
              </a:xfrm>
              <a:prstGeom prst="roundRect">
                <a:avLst/>
              </a:prstGeom>
              <a:solidFill>
                <a:srgbClr val="D9D9D9"/>
              </a:solidFill>
              <a:ln w="19050">
                <a:solidFill>
                  <a:srgbClr val="324273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" name="文本框 20">
                <a:extLst>
                  <a:ext uri="{FF2B5EF4-FFF2-40B4-BE49-F238E27FC236}">
                    <a16:creationId xmlns:a16="http://schemas.microsoft.com/office/drawing/2014/main" id="{DD8390C8-ECD2-FF16-0E80-4AE7E25BDB60}"/>
                  </a:ext>
                </a:extLst>
              </p:cNvPr>
              <p:cNvSpPr txBox="1"/>
              <p:nvPr/>
            </p:nvSpPr>
            <p:spPr>
              <a:xfrm>
                <a:off x="1711844" y="2776587"/>
                <a:ext cx="2133600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2800" b="1">
                    <a:solidFill>
                      <a:srgbClr val="324273"/>
                    </a:solidFill>
                    <a:latin typeface="Consolas" panose="020B0609020204030204" pitchFamily="49" charset="0"/>
                    <a:ea typeface="华文中宋" panose="02010600040101010101" pitchFamily="2" charset="-122"/>
                  </a:rPr>
                  <a:t>BFS</a:t>
                </a:r>
                <a:endParaRPr lang="zh-CN" altLang="en-US" sz="2800" b="1">
                  <a:solidFill>
                    <a:srgbClr val="324273"/>
                  </a:solidFill>
                  <a:latin typeface="Consolas" panose="020B0609020204030204" pitchFamily="49" charset="0"/>
                  <a:ea typeface="华文中宋" panose="02010600040101010101" pitchFamily="2" charset="-122"/>
                </a:endParaRPr>
              </a:p>
            </p:txBody>
          </p:sp>
        </p:grpSp>
        <p:sp>
          <p:nvSpPr>
            <p:cNvPr id="10" name="文本框 9">
              <a:extLst>
                <a:ext uri="{FF2B5EF4-FFF2-40B4-BE49-F238E27FC236}">
                  <a16:creationId xmlns:a16="http://schemas.microsoft.com/office/drawing/2014/main" id="{459C16CC-006A-272D-B2B2-4C72E78FA384}"/>
                </a:ext>
              </a:extLst>
            </p:cNvPr>
            <p:cNvSpPr txBox="1"/>
            <p:nvPr/>
          </p:nvSpPr>
          <p:spPr>
            <a:xfrm>
              <a:off x="844031" y="3373582"/>
              <a:ext cx="874395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zh-CN"/>
              </a:defPPr>
              <a:lvl1pPr algn="ctr">
                <a:defRPr sz="2800" b="1">
                  <a:solidFill>
                    <a:srgbClr val="324273"/>
                  </a:solidFill>
                  <a:latin typeface="Consolas" panose="020B0609020204030204" pitchFamily="49" charset="0"/>
                  <a:ea typeface="华文中宋" panose="02010600040101010101" pitchFamily="2" charset="-122"/>
                </a:defRPr>
              </a:lvl1pPr>
            </a:lstStyle>
            <a:p>
              <a:pPr algn="l"/>
              <a:r>
                <a:rPr lang="zh-CN" altLang="en-US" sz="2000"/>
                <a:t>优点：</a:t>
              </a:r>
            </a:p>
          </p:txBody>
        </p:sp>
        <p:sp>
          <p:nvSpPr>
            <p:cNvPr id="11" name="文本框 10">
              <a:extLst>
                <a:ext uri="{FF2B5EF4-FFF2-40B4-BE49-F238E27FC236}">
                  <a16:creationId xmlns:a16="http://schemas.microsoft.com/office/drawing/2014/main" id="{B4E11960-4CD2-D0E2-7548-7B300F1949A3}"/>
                </a:ext>
              </a:extLst>
            </p:cNvPr>
            <p:cNvSpPr txBox="1"/>
            <p:nvPr/>
          </p:nvSpPr>
          <p:spPr>
            <a:xfrm>
              <a:off x="844031" y="4790818"/>
              <a:ext cx="874395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zh-CN"/>
              </a:defPPr>
              <a:lvl1pPr algn="ctr">
                <a:defRPr sz="2800" b="1">
                  <a:solidFill>
                    <a:srgbClr val="324273"/>
                  </a:solidFill>
                  <a:latin typeface="Consolas" panose="020B0609020204030204" pitchFamily="49" charset="0"/>
                  <a:ea typeface="华文中宋" panose="02010600040101010101" pitchFamily="2" charset="-122"/>
                </a:defRPr>
              </a:lvl1pPr>
            </a:lstStyle>
            <a:p>
              <a:pPr algn="l"/>
              <a:r>
                <a:rPr lang="zh-CN" altLang="en-US" sz="2000"/>
                <a:t>缺点：</a:t>
              </a:r>
            </a:p>
          </p:txBody>
        </p:sp>
        <p:sp>
          <p:nvSpPr>
            <p:cNvPr id="12" name="文本框 11">
              <a:extLst>
                <a:ext uri="{FF2B5EF4-FFF2-40B4-BE49-F238E27FC236}">
                  <a16:creationId xmlns:a16="http://schemas.microsoft.com/office/drawing/2014/main" id="{C9112854-082B-F8FD-3016-3313414BBE9B}"/>
                </a:ext>
              </a:extLst>
            </p:cNvPr>
            <p:cNvSpPr txBox="1"/>
            <p:nvPr/>
          </p:nvSpPr>
          <p:spPr>
            <a:xfrm>
              <a:off x="1586258" y="3330584"/>
              <a:ext cx="2472027" cy="83048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just">
                <a:lnSpc>
                  <a:spcPct val="125000"/>
                </a:lnSpc>
              </a:pPr>
              <a:r>
                <a:rPr lang="zh-CN" altLang="en-US" sz="2000">
                  <a:solidFill>
                    <a:srgbClr val="324273"/>
                  </a:solidFill>
                  <a:latin typeface="Consolas" panose="020B0609020204030204" pitchFamily="49" charset="0"/>
                  <a:ea typeface="华文中宋" panose="02010600040101010101" pitchFamily="2" charset="-122"/>
                </a:rPr>
                <a:t>易于在全局上进行简单优化</a:t>
              </a:r>
            </a:p>
          </p:txBody>
        </p:sp>
        <p:sp>
          <p:nvSpPr>
            <p:cNvPr id="18" name="文本框 17">
              <a:extLst>
                <a:ext uri="{FF2B5EF4-FFF2-40B4-BE49-F238E27FC236}">
                  <a16:creationId xmlns:a16="http://schemas.microsoft.com/office/drawing/2014/main" id="{B72DA64B-CAD4-EB07-9A05-4B8C62E20CBE}"/>
                </a:ext>
              </a:extLst>
            </p:cNvPr>
            <p:cNvSpPr txBox="1"/>
            <p:nvPr/>
          </p:nvSpPr>
          <p:spPr>
            <a:xfrm>
              <a:off x="1581811" y="4747844"/>
              <a:ext cx="2472027" cy="121520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just">
                <a:lnSpc>
                  <a:spcPct val="125000"/>
                </a:lnSpc>
              </a:pPr>
              <a:r>
                <a:rPr lang="zh-CN" altLang="en-US" sz="2000">
                  <a:solidFill>
                    <a:srgbClr val="324273"/>
                  </a:solidFill>
                  <a:latin typeface="Consolas" panose="020B0609020204030204" pitchFamily="49" charset="0"/>
                  <a:ea typeface="华文中宋" panose="02010600040101010101" pitchFamily="2" charset="-122"/>
                </a:rPr>
                <a:t>难以用代码实现分支限界优化，并且占用空间往往较大。</a:t>
              </a:r>
            </a:p>
          </p:txBody>
        </p:sp>
      </p:grpSp>
      <p:grpSp>
        <p:nvGrpSpPr>
          <p:cNvPr id="23" name="组合 22">
            <a:extLst>
              <a:ext uri="{FF2B5EF4-FFF2-40B4-BE49-F238E27FC236}">
                <a16:creationId xmlns:a16="http://schemas.microsoft.com/office/drawing/2014/main" id="{332EB3F3-F66D-F921-A117-B7CADDD419E6}"/>
              </a:ext>
            </a:extLst>
          </p:cNvPr>
          <p:cNvGrpSpPr/>
          <p:nvPr/>
        </p:nvGrpSpPr>
        <p:grpSpPr>
          <a:xfrm>
            <a:off x="8400864" y="2522084"/>
            <a:ext cx="3231919" cy="3943770"/>
            <a:chOff x="844031" y="2642858"/>
            <a:chExt cx="3231919" cy="3943770"/>
          </a:xfrm>
        </p:grpSpPr>
        <p:grpSp>
          <p:nvGrpSpPr>
            <p:cNvPr id="24" name="组合 23">
              <a:extLst>
                <a:ext uri="{FF2B5EF4-FFF2-40B4-BE49-F238E27FC236}">
                  <a16:creationId xmlns:a16="http://schemas.microsoft.com/office/drawing/2014/main" id="{BD6D0FFB-5192-4DA6-A1C6-987BD5FFDC61}"/>
                </a:ext>
              </a:extLst>
            </p:cNvPr>
            <p:cNvGrpSpPr/>
            <p:nvPr/>
          </p:nvGrpSpPr>
          <p:grpSpPr>
            <a:xfrm>
              <a:off x="861695" y="2642858"/>
              <a:ext cx="3214255" cy="3943770"/>
              <a:chOff x="1171517" y="2642858"/>
              <a:chExt cx="3214255" cy="3943770"/>
            </a:xfrm>
          </p:grpSpPr>
          <p:sp>
            <p:nvSpPr>
              <p:cNvPr id="29" name="矩形: 圆角 28">
                <a:extLst>
                  <a:ext uri="{FF2B5EF4-FFF2-40B4-BE49-F238E27FC236}">
                    <a16:creationId xmlns:a16="http://schemas.microsoft.com/office/drawing/2014/main" id="{94571047-28BB-8400-B0C7-D94086F06452}"/>
                  </a:ext>
                </a:extLst>
              </p:cNvPr>
              <p:cNvSpPr/>
              <p:nvPr/>
            </p:nvSpPr>
            <p:spPr>
              <a:xfrm>
                <a:off x="1171517" y="2642858"/>
                <a:ext cx="3214255" cy="3943770"/>
              </a:xfrm>
              <a:prstGeom prst="roundRect">
                <a:avLst/>
              </a:prstGeom>
              <a:solidFill>
                <a:srgbClr val="D9D9D9"/>
              </a:solidFill>
              <a:ln w="19050">
                <a:solidFill>
                  <a:srgbClr val="324273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0" name="文本框 29">
                <a:extLst>
                  <a:ext uri="{FF2B5EF4-FFF2-40B4-BE49-F238E27FC236}">
                    <a16:creationId xmlns:a16="http://schemas.microsoft.com/office/drawing/2014/main" id="{0236804A-DEEE-FDF2-0BC5-73D39C256459}"/>
                  </a:ext>
                </a:extLst>
              </p:cNvPr>
              <p:cNvSpPr txBox="1"/>
              <p:nvPr/>
            </p:nvSpPr>
            <p:spPr>
              <a:xfrm>
                <a:off x="1711844" y="2776587"/>
                <a:ext cx="2133600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2800" b="1">
                    <a:solidFill>
                      <a:srgbClr val="324273"/>
                    </a:solidFill>
                    <a:latin typeface="Consolas" panose="020B0609020204030204" pitchFamily="49" charset="0"/>
                    <a:ea typeface="华文中宋" panose="02010600040101010101" pitchFamily="2" charset="-122"/>
                  </a:rPr>
                  <a:t>DP</a:t>
                </a:r>
                <a:endParaRPr lang="zh-CN" altLang="en-US" sz="2800" b="1">
                  <a:solidFill>
                    <a:srgbClr val="324273"/>
                  </a:solidFill>
                  <a:latin typeface="Consolas" panose="020B0609020204030204" pitchFamily="49" charset="0"/>
                  <a:ea typeface="华文中宋" panose="02010600040101010101" pitchFamily="2" charset="-122"/>
                </a:endParaRPr>
              </a:p>
            </p:txBody>
          </p:sp>
        </p:grpSp>
        <p:sp>
          <p:nvSpPr>
            <p:cNvPr id="25" name="文本框 24">
              <a:extLst>
                <a:ext uri="{FF2B5EF4-FFF2-40B4-BE49-F238E27FC236}">
                  <a16:creationId xmlns:a16="http://schemas.microsoft.com/office/drawing/2014/main" id="{4B794C33-365E-4E7F-A0FD-FED7AD1C64C2}"/>
                </a:ext>
              </a:extLst>
            </p:cNvPr>
            <p:cNvSpPr txBox="1"/>
            <p:nvPr/>
          </p:nvSpPr>
          <p:spPr>
            <a:xfrm>
              <a:off x="844031" y="3373582"/>
              <a:ext cx="874395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zh-CN"/>
              </a:defPPr>
              <a:lvl1pPr algn="ctr">
                <a:defRPr sz="2800" b="1">
                  <a:solidFill>
                    <a:srgbClr val="324273"/>
                  </a:solidFill>
                  <a:latin typeface="Consolas" panose="020B0609020204030204" pitchFamily="49" charset="0"/>
                  <a:ea typeface="华文中宋" panose="02010600040101010101" pitchFamily="2" charset="-122"/>
                </a:defRPr>
              </a:lvl1pPr>
            </a:lstStyle>
            <a:p>
              <a:pPr algn="l"/>
              <a:r>
                <a:rPr lang="zh-CN" altLang="en-US" sz="2000"/>
                <a:t>优点：</a:t>
              </a:r>
            </a:p>
          </p:txBody>
        </p:sp>
        <p:sp>
          <p:nvSpPr>
            <p:cNvPr id="26" name="文本框 25">
              <a:extLst>
                <a:ext uri="{FF2B5EF4-FFF2-40B4-BE49-F238E27FC236}">
                  <a16:creationId xmlns:a16="http://schemas.microsoft.com/office/drawing/2014/main" id="{40A52881-409B-265E-2614-4DA60E9DE0B0}"/>
                </a:ext>
              </a:extLst>
            </p:cNvPr>
            <p:cNvSpPr txBox="1"/>
            <p:nvPr/>
          </p:nvSpPr>
          <p:spPr>
            <a:xfrm>
              <a:off x="844031" y="4790818"/>
              <a:ext cx="874395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zh-CN"/>
              </a:defPPr>
              <a:lvl1pPr algn="ctr">
                <a:defRPr sz="2800" b="1">
                  <a:solidFill>
                    <a:srgbClr val="324273"/>
                  </a:solidFill>
                  <a:latin typeface="Consolas" panose="020B0609020204030204" pitchFamily="49" charset="0"/>
                  <a:ea typeface="华文中宋" panose="02010600040101010101" pitchFamily="2" charset="-122"/>
                </a:defRPr>
              </a:lvl1pPr>
            </a:lstStyle>
            <a:p>
              <a:pPr algn="l"/>
              <a:r>
                <a:rPr lang="zh-CN" altLang="en-US" sz="2000"/>
                <a:t>缺点：</a:t>
              </a:r>
            </a:p>
          </p:txBody>
        </p:sp>
        <p:sp>
          <p:nvSpPr>
            <p:cNvPr id="27" name="文本框 26">
              <a:extLst>
                <a:ext uri="{FF2B5EF4-FFF2-40B4-BE49-F238E27FC236}">
                  <a16:creationId xmlns:a16="http://schemas.microsoft.com/office/drawing/2014/main" id="{CBAD3ECE-8FB2-235E-288C-90B642308304}"/>
                </a:ext>
              </a:extLst>
            </p:cNvPr>
            <p:cNvSpPr txBox="1"/>
            <p:nvPr/>
          </p:nvSpPr>
          <p:spPr>
            <a:xfrm>
              <a:off x="1586258" y="3330584"/>
              <a:ext cx="2472027" cy="4457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just">
                <a:lnSpc>
                  <a:spcPct val="125000"/>
                </a:lnSpc>
              </a:pPr>
              <a:r>
                <a:rPr lang="zh-CN" altLang="en-US" sz="2000">
                  <a:solidFill>
                    <a:srgbClr val="324273"/>
                  </a:solidFill>
                  <a:latin typeface="Consolas" panose="020B0609020204030204" pitchFamily="49" charset="0"/>
                  <a:ea typeface="华文中宋" panose="02010600040101010101" pitchFamily="2" charset="-122"/>
                </a:rPr>
                <a:t>执行速度较快。</a:t>
              </a:r>
            </a:p>
          </p:txBody>
        </p:sp>
        <p:sp>
          <p:nvSpPr>
            <p:cNvPr id="28" name="文本框 27">
              <a:extLst>
                <a:ext uri="{FF2B5EF4-FFF2-40B4-BE49-F238E27FC236}">
                  <a16:creationId xmlns:a16="http://schemas.microsoft.com/office/drawing/2014/main" id="{2E0DD4EA-36C2-0C47-3BF6-0E4E44CDFB3E}"/>
                </a:ext>
              </a:extLst>
            </p:cNvPr>
            <p:cNvSpPr txBox="1"/>
            <p:nvPr/>
          </p:nvSpPr>
          <p:spPr>
            <a:xfrm>
              <a:off x="1581811" y="4747844"/>
              <a:ext cx="2472027" cy="83048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just">
                <a:lnSpc>
                  <a:spcPct val="125000"/>
                </a:lnSpc>
              </a:pPr>
              <a:r>
                <a:rPr lang="zh-CN" altLang="en-US" sz="2000">
                  <a:solidFill>
                    <a:srgbClr val="324273"/>
                  </a:solidFill>
                  <a:latin typeface="Consolas" panose="020B0609020204030204" pitchFamily="49" charset="0"/>
                  <a:ea typeface="华文中宋" panose="02010600040101010101" pitchFamily="2" charset="-122"/>
                </a:rPr>
                <a:t>是空间换时间的算法，</a:t>
              </a:r>
              <a:endParaRPr lang="en-US" altLang="zh-CN" sz="2000">
                <a:solidFill>
                  <a:srgbClr val="324273"/>
                </a:solidFill>
                <a:latin typeface="Consolas" panose="020B0609020204030204" pitchFamily="49" charset="0"/>
                <a:ea typeface="华文中宋" panose="02010600040101010101" pitchFamily="2" charset="-122"/>
              </a:endParaRPr>
            </a:p>
            <a:p>
              <a:pPr algn="just">
                <a:lnSpc>
                  <a:spcPct val="125000"/>
                </a:lnSpc>
              </a:pPr>
              <a:r>
                <a:rPr lang="zh-CN" altLang="en-US" sz="2000">
                  <a:solidFill>
                    <a:srgbClr val="324273"/>
                  </a:solidFill>
                  <a:latin typeface="Consolas" panose="020B0609020204030204" pitchFamily="49" charset="0"/>
                  <a:ea typeface="华文中宋" panose="02010600040101010101" pitchFamily="2" charset="-122"/>
                </a:rPr>
                <a:t>求解规模有限。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30886762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EA0568-0D1D-3D8A-7632-0E01CC40A9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组合 12">
            <a:extLst>
              <a:ext uri="{FF2B5EF4-FFF2-40B4-BE49-F238E27FC236}">
                <a16:creationId xmlns:a16="http://schemas.microsoft.com/office/drawing/2014/main" id="{3B4AA251-A0E2-CCAF-3BAB-36D416AFBA09}"/>
              </a:ext>
            </a:extLst>
          </p:cNvPr>
          <p:cNvGrpSpPr/>
          <p:nvPr/>
        </p:nvGrpSpPr>
        <p:grpSpPr>
          <a:xfrm>
            <a:off x="-12700" y="-13335"/>
            <a:ext cx="3762375" cy="874395"/>
            <a:chOff x="-12700" y="-13335"/>
            <a:chExt cx="3762375" cy="874395"/>
          </a:xfrm>
        </p:grpSpPr>
        <p:sp>
          <p:nvSpPr>
            <p:cNvPr id="14" name="矩形 13">
              <a:extLst>
                <a:ext uri="{FF2B5EF4-FFF2-40B4-BE49-F238E27FC236}">
                  <a16:creationId xmlns:a16="http://schemas.microsoft.com/office/drawing/2014/main" id="{7E0A6CFC-0B2D-8AB7-7271-A2EBFB6BA47B}"/>
                </a:ext>
              </a:extLst>
            </p:cNvPr>
            <p:cNvSpPr/>
            <p:nvPr/>
          </p:nvSpPr>
          <p:spPr>
            <a:xfrm>
              <a:off x="-12700" y="784860"/>
              <a:ext cx="3762375" cy="76200"/>
            </a:xfrm>
            <a:prstGeom prst="rect">
              <a:avLst/>
            </a:prstGeom>
            <a:solidFill>
              <a:schemeClr val="tx2">
                <a:lumMod val="75000"/>
                <a:lumOff val="2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5" name="矩形 14">
              <a:extLst>
                <a:ext uri="{FF2B5EF4-FFF2-40B4-BE49-F238E27FC236}">
                  <a16:creationId xmlns:a16="http://schemas.microsoft.com/office/drawing/2014/main" id="{E6D108BF-8332-3194-835C-011CAD2D9006}"/>
                </a:ext>
              </a:extLst>
            </p:cNvPr>
            <p:cNvSpPr/>
            <p:nvPr/>
          </p:nvSpPr>
          <p:spPr>
            <a:xfrm>
              <a:off x="-12700" y="-13335"/>
              <a:ext cx="874395" cy="874395"/>
            </a:xfrm>
            <a:prstGeom prst="rect">
              <a:avLst/>
            </a:prstGeom>
            <a:solidFill>
              <a:schemeClr val="tx2">
                <a:lumMod val="75000"/>
                <a:lumOff val="2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4800">
                  <a:latin typeface="微软雅黑" panose="020B0503020204020204" pitchFamily="34" charset="-122"/>
                  <a:ea typeface="微软雅黑" panose="020B0503020204020204" pitchFamily="34" charset="-122"/>
                </a:rPr>
                <a:t>3</a:t>
              </a:r>
            </a:p>
          </p:txBody>
        </p:sp>
        <p:sp>
          <p:nvSpPr>
            <p:cNvPr id="16" name="文本框 15">
              <a:extLst>
                <a:ext uri="{FF2B5EF4-FFF2-40B4-BE49-F238E27FC236}">
                  <a16:creationId xmlns:a16="http://schemas.microsoft.com/office/drawing/2014/main" id="{98DB8101-7D21-F0C0-8F7C-B81A210670A9}"/>
                </a:ext>
              </a:extLst>
            </p:cNvPr>
            <p:cNvSpPr txBox="1"/>
            <p:nvPr/>
          </p:nvSpPr>
          <p:spPr>
            <a:xfrm>
              <a:off x="861695" y="0"/>
              <a:ext cx="2887980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4800" b="1">
                  <a:solidFill>
                    <a:schemeClr val="tx2">
                      <a:lumMod val="75000"/>
                      <a:lumOff val="25000"/>
                    </a:schemeClr>
                  </a:solidFill>
                  <a:latin typeface="华文中宋" panose="02010600040101010101" pitchFamily="2" charset="-122"/>
                  <a:ea typeface="华文中宋" panose="02010600040101010101" pitchFamily="2" charset="-122"/>
                </a:rPr>
                <a:t>实验过程</a:t>
              </a:r>
            </a:p>
          </p:txBody>
        </p:sp>
      </p:grpSp>
      <p:grpSp>
        <p:nvGrpSpPr>
          <p:cNvPr id="51" name="组合 50">
            <a:extLst>
              <a:ext uri="{FF2B5EF4-FFF2-40B4-BE49-F238E27FC236}">
                <a16:creationId xmlns:a16="http://schemas.microsoft.com/office/drawing/2014/main" id="{F3F204FB-CC7A-6D8A-552E-7F5984D41001}"/>
              </a:ext>
            </a:extLst>
          </p:cNvPr>
          <p:cNvGrpSpPr/>
          <p:nvPr/>
        </p:nvGrpSpPr>
        <p:grpSpPr>
          <a:xfrm>
            <a:off x="1237872" y="1298872"/>
            <a:ext cx="2887979" cy="5107715"/>
            <a:chOff x="1237872" y="1298872"/>
            <a:chExt cx="2887979" cy="5107715"/>
          </a:xfrm>
        </p:grpSpPr>
        <p:grpSp>
          <p:nvGrpSpPr>
            <p:cNvPr id="41" name="组合 40">
              <a:extLst>
                <a:ext uri="{FF2B5EF4-FFF2-40B4-BE49-F238E27FC236}">
                  <a16:creationId xmlns:a16="http://schemas.microsoft.com/office/drawing/2014/main" id="{929193EF-45FD-2D4D-E0C0-6238468E4DE7}"/>
                </a:ext>
              </a:extLst>
            </p:cNvPr>
            <p:cNvGrpSpPr/>
            <p:nvPr/>
          </p:nvGrpSpPr>
          <p:grpSpPr>
            <a:xfrm>
              <a:off x="1237872" y="1298872"/>
              <a:ext cx="2887979" cy="780559"/>
              <a:chOff x="861695" y="1126384"/>
              <a:chExt cx="3214255" cy="780559"/>
            </a:xfrm>
          </p:grpSpPr>
          <p:sp>
            <p:nvSpPr>
              <p:cNvPr id="35" name="矩形: 圆角 34">
                <a:extLst>
                  <a:ext uri="{FF2B5EF4-FFF2-40B4-BE49-F238E27FC236}">
                    <a16:creationId xmlns:a16="http://schemas.microsoft.com/office/drawing/2014/main" id="{98D72A79-15CC-C595-8867-A31133EE908A}"/>
                  </a:ext>
                </a:extLst>
              </p:cNvPr>
              <p:cNvSpPr/>
              <p:nvPr/>
            </p:nvSpPr>
            <p:spPr>
              <a:xfrm>
                <a:off x="861695" y="1126384"/>
                <a:ext cx="3214255" cy="780559"/>
              </a:xfrm>
              <a:prstGeom prst="roundRect">
                <a:avLst/>
              </a:prstGeom>
              <a:solidFill>
                <a:srgbClr val="324273"/>
              </a:solidFill>
              <a:ln w="19050">
                <a:solidFill>
                  <a:srgbClr val="324273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" name="文本框 35">
                <a:extLst>
                  <a:ext uri="{FF2B5EF4-FFF2-40B4-BE49-F238E27FC236}">
                    <a16:creationId xmlns:a16="http://schemas.microsoft.com/office/drawing/2014/main" id="{E0380CBB-CF52-FD32-4770-C9D6F27C22D2}"/>
                  </a:ext>
                </a:extLst>
              </p:cNvPr>
              <p:cNvSpPr txBox="1"/>
              <p:nvPr/>
            </p:nvSpPr>
            <p:spPr>
              <a:xfrm>
                <a:off x="1493654" y="1281928"/>
                <a:ext cx="1950335" cy="461665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sz="2400" b="1">
                    <a:solidFill>
                      <a:schemeClr val="bg1"/>
                    </a:solidFill>
                    <a:latin typeface="Consolas" panose="020B0609020204030204" pitchFamily="49" charset="0"/>
                  </a:rPr>
                  <a:t>dfs-0</a:t>
                </a:r>
                <a:endParaRPr lang="zh-CN" altLang="en-US" sz="2400" b="1">
                  <a:solidFill>
                    <a:schemeClr val="bg1"/>
                  </a:solidFill>
                  <a:latin typeface="Consolas" panose="020B0609020204030204" pitchFamily="49" charset="0"/>
                </a:endParaRPr>
              </a:p>
            </p:txBody>
          </p:sp>
        </p:grpSp>
        <p:grpSp>
          <p:nvGrpSpPr>
            <p:cNvPr id="46" name="组合 45">
              <a:extLst>
                <a:ext uri="{FF2B5EF4-FFF2-40B4-BE49-F238E27FC236}">
                  <a16:creationId xmlns:a16="http://schemas.microsoft.com/office/drawing/2014/main" id="{463D95EA-2146-E17E-EAB6-0029C1A31581}"/>
                </a:ext>
              </a:extLst>
            </p:cNvPr>
            <p:cNvGrpSpPr/>
            <p:nvPr/>
          </p:nvGrpSpPr>
          <p:grpSpPr>
            <a:xfrm>
              <a:off x="1237872" y="2440110"/>
              <a:ext cx="2887978" cy="3966477"/>
              <a:chOff x="861695" y="2260703"/>
              <a:chExt cx="2887978" cy="3966477"/>
            </a:xfrm>
          </p:grpSpPr>
          <p:sp>
            <p:nvSpPr>
              <p:cNvPr id="17" name="矩形: 圆角 16">
                <a:extLst>
                  <a:ext uri="{FF2B5EF4-FFF2-40B4-BE49-F238E27FC236}">
                    <a16:creationId xmlns:a16="http://schemas.microsoft.com/office/drawing/2014/main" id="{9771FA46-9026-B9F3-5EA3-EF6C0E5CE266}"/>
                  </a:ext>
                </a:extLst>
              </p:cNvPr>
              <p:cNvSpPr/>
              <p:nvPr/>
            </p:nvSpPr>
            <p:spPr>
              <a:xfrm>
                <a:off x="861695" y="2260703"/>
                <a:ext cx="2887978" cy="3966477"/>
              </a:xfrm>
              <a:prstGeom prst="roundRect">
                <a:avLst/>
              </a:prstGeom>
              <a:solidFill>
                <a:srgbClr val="D9D9D9"/>
              </a:solidFill>
              <a:ln w="19050">
                <a:solidFill>
                  <a:srgbClr val="324273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2" name="文本框 41">
                <a:extLst>
                  <a:ext uri="{FF2B5EF4-FFF2-40B4-BE49-F238E27FC236}">
                    <a16:creationId xmlns:a16="http://schemas.microsoft.com/office/drawing/2014/main" id="{9B16B16C-0DD2-686E-C36A-227CF20D0499}"/>
                  </a:ext>
                </a:extLst>
              </p:cNvPr>
              <p:cNvSpPr txBox="1"/>
              <p:nvPr/>
            </p:nvSpPr>
            <p:spPr>
              <a:xfrm>
                <a:off x="1052985" y="2953022"/>
                <a:ext cx="2505395" cy="1888466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>
                <a:defPPr>
                  <a:defRPr lang="zh-CN"/>
                </a:defPPr>
                <a:lvl1pPr algn="ctr">
                  <a:defRPr sz="2800" b="1">
                    <a:solidFill>
                      <a:srgbClr val="324273"/>
                    </a:solidFill>
                    <a:latin typeface="Consolas" panose="020B0609020204030204" pitchFamily="49" charset="0"/>
                    <a:ea typeface="华文中宋" panose="02010600040101010101" pitchFamily="2" charset="-122"/>
                  </a:defRPr>
                </a:lvl1pPr>
              </a:lstStyle>
              <a:p>
                <a:pPr algn="just">
                  <a:lnSpc>
                    <a:spcPct val="150000"/>
                  </a:lnSpc>
                </a:pPr>
                <a:r>
                  <a:rPr lang="zh-CN" altLang="en-US" sz="2000" b="0"/>
                  <a:t>使用深度优先搜索并简单剪枝，能够正确求解</a:t>
                </a:r>
                <a:r>
                  <a:rPr lang="en-US" altLang="zh-CN" sz="2000" b="0"/>
                  <a:t>n&lt;=15</a:t>
                </a:r>
                <a:r>
                  <a:rPr lang="zh-CN" altLang="en-US" sz="2000" b="0"/>
                  <a:t>（</a:t>
                </a:r>
                <a:r>
                  <a:rPr lang="en-US" altLang="zh-CN" sz="2000" b="0"/>
                  <a:t>n</a:t>
                </a:r>
                <a:r>
                  <a:rPr lang="zh-CN" altLang="en-US" sz="2000" b="0"/>
                  <a:t>为节点数）规模的问题。</a:t>
                </a:r>
              </a:p>
            </p:txBody>
          </p:sp>
        </p:grpSp>
      </p:grpSp>
      <p:sp>
        <p:nvSpPr>
          <p:cNvPr id="52" name="矩形: 圆角 51">
            <a:extLst>
              <a:ext uri="{FF2B5EF4-FFF2-40B4-BE49-F238E27FC236}">
                <a16:creationId xmlns:a16="http://schemas.microsoft.com/office/drawing/2014/main" id="{9C0B932C-8FB6-DA3E-7832-E06989FEE0FB}"/>
              </a:ext>
            </a:extLst>
          </p:cNvPr>
          <p:cNvSpPr/>
          <p:nvPr/>
        </p:nvSpPr>
        <p:spPr>
          <a:xfrm>
            <a:off x="4959390" y="1298872"/>
            <a:ext cx="7146086" cy="5107715"/>
          </a:xfrm>
          <a:prstGeom prst="roundRect">
            <a:avLst>
              <a:gd name="adj" fmla="val 8942"/>
            </a:avLst>
          </a:prstGeom>
          <a:solidFill>
            <a:srgbClr val="D9D9D9"/>
          </a:solidFill>
          <a:ln w="19050">
            <a:solidFill>
              <a:srgbClr val="32427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0" name="文本框 59">
            <a:extLst>
              <a:ext uri="{FF2B5EF4-FFF2-40B4-BE49-F238E27FC236}">
                <a16:creationId xmlns:a16="http://schemas.microsoft.com/office/drawing/2014/main" id="{AA15485D-983A-D521-973A-244F81E127D3}"/>
              </a:ext>
            </a:extLst>
          </p:cNvPr>
          <p:cNvSpPr txBox="1"/>
          <p:nvPr/>
        </p:nvSpPr>
        <p:spPr>
          <a:xfrm>
            <a:off x="5538507" y="2074191"/>
            <a:ext cx="6566969" cy="4004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5000"/>
              </a:lnSpc>
            </a:pPr>
            <a:r>
              <a:rPr lang="en-US" altLang="zh-CN" sz="1200">
                <a:latin typeface="Fira Code Medium" pitchFamily="1" charset="0"/>
                <a:ea typeface="Fira Code Medium" pitchFamily="1" charset="0"/>
                <a:cs typeface="Fira Code Medium" pitchFamily="1" charset="0"/>
              </a:rPr>
              <a:t>void dfs(int node, int cost, int len, int cur_path[]) {</a:t>
            </a:r>
          </a:p>
          <a:p>
            <a:pPr>
              <a:lnSpc>
                <a:spcPct val="125000"/>
              </a:lnSpc>
            </a:pPr>
            <a:r>
              <a:rPr lang="en-US" altLang="zh-CN" sz="1200">
                <a:latin typeface="Fira Code Medium" pitchFamily="1" charset="0"/>
                <a:ea typeface="Fira Code Medium" pitchFamily="1" charset="0"/>
                <a:cs typeface="Fira Code Medium" pitchFamily="1" charset="0"/>
              </a:rPr>
              <a:t>    if (len &gt;= n) {</a:t>
            </a:r>
          </a:p>
          <a:p>
            <a:pPr>
              <a:lnSpc>
                <a:spcPct val="125000"/>
              </a:lnSpc>
            </a:pPr>
            <a:r>
              <a:rPr lang="en-US" altLang="zh-CN" sz="1200">
                <a:latin typeface="Fira Code Medium" pitchFamily="1" charset="0"/>
                <a:ea typeface="Fira Code Medium" pitchFamily="1" charset="0"/>
                <a:cs typeface="Fira Code Medium" pitchFamily="1" charset="0"/>
              </a:rPr>
              <a:t>        if (grid[1][node] != 0 &amp;&amp; cost + grid[1][node] &lt; minn) {</a:t>
            </a:r>
          </a:p>
          <a:p>
            <a:pPr>
              <a:lnSpc>
                <a:spcPct val="125000"/>
              </a:lnSpc>
            </a:pPr>
            <a:r>
              <a:rPr lang="en-US" altLang="zh-CN" sz="1200">
                <a:latin typeface="Fira Code Medium" pitchFamily="1" charset="0"/>
                <a:ea typeface="Fira Code Medium" pitchFamily="1" charset="0"/>
                <a:cs typeface="Fira Code Medium" pitchFamily="1" charset="0"/>
              </a:rPr>
              <a:t>            minn = cost + grid[1][node];</a:t>
            </a:r>
          </a:p>
          <a:p>
            <a:pPr>
              <a:lnSpc>
                <a:spcPct val="125000"/>
              </a:lnSpc>
            </a:pPr>
            <a:r>
              <a:rPr lang="en-US" altLang="zh-CN" sz="1200">
                <a:latin typeface="Fira Code Medium" pitchFamily="1" charset="0"/>
                <a:ea typeface="Fira Code Medium" pitchFamily="1" charset="0"/>
                <a:cs typeface="Fira Code Medium" pitchFamily="1" charset="0"/>
              </a:rPr>
              <a:t>            for (int i = 1; i &lt;= n; ++i) path[i] = cur_path[i]; }</a:t>
            </a:r>
          </a:p>
          <a:p>
            <a:pPr>
              <a:lnSpc>
                <a:spcPct val="125000"/>
              </a:lnSpc>
            </a:pPr>
            <a:r>
              <a:rPr lang="en-US" altLang="zh-CN" sz="1200">
                <a:latin typeface="Fira Code Medium" pitchFamily="1" charset="0"/>
                <a:ea typeface="Fira Code Medium" pitchFamily="1" charset="0"/>
                <a:cs typeface="Fira Code Medium" pitchFamily="1" charset="0"/>
              </a:rPr>
              <a:t>        return; </a:t>
            </a:r>
          </a:p>
          <a:p>
            <a:pPr>
              <a:lnSpc>
                <a:spcPct val="125000"/>
              </a:lnSpc>
            </a:pPr>
            <a:r>
              <a:rPr lang="en-US" altLang="zh-CN" sz="1200">
                <a:latin typeface="Fira Code Medium" pitchFamily="1" charset="0"/>
                <a:ea typeface="Fira Code Medium" pitchFamily="1" charset="0"/>
                <a:cs typeface="Fira Code Medium" pitchFamily="1" charset="0"/>
              </a:rPr>
              <a:t>    }</a:t>
            </a:r>
          </a:p>
          <a:p>
            <a:pPr>
              <a:lnSpc>
                <a:spcPct val="125000"/>
              </a:lnSpc>
            </a:pPr>
            <a:r>
              <a:rPr lang="en-US" altLang="zh-CN" sz="1200">
                <a:latin typeface="Fira Code Medium" pitchFamily="1" charset="0"/>
                <a:ea typeface="Fira Code Medium" pitchFamily="1" charset="0"/>
                <a:cs typeface="Fira Code Medium" pitchFamily="1" charset="0"/>
              </a:rPr>
              <a:t>    if (cost &gt;= minn) return;</a:t>
            </a:r>
          </a:p>
          <a:p>
            <a:pPr>
              <a:lnSpc>
                <a:spcPct val="125000"/>
              </a:lnSpc>
            </a:pPr>
            <a:r>
              <a:rPr lang="en-US" altLang="zh-CN" sz="1200">
                <a:latin typeface="Fira Code Medium" pitchFamily="1" charset="0"/>
                <a:ea typeface="Fira Code Medium" pitchFamily="1" charset="0"/>
                <a:cs typeface="Fira Code Medium" pitchFamily="1" charset="0"/>
              </a:rPr>
              <a:t>    for (int i = 1; i &lt;= n; ++i) {</a:t>
            </a:r>
          </a:p>
          <a:p>
            <a:pPr>
              <a:lnSpc>
                <a:spcPct val="125000"/>
              </a:lnSpc>
            </a:pPr>
            <a:r>
              <a:rPr lang="en-US" altLang="zh-CN" sz="1200">
                <a:latin typeface="Fira Code Medium" pitchFamily="1" charset="0"/>
                <a:ea typeface="Fira Code Medium" pitchFamily="1" charset="0"/>
                <a:cs typeface="Fira Code Medium" pitchFamily="1" charset="0"/>
              </a:rPr>
              <a:t>        if (!vis[i] &amp;&amp; grid[node][i] != 0) {</a:t>
            </a:r>
          </a:p>
          <a:p>
            <a:pPr>
              <a:lnSpc>
                <a:spcPct val="125000"/>
              </a:lnSpc>
            </a:pPr>
            <a:r>
              <a:rPr lang="en-US" altLang="zh-CN" sz="1200">
                <a:latin typeface="Fira Code Medium" pitchFamily="1" charset="0"/>
                <a:ea typeface="Fira Code Medium" pitchFamily="1" charset="0"/>
                <a:cs typeface="Fira Code Medium" pitchFamily="1" charset="0"/>
              </a:rPr>
              <a:t>            vis[i] = 1;</a:t>
            </a:r>
          </a:p>
          <a:p>
            <a:pPr>
              <a:lnSpc>
                <a:spcPct val="125000"/>
              </a:lnSpc>
            </a:pPr>
            <a:r>
              <a:rPr lang="en-US" altLang="zh-CN" sz="1200">
                <a:latin typeface="Fira Code Medium" pitchFamily="1" charset="0"/>
                <a:ea typeface="Fira Code Medium" pitchFamily="1" charset="0"/>
                <a:cs typeface="Fira Code Medium" pitchFamily="1" charset="0"/>
              </a:rPr>
              <a:t>            cur_path[len + 1] = i;</a:t>
            </a:r>
          </a:p>
          <a:p>
            <a:pPr>
              <a:lnSpc>
                <a:spcPct val="125000"/>
              </a:lnSpc>
            </a:pPr>
            <a:r>
              <a:rPr lang="en-US" altLang="zh-CN" sz="1200">
                <a:latin typeface="Fira Code Medium" pitchFamily="1" charset="0"/>
                <a:ea typeface="Fira Code Medium" pitchFamily="1" charset="0"/>
                <a:cs typeface="Fira Code Medium" pitchFamily="1" charset="0"/>
              </a:rPr>
              <a:t>            dfs(i, cost + grid[node][i], len + 1, cur_path);</a:t>
            </a:r>
          </a:p>
          <a:p>
            <a:pPr>
              <a:lnSpc>
                <a:spcPct val="125000"/>
              </a:lnSpc>
            </a:pPr>
            <a:r>
              <a:rPr lang="en-US" altLang="zh-CN" sz="1200">
                <a:latin typeface="Fira Code Medium" pitchFamily="1" charset="0"/>
                <a:ea typeface="Fira Code Medium" pitchFamily="1" charset="0"/>
                <a:cs typeface="Fira Code Medium" pitchFamily="1" charset="0"/>
              </a:rPr>
              <a:t>            vis[i] = 0; </a:t>
            </a:r>
          </a:p>
          <a:p>
            <a:pPr>
              <a:lnSpc>
                <a:spcPct val="125000"/>
              </a:lnSpc>
            </a:pPr>
            <a:r>
              <a:rPr lang="en-US" altLang="zh-CN" sz="1200">
                <a:latin typeface="Fira Code Medium" pitchFamily="1" charset="0"/>
                <a:ea typeface="Fira Code Medium" pitchFamily="1" charset="0"/>
                <a:cs typeface="Fira Code Medium" pitchFamily="1" charset="0"/>
              </a:rPr>
              <a:t>        }</a:t>
            </a:r>
          </a:p>
          <a:p>
            <a:pPr>
              <a:lnSpc>
                <a:spcPct val="125000"/>
              </a:lnSpc>
            </a:pPr>
            <a:r>
              <a:rPr lang="en-US" altLang="zh-CN" sz="1200">
                <a:latin typeface="Fira Code Medium" pitchFamily="1" charset="0"/>
                <a:ea typeface="Fira Code Medium" pitchFamily="1" charset="0"/>
                <a:cs typeface="Fira Code Medium" pitchFamily="1" charset="0"/>
              </a:rPr>
              <a:t>    }</a:t>
            </a:r>
          </a:p>
          <a:p>
            <a:pPr>
              <a:lnSpc>
                <a:spcPct val="125000"/>
              </a:lnSpc>
            </a:pPr>
            <a:r>
              <a:rPr lang="en-US" altLang="zh-CN" sz="1200">
                <a:latin typeface="Fira Code Medium" pitchFamily="1" charset="0"/>
                <a:ea typeface="Fira Code Medium" pitchFamily="1" charset="0"/>
                <a:cs typeface="Fira Code Medium" pitchFamily="1" charset="0"/>
              </a:rPr>
              <a:t>}</a:t>
            </a:r>
            <a:endParaRPr lang="zh-CN" altLang="en-US" sz="1200">
              <a:latin typeface="Fira Code Medium" pitchFamily="1" charset="0"/>
              <a:cs typeface="Fira Code Medium" pitchFamily="1" charset="0"/>
            </a:endParaRPr>
          </a:p>
        </p:txBody>
      </p:sp>
      <p:grpSp>
        <p:nvGrpSpPr>
          <p:cNvPr id="43" name="组合 42">
            <a:extLst>
              <a:ext uri="{FF2B5EF4-FFF2-40B4-BE49-F238E27FC236}">
                <a16:creationId xmlns:a16="http://schemas.microsoft.com/office/drawing/2014/main" id="{13FD1747-7181-6873-DCF5-AAAB191E29D4}"/>
              </a:ext>
            </a:extLst>
          </p:cNvPr>
          <p:cNvGrpSpPr/>
          <p:nvPr/>
        </p:nvGrpSpPr>
        <p:grpSpPr>
          <a:xfrm>
            <a:off x="7088443" y="908592"/>
            <a:ext cx="2887979" cy="780559"/>
            <a:chOff x="861695" y="1092231"/>
            <a:chExt cx="3214255" cy="841059"/>
          </a:xfrm>
        </p:grpSpPr>
        <p:sp>
          <p:nvSpPr>
            <p:cNvPr id="44" name="矩形: 圆角 43">
              <a:extLst>
                <a:ext uri="{FF2B5EF4-FFF2-40B4-BE49-F238E27FC236}">
                  <a16:creationId xmlns:a16="http://schemas.microsoft.com/office/drawing/2014/main" id="{5812D197-F380-0F6D-1E24-60B175EC064B}"/>
                </a:ext>
              </a:extLst>
            </p:cNvPr>
            <p:cNvSpPr/>
            <p:nvPr/>
          </p:nvSpPr>
          <p:spPr>
            <a:xfrm>
              <a:off x="861695" y="1126384"/>
              <a:ext cx="3214255" cy="780559"/>
            </a:xfrm>
            <a:prstGeom prst="roundRect">
              <a:avLst/>
            </a:prstGeom>
            <a:solidFill>
              <a:srgbClr val="324273"/>
            </a:solidFill>
            <a:ln w="19050">
              <a:solidFill>
                <a:srgbClr val="32427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5" name="文本框 44">
              <a:extLst>
                <a:ext uri="{FF2B5EF4-FFF2-40B4-BE49-F238E27FC236}">
                  <a16:creationId xmlns:a16="http://schemas.microsoft.com/office/drawing/2014/main" id="{FC8CC08B-BAD6-D24D-95B7-EB73D979A3BB}"/>
                </a:ext>
              </a:extLst>
            </p:cNvPr>
            <p:cNvSpPr txBox="1"/>
            <p:nvPr/>
          </p:nvSpPr>
          <p:spPr>
            <a:xfrm>
              <a:off x="1493654" y="1092231"/>
              <a:ext cx="1950335" cy="841059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zh-CN" altLang="en-US" sz="2400">
                  <a:solidFill>
                    <a:schemeClr val="bg1"/>
                  </a:solidFill>
                  <a:latin typeface="华文中宋" panose="02010600040101010101" pitchFamily="2" charset="-122"/>
                  <a:ea typeface="华文中宋" panose="02010600040101010101" pitchFamily="2" charset="-122"/>
                </a:rPr>
                <a:t>核心代码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10120550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CB3613-645D-F3BA-77FA-A87215A025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组合 12">
            <a:extLst>
              <a:ext uri="{FF2B5EF4-FFF2-40B4-BE49-F238E27FC236}">
                <a16:creationId xmlns:a16="http://schemas.microsoft.com/office/drawing/2014/main" id="{DDC392B2-7844-BFB0-4704-73D581EF71AF}"/>
              </a:ext>
            </a:extLst>
          </p:cNvPr>
          <p:cNvGrpSpPr/>
          <p:nvPr/>
        </p:nvGrpSpPr>
        <p:grpSpPr>
          <a:xfrm>
            <a:off x="-12700" y="-13335"/>
            <a:ext cx="3762375" cy="874395"/>
            <a:chOff x="-12700" y="-13335"/>
            <a:chExt cx="3762375" cy="874395"/>
          </a:xfrm>
        </p:grpSpPr>
        <p:sp>
          <p:nvSpPr>
            <p:cNvPr id="14" name="矩形 13">
              <a:extLst>
                <a:ext uri="{FF2B5EF4-FFF2-40B4-BE49-F238E27FC236}">
                  <a16:creationId xmlns:a16="http://schemas.microsoft.com/office/drawing/2014/main" id="{630BED7E-98B0-E054-F502-27D7C933D279}"/>
                </a:ext>
              </a:extLst>
            </p:cNvPr>
            <p:cNvSpPr/>
            <p:nvPr/>
          </p:nvSpPr>
          <p:spPr>
            <a:xfrm>
              <a:off x="-12700" y="784860"/>
              <a:ext cx="3762375" cy="76200"/>
            </a:xfrm>
            <a:prstGeom prst="rect">
              <a:avLst/>
            </a:prstGeom>
            <a:solidFill>
              <a:schemeClr val="tx2">
                <a:lumMod val="75000"/>
                <a:lumOff val="2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5" name="矩形 14">
              <a:extLst>
                <a:ext uri="{FF2B5EF4-FFF2-40B4-BE49-F238E27FC236}">
                  <a16:creationId xmlns:a16="http://schemas.microsoft.com/office/drawing/2014/main" id="{F944961A-1D60-4B19-07F6-02B1A438D32C}"/>
                </a:ext>
              </a:extLst>
            </p:cNvPr>
            <p:cNvSpPr/>
            <p:nvPr/>
          </p:nvSpPr>
          <p:spPr>
            <a:xfrm>
              <a:off x="-12700" y="-13335"/>
              <a:ext cx="874395" cy="874395"/>
            </a:xfrm>
            <a:prstGeom prst="rect">
              <a:avLst/>
            </a:prstGeom>
            <a:solidFill>
              <a:schemeClr val="tx2">
                <a:lumMod val="75000"/>
                <a:lumOff val="2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4800">
                  <a:latin typeface="微软雅黑" panose="020B0503020204020204" pitchFamily="34" charset="-122"/>
                  <a:ea typeface="微软雅黑" panose="020B0503020204020204" pitchFamily="34" charset="-122"/>
                </a:rPr>
                <a:t>3</a:t>
              </a:r>
            </a:p>
          </p:txBody>
        </p:sp>
        <p:sp>
          <p:nvSpPr>
            <p:cNvPr id="16" name="文本框 15">
              <a:extLst>
                <a:ext uri="{FF2B5EF4-FFF2-40B4-BE49-F238E27FC236}">
                  <a16:creationId xmlns:a16="http://schemas.microsoft.com/office/drawing/2014/main" id="{6670D75E-2ABF-863A-B24F-3B305E53D598}"/>
                </a:ext>
              </a:extLst>
            </p:cNvPr>
            <p:cNvSpPr txBox="1"/>
            <p:nvPr/>
          </p:nvSpPr>
          <p:spPr>
            <a:xfrm>
              <a:off x="861695" y="0"/>
              <a:ext cx="2887980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4800" b="1">
                  <a:solidFill>
                    <a:schemeClr val="tx2">
                      <a:lumMod val="75000"/>
                      <a:lumOff val="25000"/>
                    </a:schemeClr>
                  </a:solidFill>
                  <a:latin typeface="华文中宋" panose="02010600040101010101" pitchFamily="2" charset="-122"/>
                  <a:ea typeface="华文中宋" panose="02010600040101010101" pitchFamily="2" charset="-122"/>
                </a:rPr>
                <a:t>实验过程</a:t>
              </a:r>
            </a:p>
          </p:txBody>
        </p:sp>
      </p:grpSp>
      <p:grpSp>
        <p:nvGrpSpPr>
          <p:cNvPr id="51" name="组合 50">
            <a:extLst>
              <a:ext uri="{FF2B5EF4-FFF2-40B4-BE49-F238E27FC236}">
                <a16:creationId xmlns:a16="http://schemas.microsoft.com/office/drawing/2014/main" id="{A803D593-744F-2378-1F60-7ED55DEB0828}"/>
              </a:ext>
            </a:extLst>
          </p:cNvPr>
          <p:cNvGrpSpPr/>
          <p:nvPr/>
        </p:nvGrpSpPr>
        <p:grpSpPr>
          <a:xfrm>
            <a:off x="1237872" y="1298872"/>
            <a:ext cx="2887979" cy="5107715"/>
            <a:chOff x="1237872" y="1298872"/>
            <a:chExt cx="2887979" cy="5107715"/>
          </a:xfrm>
        </p:grpSpPr>
        <p:grpSp>
          <p:nvGrpSpPr>
            <p:cNvPr id="41" name="组合 40">
              <a:extLst>
                <a:ext uri="{FF2B5EF4-FFF2-40B4-BE49-F238E27FC236}">
                  <a16:creationId xmlns:a16="http://schemas.microsoft.com/office/drawing/2014/main" id="{E0FA8C27-A2B9-3556-1D25-308A002CB921}"/>
                </a:ext>
              </a:extLst>
            </p:cNvPr>
            <p:cNvGrpSpPr/>
            <p:nvPr/>
          </p:nvGrpSpPr>
          <p:grpSpPr>
            <a:xfrm>
              <a:off x="1237872" y="1298872"/>
              <a:ext cx="2887979" cy="780559"/>
              <a:chOff x="861695" y="1126384"/>
              <a:chExt cx="3214255" cy="780559"/>
            </a:xfrm>
          </p:grpSpPr>
          <p:sp>
            <p:nvSpPr>
              <p:cNvPr id="35" name="矩形: 圆角 34">
                <a:extLst>
                  <a:ext uri="{FF2B5EF4-FFF2-40B4-BE49-F238E27FC236}">
                    <a16:creationId xmlns:a16="http://schemas.microsoft.com/office/drawing/2014/main" id="{1D1E4960-623C-B5C1-1A71-3599C7306CB7}"/>
                  </a:ext>
                </a:extLst>
              </p:cNvPr>
              <p:cNvSpPr/>
              <p:nvPr/>
            </p:nvSpPr>
            <p:spPr>
              <a:xfrm>
                <a:off x="861695" y="1126384"/>
                <a:ext cx="3214255" cy="780559"/>
              </a:xfrm>
              <a:prstGeom prst="roundRect">
                <a:avLst/>
              </a:prstGeom>
              <a:solidFill>
                <a:srgbClr val="324273"/>
              </a:solidFill>
              <a:ln w="19050">
                <a:solidFill>
                  <a:srgbClr val="324273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" name="文本框 35">
                <a:extLst>
                  <a:ext uri="{FF2B5EF4-FFF2-40B4-BE49-F238E27FC236}">
                    <a16:creationId xmlns:a16="http://schemas.microsoft.com/office/drawing/2014/main" id="{228A33AB-9807-CB16-2F7D-6AD6015D3229}"/>
                  </a:ext>
                </a:extLst>
              </p:cNvPr>
              <p:cNvSpPr txBox="1"/>
              <p:nvPr/>
            </p:nvSpPr>
            <p:spPr>
              <a:xfrm>
                <a:off x="1493654" y="1281928"/>
                <a:ext cx="1950335" cy="461665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sz="2400" b="1">
                    <a:solidFill>
                      <a:schemeClr val="bg1"/>
                    </a:solidFill>
                    <a:latin typeface="Consolas" panose="020B0609020204030204" pitchFamily="49" charset="0"/>
                  </a:rPr>
                  <a:t>dfs-1</a:t>
                </a:r>
                <a:endParaRPr lang="zh-CN" altLang="en-US" sz="2400" b="1">
                  <a:solidFill>
                    <a:schemeClr val="bg1"/>
                  </a:solidFill>
                  <a:latin typeface="Consolas" panose="020B0609020204030204" pitchFamily="49" charset="0"/>
                </a:endParaRPr>
              </a:p>
            </p:txBody>
          </p:sp>
        </p:grpSp>
        <p:grpSp>
          <p:nvGrpSpPr>
            <p:cNvPr id="46" name="组合 45">
              <a:extLst>
                <a:ext uri="{FF2B5EF4-FFF2-40B4-BE49-F238E27FC236}">
                  <a16:creationId xmlns:a16="http://schemas.microsoft.com/office/drawing/2014/main" id="{D0C393D3-2BED-A0BB-A8C3-51D67B6248F6}"/>
                </a:ext>
              </a:extLst>
            </p:cNvPr>
            <p:cNvGrpSpPr/>
            <p:nvPr/>
          </p:nvGrpSpPr>
          <p:grpSpPr>
            <a:xfrm>
              <a:off x="1237872" y="2440110"/>
              <a:ext cx="2887978" cy="3966477"/>
              <a:chOff x="861695" y="2260703"/>
              <a:chExt cx="2887978" cy="3966477"/>
            </a:xfrm>
          </p:grpSpPr>
          <p:sp>
            <p:nvSpPr>
              <p:cNvPr id="17" name="矩形: 圆角 16">
                <a:extLst>
                  <a:ext uri="{FF2B5EF4-FFF2-40B4-BE49-F238E27FC236}">
                    <a16:creationId xmlns:a16="http://schemas.microsoft.com/office/drawing/2014/main" id="{55DBEA15-859D-2D43-FD52-0A1FE1459C9B}"/>
                  </a:ext>
                </a:extLst>
              </p:cNvPr>
              <p:cNvSpPr/>
              <p:nvPr/>
            </p:nvSpPr>
            <p:spPr>
              <a:xfrm>
                <a:off x="861695" y="2260703"/>
                <a:ext cx="2887978" cy="3966477"/>
              </a:xfrm>
              <a:prstGeom prst="roundRect">
                <a:avLst/>
              </a:prstGeom>
              <a:solidFill>
                <a:srgbClr val="D9D9D9"/>
              </a:solidFill>
              <a:ln w="19050">
                <a:solidFill>
                  <a:srgbClr val="324273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2" name="文本框 41">
                <a:extLst>
                  <a:ext uri="{FF2B5EF4-FFF2-40B4-BE49-F238E27FC236}">
                    <a16:creationId xmlns:a16="http://schemas.microsoft.com/office/drawing/2014/main" id="{7E4BB564-FB8F-22C3-F6A9-AB9A70D59E2D}"/>
                  </a:ext>
                </a:extLst>
              </p:cNvPr>
              <p:cNvSpPr txBox="1"/>
              <p:nvPr/>
            </p:nvSpPr>
            <p:spPr>
              <a:xfrm>
                <a:off x="1052985" y="2881982"/>
                <a:ext cx="2505395" cy="1889556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>
                <a:defPPr>
                  <a:defRPr lang="zh-CN"/>
                </a:defPPr>
                <a:lvl1pPr algn="ctr">
                  <a:defRPr sz="2800" b="1">
                    <a:solidFill>
                      <a:srgbClr val="324273"/>
                    </a:solidFill>
                    <a:latin typeface="Consolas" panose="020B0609020204030204" pitchFamily="49" charset="0"/>
                    <a:ea typeface="华文中宋" panose="02010600040101010101" pitchFamily="2" charset="-122"/>
                  </a:defRPr>
                </a:lvl1pPr>
              </a:lstStyle>
              <a:p>
                <a:pPr algn="just">
                  <a:lnSpc>
                    <a:spcPct val="150000"/>
                  </a:lnSpc>
                </a:pPr>
                <a:r>
                  <a:rPr lang="zh-CN" altLang="en-US" sz="2000" b="0"/>
                  <a:t>在</a:t>
                </a:r>
                <a:r>
                  <a:rPr lang="en-US" altLang="zh-CN" sz="2000" b="0"/>
                  <a:t>dfs-0</a:t>
                </a:r>
                <a:r>
                  <a:rPr lang="zh-CN" altLang="en-US" sz="2000" b="0"/>
                  <a:t>基础上进一步优化，加强约束条件，能够正确求解</a:t>
                </a:r>
                <a:r>
                  <a:rPr lang="en-US" altLang="zh-CN" sz="2000" b="0"/>
                  <a:t>n&lt;=17</a:t>
                </a:r>
                <a:r>
                  <a:rPr lang="zh-CN" altLang="en-US" sz="2000" b="0"/>
                  <a:t>规模的问题。</a:t>
                </a:r>
              </a:p>
            </p:txBody>
          </p:sp>
        </p:grpSp>
      </p:grpSp>
      <p:sp>
        <p:nvSpPr>
          <p:cNvPr id="52" name="矩形: 圆角 51">
            <a:extLst>
              <a:ext uri="{FF2B5EF4-FFF2-40B4-BE49-F238E27FC236}">
                <a16:creationId xmlns:a16="http://schemas.microsoft.com/office/drawing/2014/main" id="{D53B98DD-2D5E-88F2-E8DD-1E0EF51EB655}"/>
              </a:ext>
            </a:extLst>
          </p:cNvPr>
          <p:cNvSpPr/>
          <p:nvPr/>
        </p:nvSpPr>
        <p:spPr>
          <a:xfrm>
            <a:off x="4959390" y="1298872"/>
            <a:ext cx="7146086" cy="5107715"/>
          </a:xfrm>
          <a:prstGeom prst="roundRect">
            <a:avLst>
              <a:gd name="adj" fmla="val 8942"/>
            </a:avLst>
          </a:prstGeom>
          <a:solidFill>
            <a:srgbClr val="D9D9D9"/>
          </a:solidFill>
          <a:ln w="19050">
            <a:solidFill>
              <a:srgbClr val="32427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0" name="文本框 59">
            <a:extLst>
              <a:ext uri="{FF2B5EF4-FFF2-40B4-BE49-F238E27FC236}">
                <a16:creationId xmlns:a16="http://schemas.microsoft.com/office/drawing/2014/main" id="{B98FB44A-C0D2-0521-E67E-30F27CB6C603}"/>
              </a:ext>
            </a:extLst>
          </p:cNvPr>
          <p:cNvSpPr txBox="1"/>
          <p:nvPr/>
        </p:nvSpPr>
        <p:spPr>
          <a:xfrm>
            <a:off x="5274401" y="1816869"/>
            <a:ext cx="6516060" cy="45897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14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int minn_grid[MAXN][MAXN];      </a:t>
            </a:r>
          </a:p>
          <a:p>
            <a:pPr>
              <a:lnSpc>
                <a:spcPct val="150000"/>
              </a:lnSpc>
            </a:pPr>
            <a:r>
              <a:rPr lang="en-US" altLang="zh-CN" sz="14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// minn_grid[i][j]:</a:t>
            </a:r>
            <a:r>
              <a:rPr lang="zh-CN" altLang="en-US" sz="14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从节点</a:t>
            </a:r>
            <a:r>
              <a:rPr lang="en-US" altLang="zh-CN" sz="14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i</a:t>
            </a:r>
            <a:r>
              <a:rPr lang="zh-CN" altLang="en-US" sz="14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出发，经过</a:t>
            </a:r>
            <a:r>
              <a:rPr lang="en-US" altLang="zh-CN" sz="14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j</a:t>
            </a:r>
            <a:r>
              <a:rPr lang="zh-CN" altLang="en-US" sz="14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条边，回到节点</a:t>
            </a:r>
            <a:r>
              <a:rPr lang="en-US" altLang="zh-CN" sz="14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1</a:t>
            </a:r>
            <a:r>
              <a:rPr lang="zh-CN" altLang="en-US" sz="14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的最短距离</a:t>
            </a:r>
            <a:endParaRPr lang="en-US" altLang="zh-CN" sz="1400">
              <a:latin typeface="Fira Code Medium" pitchFamily="1" charset="0"/>
              <a:ea typeface="楷体" panose="02010609060101010101" pitchFamily="49" charset="-122"/>
              <a:cs typeface="Fira Code Medium" pitchFamily="1" charset="0"/>
            </a:endParaRPr>
          </a:p>
          <a:p>
            <a:pPr>
              <a:lnSpc>
                <a:spcPct val="150000"/>
              </a:lnSpc>
            </a:pPr>
            <a:endParaRPr lang="en-US" altLang="zh-CN" sz="1400">
              <a:latin typeface="Fira Code Medium" pitchFamily="1" charset="0"/>
              <a:ea typeface="楷体" panose="02010609060101010101" pitchFamily="49" charset="-122"/>
              <a:cs typeface="Fira Code Medium" pitchFamily="1" charset="0"/>
            </a:endParaRPr>
          </a:p>
          <a:p>
            <a:pPr>
              <a:lnSpc>
                <a:spcPct val="150000"/>
              </a:lnSpc>
            </a:pPr>
            <a:r>
              <a:rPr lang="en-US" altLang="zh-CN" sz="14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void getMinnGrid(int node, int dist, int len) {</a:t>
            </a:r>
          </a:p>
          <a:p>
            <a:pPr>
              <a:lnSpc>
                <a:spcPct val="150000"/>
              </a:lnSpc>
            </a:pPr>
            <a:r>
              <a:rPr lang="en-US" altLang="zh-CN" sz="14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if (len &gt;= n) return;</a:t>
            </a:r>
          </a:p>
          <a:p>
            <a:pPr>
              <a:lnSpc>
                <a:spcPct val="150000"/>
              </a:lnSpc>
            </a:pPr>
            <a:r>
              <a:rPr lang="en-US" altLang="zh-CN" sz="14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for (int i = 2; i &lt;= n; ++i) {</a:t>
            </a:r>
          </a:p>
          <a:p>
            <a:pPr>
              <a:lnSpc>
                <a:spcPct val="150000"/>
              </a:lnSpc>
            </a:pPr>
            <a:r>
              <a:rPr lang="en-US" altLang="zh-CN" sz="14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    if (i == node) continue;</a:t>
            </a:r>
          </a:p>
          <a:p>
            <a:pPr>
              <a:lnSpc>
                <a:spcPct val="150000"/>
              </a:lnSpc>
            </a:pPr>
            <a:r>
              <a:rPr lang="en-US" altLang="zh-CN" sz="14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    if (minn_grid[i][len + 1] == 0 || dist + grid[node][i] &lt; minn_grid[i][len + 1]) {</a:t>
            </a:r>
          </a:p>
          <a:p>
            <a:pPr>
              <a:lnSpc>
                <a:spcPct val="150000"/>
              </a:lnSpc>
            </a:pPr>
            <a:r>
              <a:rPr lang="en-US" altLang="zh-CN" sz="14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        minn_grid[i][len + 1] = dist + grid[node][i];</a:t>
            </a:r>
          </a:p>
          <a:p>
            <a:pPr>
              <a:lnSpc>
                <a:spcPct val="150000"/>
              </a:lnSpc>
            </a:pPr>
            <a:r>
              <a:rPr lang="en-US" altLang="zh-CN" sz="14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        getMinnGrid(i, dist + grid[node][i], len + 1);</a:t>
            </a:r>
          </a:p>
          <a:p>
            <a:pPr>
              <a:lnSpc>
                <a:spcPct val="150000"/>
              </a:lnSpc>
            </a:pPr>
            <a:r>
              <a:rPr lang="en-US" altLang="zh-CN" sz="14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    }</a:t>
            </a:r>
          </a:p>
          <a:p>
            <a:pPr>
              <a:lnSpc>
                <a:spcPct val="150000"/>
              </a:lnSpc>
            </a:pPr>
            <a:r>
              <a:rPr lang="en-US" altLang="zh-CN" sz="14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}</a:t>
            </a:r>
          </a:p>
          <a:p>
            <a:pPr>
              <a:lnSpc>
                <a:spcPct val="150000"/>
              </a:lnSpc>
            </a:pPr>
            <a:r>
              <a:rPr lang="en-US" altLang="zh-CN" sz="14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}</a:t>
            </a:r>
            <a:endParaRPr lang="zh-CN" altLang="en-US" sz="1400">
              <a:latin typeface="Fira Code Medium" pitchFamily="1" charset="0"/>
              <a:ea typeface="楷体" panose="02010609060101010101" pitchFamily="49" charset="-122"/>
              <a:cs typeface="Fira Code Medium" pitchFamily="1" charset="0"/>
            </a:endParaRPr>
          </a:p>
        </p:txBody>
      </p:sp>
      <p:grpSp>
        <p:nvGrpSpPr>
          <p:cNvPr id="43" name="组合 42">
            <a:extLst>
              <a:ext uri="{FF2B5EF4-FFF2-40B4-BE49-F238E27FC236}">
                <a16:creationId xmlns:a16="http://schemas.microsoft.com/office/drawing/2014/main" id="{F9C7206F-370B-3371-792F-BFFA370A068B}"/>
              </a:ext>
            </a:extLst>
          </p:cNvPr>
          <p:cNvGrpSpPr/>
          <p:nvPr/>
        </p:nvGrpSpPr>
        <p:grpSpPr>
          <a:xfrm>
            <a:off x="7088443" y="908592"/>
            <a:ext cx="2887979" cy="780559"/>
            <a:chOff x="861695" y="1092231"/>
            <a:chExt cx="3214255" cy="841059"/>
          </a:xfrm>
        </p:grpSpPr>
        <p:sp>
          <p:nvSpPr>
            <p:cNvPr id="44" name="矩形: 圆角 43">
              <a:extLst>
                <a:ext uri="{FF2B5EF4-FFF2-40B4-BE49-F238E27FC236}">
                  <a16:creationId xmlns:a16="http://schemas.microsoft.com/office/drawing/2014/main" id="{62A98181-FC85-66DB-B8F9-E1B0A2CDB1D6}"/>
                </a:ext>
              </a:extLst>
            </p:cNvPr>
            <p:cNvSpPr/>
            <p:nvPr/>
          </p:nvSpPr>
          <p:spPr>
            <a:xfrm>
              <a:off x="861695" y="1126384"/>
              <a:ext cx="3214255" cy="780559"/>
            </a:xfrm>
            <a:prstGeom prst="roundRect">
              <a:avLst/>
            </a:prstGeom>
            <a:solidFill>
              <a:srgbClr val="324273"/>
            </a:solidFill>
            <a:ln w="19050">
              <a:solidFill>
                <a:srgbClr val="32427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5" name="文本框 44">
              <a:extLst>
                <a:ext uri="{FF2B5EF4-FFF2-40B4-BE49-F238E27FC236}">
                  <a16:creationId xmlns:a16="http://schemas.microsoft.com/office/drawing/2014/main" id="{2D335DBF-611E-A75C-86FD-19C2CD231E5D}"/>
                </a:ext>
              </a:extLst>
            </p:cNvPr>
            <p:cNvSpPr txBox="1"/>
            <p:nvPr/>
          </p:nvSpPr>
          <p:spPr>
            <a:xfrm>
              <a:off x="1493654" y="1092231"/>
              <a:ext cx="1950335" cy="841059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zh-CN" altLang="en-US" sz="2400">
                  <a:solidFill>
                    <a:schemeClr val="bg1"/>
                  </a:solidFill>
                  <a:latin typeface="华文中宋" panose="02010600040101010101" pitchFamily="2" charset="-122"/>
                  <a:ea typeface="华文中宋" panose="02010600040101010101" pitchFamily="2" charset="-122"/>
                </a:rPr>
                <a:t>核心代码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912678957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346DB4-FCB6-24BB-BC9C-43C616FB5A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组合 12">
            <a:extLst>
              <a:ext uri="{FF2B5EF4-FFF2-40B4-BE49-F238E27FC236}">
                <a16:creationId xmlns:a16="http://schemas.microsoft.com/office/drawing/2014/main" id="{3ACB42BA-0F31-EABA-4754-CB673A4FAEAA}"/>
              </a:ext>
            </a:extLst>
          </p:cNvPr>
          <p:cNvGrpSpPr/>
          <p:nvPr/>
        </p:nvGrpSpPr>
        <p:grpSpPr>
          <a:xfrm>
            <a:off x="-12700" y="-13335"/>
            <a:ext cx="3762375" cy="874395"/>
            <a:chOff x="-12700" y="-13335"/>
            <a:chExt cx="3762375" cy="874395"/>
          </a:xfrm>
        </p:grpSpPr>
        <p:sp>
          <p:nvSpPr>
            <p:cNvPr id="14" name="矩形 13">
              <a:extLst>
                <a:ext uri="{FF2B5EF4-FFF2-40B4-BE49-F238E27FC236}">
                  <a16:creationId xmlns:a16="http://schemas.microsoft.com/office/drawing/2014/main" id="{B1A73B29-8CCC-607B-0F9A-2E92D208D018}"/>
                </a:ext>
              </a:extLst>
            </p:cNvPr>
            <p:cNvSpPr/>
            <p:nvPr/>
          </p:nvSpPr>
          <p:spPr>
            <a:xfrm>
              <a:off x="-12700" y="784860"/>
              <a:ext cx="3762375" cy="76200"/>
            </a:xfrm>
            <a:prstGeom prst="rect">
              <a:avLst/>
            </a:prstGeom>
            <a:solidFill>
              <a:schemeClr val="tx2">
                <a:lumMod val="75000"/>
                <a:lumOff val="2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5" name="矩形 14">
              <a:extLst>
                <a:ext uri="{FF2B5EF4-FFF2-40B4-BE49-F238E27FC236}">
                  <a16:creationId xmlns:a16="http://schemas.microsoft.com/office/drawing/2014/main" id="{9C1A1078-29D8-5A22-0450-81F61E371693}"/>
                </a:ext>
              </a:extLst>
            </p:cNvPr>
            <p:cNvSpPr/>
            <p:nvPr/>
          </p:nvSpPr>
          <p:spPr>
            <a:xfrm>
              <a:off x="-12700" y="-13335"/>
              <a:ext cx="874395" cy="874395"/>
            </a:xfrm>
            <a:prstGeom prst="rect">
              <a:avLst/>
            </a:prstGeom>
            <a:solidFill>
              <a:schemeClr val="tx2">
                <a:lumMod val="75000"/>
                <a:lumOff val="2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4800">
                  <a:latin typeface="微软雅黑" panose="020B0503020204020204" pitchFamily="34" charset="-122"/>
                  <a:ea typeface="微软雅黑" panose="020B0503020204020204" pitchFamily="34" charset="-122"/>
                </a:rPr>
                <a:t>3</a:t>
              </a:r>
            </a:p>
          </p:txBody>
        </p:sp>
        <p:sp>
          <p:nvSpPr>
            <p:cNvPr id="16" name="文本框 15">
              <a:extLst>
                <a:ext uri="{FF2B5EF4-FFF2-40B4-BE49-F238E27FC236}">
                  <a16:creationId xmlns:a16="http://schemas.microsoft.com/office/drawing/2014/main" id="{C0FFEEB8-8008-B1A9-2FC5-19E96EA44C0D}"/>
                </a:ext>
              </a:extLst>
            </p:cNvPr>
            <p:cNvSpPr txBox="1"/>
            <p:nvPr/>
          </p:nvSpPr>
          <p:spPr>
            <a:xfrm>
              <a:off x="861695" y="0"/>
              <a:ext cx="2887980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4800" b="1">
                  <a:solidFill>
                    <a:schemeClr val="tx2">
                      <a:lumMod val="75000"/>
                      <a:lumOff val="25000"/>
                    </a:schemeClr>
                  </a:solidFill>
                  <a:latin typeface="华文中宋" panose="02010600040101010101" pitchFamily="2" charset="-122"/>
                  <a:ea typeface="华文中宋" panose="02010600040101010101" pitchFamily="2" charset="-122"/>
                </a:rPr>
                <a:t>实验过程</a:t>
              </a:r>
            </a:p>
          </p:txBody>
        </p:sp>
      </p:grpSp>
      <p:grpSp>
        <p:nvGrpSpPr>
          <p:cNvPr id="51" name="组合 50">
            <a:extLst>
              <a:ext uri="{FF2B5EF4-FFF2-40B4-BE49-F238E27FC236}">
                <a16:creationId xmlns:a16="http://schemas.microsoft.com/office/drawing/2014/main" id="{E18B9812-0170-3867-2393-97B2261B75F5}"/>
              </a:ext>
            </a:extLst>
          </p:cNvPr>
          <p:cNvGrpSpPr/>
          <p:nvPr/>
        </p:nvGrpSpPr>
        <p:grpSpPr>
          <a:xfrm>
            <a:off x="1237872" y="1298872"/>
            <a:ext cx="2887979" cy="5107715"/>
            <a:chOff x="1237872" y="1298872"/>
            <a:chExt cx="2887979" cy="5107715"/>
          </a:xfrm>
        </p:grpSpPr>
        <p:grpSp>
          <p:nvGrpSpPr>
            <p:cNvPr id="41" name="组合 40">
              <a:extLst>
                <a:ext uri="{FF2B5EF4-FFF2-40B4-BE49-F238E27FC236}">
                  <a16:creationId xmlns:a16="http://schemas.microsoft.com/office/drawing/2014/main" id="{8D0F7A51-F037-5F50-3B37-DBE27A675BCA}"/>
                </a:ext>
              </a:extLst>
            </p:cNvPr>
            <p:cNvGrpSpPr/>
            <p:nvPr/>
          </p:nvGrpSpPr>
          <p:grpSpPr>
            <a:xfrm>
              <a:off x="1237872" y="1298872"/>
              <a:ext cx="2887979" cy="780559"/>
              <a:chOff x="861695" y="1126384"/>
              <a:chExt cx="3214255" cy="780559"/>
            </a:xfrm>
          </p:grpSpPr>
          <p:sp>
            <p:nvSpPr>
              <p:cNvPr id="35" name="矩形: 圆角 34">
                <a:extLst>
                  <a:ext uri="{FF2B5EF4-FFF2-40B4-BE49-F238E27FC236}">
                    <a16:creationId xmlns:a16="http://schemas.microsoft.com/office/drawing/2014/main" id="{1563C23E-A89A-3BDE-DAD8-D0D8C9BE26E3}"/>
                  </a:ext>
                </a:extLst>
              </p:cNvPr>
              <p:cNvSpPr/>
              <p:nvPr/>
            </p:nvSpPr>
            <p:spPr>
              <a:xfrm>
                <a:off x="861695" y="1126384"/>
                <a:ext cx="3214255" cy="780559"/>
              </a:xfrm>
              <a:prstGeom prst="roundRect">
                <a:avLst/>
              </a:prstGeom>
              <a:solidFill>
                <a:srgbClr val="324273"/>
              </a:solidFill>
              <a:ln w="19050">
                <a:solidFill>
                  <a:srgbClr val="324273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" name="文本框 35">
                <a:extLst>
                  <a:ext uri="{FF2B5EF4-FFF2-40B4-BE49-F238E27FC236}">
                    <a16:creationId xmlns:a16="http://schemas.microsoft.com/office/drawing/2014/main" id="{06296D61-42C8-8DB9-F806-134F1AB7280F}"/>
                  </a:ext>
                </a:extLst>
              </p:cNvPr>
              <p:cNvSpPr txBox="1"/>
              <p:nvPr/>
            </p:nvSpPr>
            <p:spPr>
              <a:xfrm>
                <a:off x="1493654" y="1281928"/>
                <a:ext cx="1950335" cy="461665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sz="2400" b="1">
                    <a:solidFill>
                      <a:schemeClr val="bg1"/>
                    </a:solidFill>
                    <a:latin typeface="Consolas" panose="020B0609020204030204" pitchFamily="49" charset="0"/>
                  </a:rPr>
                  <a:t>dfs-2</a:t>
                </a:r>
                <a:endParaRPr lang="zh-CN" altLang="en-US" sz="2400" b="1">
                  <a:solidFill>
                    <a:schemeClr val="bg1"/>
                  </a:solidFill>
                  <a:latin typeface="Consolas" panose="020B0609020204030204" pitchFamily="49" charset="0"/>
                </a:endParaRPr>
              </a:p>
            </p:txBody>
          </p:sp>
        </p:grpSp>
        <p:grpSp>
          <p:nvGrpSpPr>
            <p:cNvPr id="46" name="组合 45">
              <a:extLst>
                <a:ext uri="{FF2B5EF4-FFF2-40B4-BE49-F238E27FC236}">
                  <a16:creationId xmlns:a16="http://schemas.microsoft.com/office/drawing/2014/main" id="{7DACAB0A-30BD-3BE4-6F44-5281744114AB}"/>
                </a:ext>
              </a:extLst>
            </p:cNvPr>
            <p:cNvGrpSpPr/>
            <p:nvPr/>
          </p:nvGrpSpPr>
          <p:grpSpPr>
            <a:xfrm>
              <a:off x="1237872" y="2440110"/>
              <a:ext cx="2887978" cy="3966477"/>
              <a:chOff x="861695" y="2260703"/>
              <a:chExt cx="2887978" cy="3966477"/>
            </a:xfrm>
          </p:grpSpPr>
          <p:sp>
            <p:nvSpPr>
              <p:cNvPr id="17" name="矩形: 圆角 16">
                <a:extLst>
                  <a:ext uri="{FF2B5EF4-FFF2-40B4-BE49-F238E27FC236}">
                    <a16:creationId xmlns:a16="http://schemas.microsoft.com/office/drawing/2014/main" id="{60F84D3D-D9AD-294B-9C8D-1AE82186EB66}"/>
                  </a:ext>
                </a:extLst>
              </p:cNvPr>
              <p:cNvSpPr/>
              <p:nvPr/>
            </p:nvSpPr>
            <p:spPr>
              <a:xfrm>
                <a:off x="861695" y="2260703"/>
                <a:ext cx="2887978" cy="3966477"/>
              </a:xfrm>
              <a:prstGeom prst="roundRect">
                <a:avLst/>
              </a:prstGeom>
              <a:solidFill>
                <a:srgbClr val="D9D9D9"/>
              </a:solidFill>
              <a:ln w="19050">
                <a:solidFill>
                  <a:srgbClr val="324273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2" name="文本框 41">
                <a:extLst>
                  <a:ext uri="{FF2B5EF4-FFF2-40B4-BE49-F238E27FC236}">
                    <a16:creationId xmlns:a16="http://schemas.microsoft.com/office/drawing/2014/main" id="{D0E7AED8-7BEF-4F79-0513-B5B200BCE238}"/>
                  </a:ext>
                </a:extLst>
              </p:cNvPr>
              <p:cNvSpPr txBox="1"/>
              <p:nvPr/>
            </p:nvSpPr>
            <p:spPr>
              <a:xfrm>
                <a:off x="1052985" y="2837498"/>
                <a:ext cx="2505395" cy="2812886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>
                <a:defPPr>
                  <a:defRPr lang="zh-CN"/>
                </a:defPPr>
                <a:lvl1pPr algn="ctr">
                  <a:defRPr sz="2800" b="1">
                    <a:solidFill>
                      <a:srgbClr val="324273"/>
                    </a:solidFill>
                    <a:latin typeface="Consolas" panose="020B0609020204030204" pitchFamily="49" charset="0"/>
                    <a:ea typeface="华文中宋" panose="02010600040101010101" pitchFamily="2" charset="-122"/>
                  </a:defRPr>
                </a:lvl1pPr>
              </a:lstStyle>
              <a:p>
                <a:pPr algn="just">
                  <a:lnSpc>
                    <a:spcPct val="150000"/>
                  </a:lnSpc>
                </a:pPr>
                <a:r>
                  <a:rPr lang="zh-CN" altLang="en-US" sz="2000" b="0"/>
                  <a:t>在</a:t>
                </a:r>
                <a:r>
                  <a:rPr lang="en-US" altLang="zh-CN" sz="2000" b="0"/>
                  <a:t>dfs-1</a:t>
                </a:r>
                <a:r>
                  <a:rPr lang="zh-CN" altLang="en-US" sz="2000" b="0"/>
                  <a:t>基础加入贪心选择，每次优先选择总花费最少的分支。失败的尝试，由于阶乘级的排序操作，性能远不如</a:t>
                </a:r>
                <a:r>
                  <a:rPr lang="en-US" altLang="zh-CN" sz="2000" b="0"/>
                  <a:t>dfs-1</a:t>
                </a:r>
                <a:r>
                  <a:rPr lang="zh-CN" altLang="en-US" sz="2000" b="0"/>
                  <a:t>。</a:t>
                </a:r>
              </a:p>
            </p:txBody>
          </p:sp>
        </p:grpSp>
      </p:grpSp>
      <p:sp>
        <p:nvSpPr>
          <p:cNvPr id="52" name="矩形: 圆角 51">
            <a:extLst>
              <a:ext uri="{FF2B5EF4-FFF2-40B4-BE49-F238E27FC236}">
                <a16:creationId xmlns:a16="http://schemas.microsoft.com/office/drawing/2014/main" id="{DFD61215-E462-F63B-B731-81CAB27BAFC2}"/>
              </a:ext>
            </a:extLst>
          </p:cNvPr>
          <p:cNvSpPr/>
          <p:nvPr/>
        </p:nvSpPr>
        <p:spPr>
          <a:xfrm>
            <a:off x="4959390" y="1298872"/>
            <a:ext cx="7146086" cy="5107715"/>
          </a:xfrm>
          <a:prstGeom prst="roundRect">
            <a:avLst>
              <a:gd name="adj" fmla="val 8942"/>
            </a:avLst>
          </a:prstGeom>
          <a:solidFill>
            <a:srgbClr val="D9D9D9"/>
          </a:solidFill>
          <a:ln w="19050">
            <a:solidFill>
              <a:srgbClr val="32427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0" name="文本框 59">
            <a:extLst>
              <a:ext uri="{FF2B5EF4-FFF2-40B4-BE49-F238E27FC236}">
                <a16:creationId xmlns:a16="http://schemas.microsoft.com/office/drawing/2014/main" id="{232FBF14-1D18-FD54-5184-AD62EB662F30}"/>
              </a:ext>
            </a:extLst>
          </p:cNvPr>
          <p:cNvSpPr txBox="1"/>
          <p:nvPr/>
        </p:nvSpPr>
        <p:spPr>
          <a:xfrm>
            <a:off x="5356246" y="1916081"/>
            <a:ext cx="6352369" cy="43877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5000"/>
              </a:lnSpc>
            </a:pPr>
            <a:r>
              <a:rPr lang="en-US" altLang="zh-CN" sz="14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void dfs(int node, int cost, int len, int cur_path[]) {</a:t>
            </a:r>
          </a:p>
          <a:p>
            <a:pPr>
              <a:lnSpc>
                <a:spcPct val="125000"/>
              </a:lnSpc>
            </a:pPr>
            <a:r>
              <a:rPr lang="en-US" altLang="zh-CN" sz="14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/* </a:t>
            </a:r>
            <a:r>
              <a:rPr lang="zh-CN" altLang="en-US" sz="14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前略 </a:t>
            </a:r>
            <a:r>
              <a:rPr lang="en-US" altLang="zh-CN" sz="14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*/</a:t>
            </a:r>
          </a:p>
          <a:p>
            <a:pPr>
              <a:lnSpc>
                <a:spcPct val="125000"/>
              </a:lnSpc>
            </a:pPr>
            <a:r>
              <a:rPr lang="en-US" altLang="zh-CN" sz="14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vector&lt;pair&lt;int, int&gt;&gt; next;        </a:t>
            </a:r>
          </a:p>
          <a:p>
            <a:pPr>
              <a:lnSpc>
                <a:spcPct val="125000"/>
              </a:lnSpc>
            </a:pPr>
            <a:r>
              <a:rPr lang="en-US" altLang="zh-CN" sz="14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// pair: &lt;node, cost&gt;</a:t>
            </a:r>
          </a:p>
          <a:p>
            <a:pPr>
              <a:lnSpc>
                <a:spcPct val="125000"/>
              </a:lnSpc>
            </a:pPr>
            <a:r>
              <a:rPr lang="en-US" altLang="zh-CN" sz="14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for (int i = 1; i &lt;= n; ++i) {</a:t>
            </a:r>
          </a:p>
          <a:p>
            <a:pPr>
              <a:lnSpc>
                <a:spcPct val="125000"/>
              </a:lnSpc>
            </a:pPr>
            <a:r>
              <a:rPr lang="en-US" altLang="zh-CN" sz="14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    if (!vis[i] &amp;&amp; grid[node][i] != 0)</a:t>
            </a:r>
          </a:p>
          <a:p>
            <a:pPr>
              <a:lnSpc>
                <a:spcPct val="125000"/>
              </a:lnSpc>
            </a:pPr>
            <a:r>
              <a:rPr lang="en-US" altLang="zh-CN" sz="14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        next.emplace_back(i, cost + grid[node][i]);</a:t>
            </a:r>
          </a:p>
          <a:p>
            <a:pPr>
              <a:lnSpc>
                <a:spcPct val="125000"/>
              </a:lnSpc>
            </a:pPr>
            <a:r>
              <a:rPr lang="en-US" altLang="zh-CN" sz="14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}</a:t>
            </a:r>
          </a:p>
          <a:p>
            <a:pPr>
              <a:lnSpc>
                <a:spcPct val="125000"/>
              </a:lnSpc>
            </a:pPr>
            <a:r>
              <a:rPr lang="en-US" altLang="zh-CN" sz="14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sort(next.begin(), next.end(), cmp);</a:t>
            </a:r>
          </a:p>
          <a:p>
            <a:pPr>
              <a:lnSpc>
                <a:spcPct val="125000"/>
              </a:lnSpc>
            </a:pPr>
            <a:r>
              <a:rPr lang="en-US" altLang="zh-CN" sz="14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for (auto &amp;p : next) {</a:t>
            </a:r>
          </a:p>
          <a:p>
            <a:pPr>
              <a:lnSpc>
                <a:spcPct val="125000"/>
              </a:lnSpc>
            </a:pPr>
            <a:r>
              <a:rPr lang="en-US" altLang="zh-CN" sz="14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    vis[p.first] = 1;</a:t>
            </a:r>
          </a:p>
          <a:p>
            <a:pPr>
              <a:lnSpc>
                <a:spcPct val="125000"/>
              </a:lnSpc>
            </a:pPr>
            <a:r>
              <a:rPr lang="en-US" altLang="zh-CN" sz="14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    cur_path[len + 1] = p.first;</a:t>
            </a:r>
          </a:p>
          <a:p>
            <a:pPr>
              <a:lnSpc>
                <a:spcPct val="125000"/>
              </a:lnSpc>
            </a:pPr>
            <a:r>
              <a:rPr lang="en-US" altLang="zh-CN" sz="14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    dfs(p.first, p.second, len + 1, cur_path);</a:t>
            </a:r>
          </a:p>
          <a:p>
            <a:pPr>
              <a:lnSpc>
                <a:spcPct val="125000"/>
              </a:lnSpc>
            </a:pPr>
            <a:r>
              <a:rPr lang="en-US" altLang="zh-CN" sz="14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    vis[p.first] = 0;</a:t>
            </a:r>
          </a:p>
          <a:p>
            <a:pPr>
              <a:lnSpc>
                <a:spcPct val="125000"/>
              </a:lnSpc>
            </a:pPr>
            <a:r>
              <a:rPr lang="en-US" altLang="zh-CN" sz="14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}</a:t>
            </a:r>
          </a:p>
          <a:p>
            <a:pPr>
              <a:lnSpc>
                <a:spcPct val="125000"/>
              </a:lnSpc>
            </a:pPr>
            <a:r>
              <a:rPr lang="en-US" altLang="zh-CN" sz="14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}</a:t>
            </a:r>
            <a:endParaRPr lang="zh-CN" altLang="en-US" sz="1400">
              <a:latin typeface="Fira Code Medium" pitchFamily="1" charset="0"/>
              <a:ea typeface="楷体" panose="02010609060101010101" pitchFamily="49" charset="-122"/>
              <a:cs typeface="Fira Code Medium" pitchFamily="1" charset="0"/>
            </a:endParaRPr>
          </a:p>
        </p:txBody>
      </p:sp>
      <p:grpSp>
        <p:nvGrpSpPr>
          <p:cNvPr id="43" name="组合 42">
            <a:extLst>
              <a:ext uri="{FF2B5EF4-FFF2-40B4-BE49-F238E27FC236}">
                <a16:creationId xmlns:a16="http://schemas.microsoft.com/office/drawing/2014/main" id="{99C4798A-6979-69A7-3AD5-1EFF19AECD78}"/>
              </a:ext>
            </a:extLst>
          </p:cNvPr>
          <p:cNvGrpSpPr/>
          <p:nvPr/>
        </p:nvGrpSpPr>
        <p:grpSpPr>
          <a:xfrm>
            <a:off x="7088443" y="908592"/>
            <a:ext cx="2887979" cy="780559"/>
            <a:chOff x="861695" y="1092231"/>
            <a:chExt cx="3214255" cy="841059"/>
          </a:xfrm>
        </p:grpSpPr>
        <p:sp>
          <p:nvSpPr>
            <p:cNvPr id="44" name="矩形: 圆角 43">
              <a:extLst>
                <a:ext uri="{FF2B5EF4-FFF2-40B4-BE49-F238E27FC236}">
                  <a16:creationId xmlns:a16="http://schemas.microsoft.com/office/drawing/2014/main" id="{ED7915FE-AC6E-BBCD-A9D6-D7C1D5A0407B}"/>
                </a:ext>
              </a:extLst>
            </p:cNvPr>
            <p:cNvSpPr/>
            <p:nvPr/>
          </p:nvSpPr>
          <p:spPr>
            <a:xfrm>
              <a:off x="861695" y="1126384"/>
              <a:ext cx="3214255" cy="780559"/>
            </a:xfrm>
            <a:prstGeom prst="roundRect">
              <a:avLst/>
            </a:prstGeom>
            <a:solidFill>
              <a:srgbClr val="324273"/>
            </a:solidFill>
            <a:ln w="19050">
              <a:solidFill>
                <a:srgbClr val="32427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5" name="文本框 44">
              <a:extLst>
                <a:ext uri="{FF2B5EF4-FFF2-40B4-BE49-F238E27FC236}">
                  <a16:creationId xmlns:a16="http://schemas.microsoft.com/office/drawing/2014/main" id="{9F59AE8F-EA2E-95F3-4082-693C1BCD23BA}"/>
                </a:ext>
              </a:extLst>
            </p:cNvPr>
            <p:cNvSpPr txBox="1"/>
            <p:nvPr/>
          </p:nvSpPr>
          <p:spPr>
            <a:xfrm>
              <a:off x="1493654" y="1092231"/>
              <a:ext cx="1950335" cy="841059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zh-CN" altLang="en-US" sz="2400">
                  <a:solidFill>
                    <a:schemeClr val="bg1"/>
                  </a:solidFill>
                  <a:latin typeface="华文中宋" panose="02010600040101010101" pitchFamily="2" charset="-122"/>
                  <a:ea typeface="华文中宋" panose="02010600040101010101" pitchFamily="2" charset="-122"/>
                </a:rPr>
                <a:t>核心代码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44621602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B3763E-B774-44DC-0EE7-C48EE4D321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组合 12">
            <a:extLst>
              <a:ext uri="{FF2B5EF4-FFF2-40B4-BE49-F238E27FC236}">
                <a16:creationId xmlns:a16="http://schemas.microsoft.com/office/drawing/2014/main" id="{F45AE42A-65C9-5B59-B2FE-9ACA894255A5}"/>
              </a:ext>
            </a:extLst>
          </p:cNvPr>
          <p:cNvGrpSpPr/>
          <p:nvPr/>
        </p:nvGrpSpPr>
        <p:grpSpPr>
          <a:xfrm>
            <a:off x="-12700" y="-13335"/>
            <a:ext cx="3762375" cy="874395"/>
            <a:chOff x="-12700" y="-13335"/>
            <a:chExt cx="3762375" cy="874395"/>
          </a:xfrm>
        </p:grpSpPr>
        <p:sp>
          <p:nvSpPr>
            <p:cNvPr id="14" name="矩形 13">
              <a:extLst>
                <a:ext uri="{FF2B5EF4-FFF2-40B4-BE49-F238E27FC236}">
                  <a16:creationId xmlns:a16="http://schemas.microsoft.com/office/drawing/2014/main" id="{175CFAD9-6C83-A24B-ED38-066CE7FE2911}"/>
                </a:ext>
              </a:extLst>
            </p:cNvPr>
            <p:cNvSpPr/>
            <p:nvPr/>
          </p:nvSpPr>
          <p:spPr>
            <a:xfrm>
              <a:off x="-12700" y="784860"/>
              <a:ext cx="3762375" cy="76200"/>
            </a:xfrm>
            <a:prstGeom prst="rect">
              <a:avLst/>
            </a:prstGeom>
            <a:solidFill>
              <a:schemeClr val="tx2">
                <a:lumMod val="75000"/>
                <a:lumOff val="2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5" name="矩形 14">
              <a:extLst>
                <a:ext uri="{FF2B5EF4-FFF2-40B4-BE49-F238E27FC236}">
                  <a16:creationId xmlns:a16="http://schemas.microsoft.com/office/drawing/2014/main" id="{69CF55FC-DC53-5191-12AA-EDA6C45B13D3}"/>
                </a:ext>
              </a:extLst>
            </p:cNvPr>
            <p:cNvSpPr/>
            <p:nvPr/>
          </p:nvSpPr>
          <p:spPr>
            <a:xfrm>
              <a:off x="-12700" y="-13335"/>
              <a:ext cx="874395" cy="874395"/>
            </a:xfrm>
            <a:prstGeom prst="rect">
              <a:avLst/>
            </a:prstGeom>
            <a:solidFill>
              <a:schemeClr val="tx2">
                <a:lumMod val="75000"/>
                <a:lumOff val="2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4800">
                  <a:latin typeface="微软雅黑" panose="020B0503020204020204" pitchFamily="34" charset="-122"/>
                  <a:ea typeface="微软雅黑" panose="020B0503020204020204" pitchFamily="34" charset="-122"/>
                </a:rPr>
                <a:t>3</a:t>
              </a:r>
            </a:p>
          </p:txBody>
        </p:sp>
        <p:sp>
          <p:nvSpPr>
            <p:cNvPr id="16" name="文本框 15">
              <a:extLst>
                <a:ext uri="{FF2B5EF4-FFF2-40B4-BE49-F238E27FC236}">
                  <a16:creationId xmlns:a16="http://schemas.microsoft.com/office/drawing/2014/main" id="{535D9FEC-AF35-B8E7-E3CA-04792AB207F8}"/>
                </a:ext>
              </a:extLst>
            </p:cNvPr>
            <p:cNvSpPr txBox="1"/>
            <p:nvPr/>
          </p:nvSpPr>
          <p:spPr>
            <a:xfrm>
              <a:off x="861695" y="0"/>
              <a:ext cx="2887980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4800" b="1">
                  <a:solidFill>
                    <a:schemeClr val="tx2">
                      <a:lumMod val="75000"/>
                      <a:lumOff val="25000"/>
                    </a:schemeClr>
                  </a:solidFill>
                  <a:latin typeface="华文中宋" panose="02010600040101010101" pitchFamily="2" charset="-122"/>
                  <a:ea typeface="华文中宋" panose="02010600040101010101" pitchFamily="2" charset="-122"/>
                </a:rPr>
                <a:t>实验过程</a:t>
              </a:r>
            </a:p>
          </p:txBody>
        </p:sp>
      </p:grpSp>
      <p:grpSp>
        <p:nvGrpSpPr>
          <p:cNvPr id="51" name="组合 50">
            <a:extLst>
              <a:ext uri="{FF2B5EF4-FFF2-40B4-BE49-F238E27FC236}">
                <a16:creationId xmlns:a16="http://schemas.microsoft.com/office/drawing/2014/main" id="{B6571AC2-DAD3-DD3B-5AE0-0484F656552B}"/>
              </a:ext>
            </a:extLst>
          </p:cNvPr>
          <p:cNvGrpSpPr/>
          <p:nvPr/>
        </p:nvGrpSpPr>
        <p:grpSpPr>
          <a:xfrm>
            <a:off x="1237872" y="1298872"/>
            <a:ext cx="2887979" cy="5107715"/>
            <a:chOff x="1237872" y="1298872"/>
            <a:chExt cx="2887979" cy="5107715"/>
          </a:xfrm>
        </p:grpSpPr>
        <p:grpSp>
          <p:nvGrpSpPr>
            <p:cNvPr id="41" name="组合 40">
              <a:extLst>
                <a:ext uri="{FF2B5EF4-FFF2-40B4-BE49-F238E27FC236}">
                  <a16:creationId xmlns:a16="http://schemas.microsoft.com/office/drawing/2014/main" id="{D1394D90-14A9-B8A9-574A-987C79710FB1}"/>
                </a:ext>
              </a:extLst>
            </p:cNvPr>
            <p:cNvGrpSpPr/>
            <p:nvPr/>
          </p:nvGrpSpPr>
          <p:grpSpPr>
            <a:xfrm>
              <a:off x="1237872" y="1298872"/>
              <a:ext cx="2887979" cy="780559"/>
              <a:chOff x="861695" y="1126384"/>
              <a:chExt cx="3214255" cy="780559"/>
            </a:xfrm>
          </p:grpSpPr>
          <p:sp>
            <p:nvSpPr>
              <p:cNvPr id="35" name="矩形: 圆角 34">
                <a:extLst>
                  <a:ext uri="{FF2B5EF4-FFF2-40B4-BE49-F238E27FC236}">
                    <a16:creationId xmlns:a16="http://schemas.microsoft.com/office/drawing/2014/main" id="{0758423B-5F51-CDBC-FA4B-65C6485A818C}"/>
                  </a:ext>
                </a:extLst>
              </p:cNvPr>
              <p:cNvSpPr/>
              <p:nvPr/>
            </p:nvSpPr>
            <p:spPr>
              <a:xfrm>
                <a:off x="861695" y="1126384"/>
                <a:ext cx="3214255" cy="780559"/>
              </a:xfrm>
              <a:prstGeom prst="roundRect">
                <a:avLst/>
              </a:prstGeom>
              <a:solidFill>
                <a:srgbClr val="324273"/>
              </a:solidFill>
              <a:ln w="19050">
                <a:solidFill>
                  <a:srgbClr val="324273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" name="文本框 35">
                <a:extLst>
                  <a:ext uri="{FF2B5EF4-FFF2-40B4-BE49-F238E27FC236}">
                    <a16:creationId xmlns:a16="http://schemas.microsoft.com/office/drawing/2014/main" id="{EA6273A8-A8A3-B3B2-CF5E-B04CC9BC3427}"/>
                  </a:ext>
                </a:extLst>
              </p:cNvPr>
              <p:cNvSpPr txBox="1"/>
              <p:nvPr/>
            </p:nvSpPr>
            <p:spPr>
              <a:xfrm>
                <a:off x="1493654" y="1281928"/>
                <a:ext cx="1950335" cy="461665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sz="2400" b="1">
                    <a:solidFill>
                      <a:schemeClr val="bg1"/>
                    </a:solidFill>
                    <a:latin typeface="Consolas" panose="020B0609020204030204" pitchFamily="49" charset="0"/>
                  </a:rPr>
                  <a:t>bfs-0</a:t>
                </a:r>
                <a:endParaRPr lang="zh-CN" altLang="en-US" sz="2400" b="1">
                  <a:solidFill>
                    <a:schemeClr val="bg1"/>
                  </a:solidFill>
                  <a:latin typeface="Consolas" panose="020B0609020204030204" pitchFamily="49" charset="0"/>
                </a:endParaRPr>
              </a:p>
            </p:txBody>
          </p:sp>
        </p:grpSp>
        <p:grpSp>
          <p:nvGrpSpPr>
            <p:cNvPr id="46" name="组合 45">
              <a:extLst>
                <a:ext uri="{FF2B5EF4-FFF2-40B4-BE49-F238E27FC236}">
                  <a16:creationId xmlns:a16="http://schemas.microsoft.com/office/drawing/2014/main" id="{5C803410-D98B-6021-447F-BD27832D4E3E}"/>
                </a:ext>
              </a:extLst>
            </p:cNvPr>
            <p:cNvGrpSpPr/>
            <p:nvPr/>
          </p:nvGrpSpPr>
          <p:grpSpPr>
            <a:xfrm>
              <a:off x="1237872" y="2440110"/>
              <a:ext cx="2887978" cy="3966477"/>
              <a:chOff x="861695" y="2260703"/>
              <a:chExt cx="2887978" cy="3966477"/>
            </a:xfrm>
          </p:grpSpPr>
          <p:sp>
            <p:nvSpPr>
              <p:cNvPr id="17" name="矩形: 圆角 16">
                <a:extLst>
                  <a:ext uri="{FF2B5EF4-FFF2-40B4-BE49-F238E27FC236}">
                    <a16:creationId xmlns:a16="http://schemas.microsoft.com/office/drawing/2014/main" id="{0E8BC257-FA20-FC0A-EFCA-144872D822D0}"/>
                  </a:ext>
                </a:extLst>
              </p:cNvPr>
              <p:cNvSpPr/>
              <p:nvPr/>
            </p:nvSpPr>
            <p:spPr>
              <a:xfrm>
                <a:off x="861695" y="2260703"/>
                <a:ext cx="2887978" cy="3966477"/>
              </a:xfrm>
              <a:prstGeom prst="roundRect">
                <a:avLst/>
              </a:prstGeom>
              <a:solidFill>
                <a:srgbClr val="D9D9D9"/>
              </a:solidFill>
              <a:ln w="19050">
                <a:solidFill>
                  <a:srgbClr val="324273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2" name="文本框 41">
                <a:extLst>
                  <a:ext uri="{FF2B5EF4-FFF2-40B4-BE49-F238E27FC236}">
                    <a16:creationId xmlns:a16="http://schemas.microsoft.com/office/drawing/2014/main" id="{21B633E6-36CC-F803-2DED-EE5F06151AF2}"/>
                  </a:ext>
                </a:extLst>
              </p:cNvPr>
              <p:cNvSpPr txBox="1"/>
              <p:nvPr/>
            </p:nvSpPr>
            <p:spPr>
              <a:xfrm>
                <a:off x="1052985" y="2606668"/>
                <a:ext cx="2505395" cy="3274551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>
                <a:defPPr>
                  <a:defRPr lang="zh-CN"/>
                </a:defPPr>
                <a:lvl1pPr algn="ctr">
                  <a:defRPr sz="2800" b="1">
                    <a:solidFill>
                      <a:srgbClr val="324273"/>
                    </a:solidFill>
                    <a:latin typeface="Consolas" panose="020B0609020204030204" pitchFamily="49" charset="0"/>
                    <a:ea typeface="华文中宋" panose="02010600040101010101" pitchFamily="2" charset="-122"/>
                  </a:defRPr>
                </a:lvl1pPr>
              </a:lstStyle>
              <a:p>
                <a:pPr algn="just">
                  <a:lnSpc>
                    <a:spcPct val="150000"/>
                  </a:lnSpc>
                </a:pPr>
                <a:r>
                  <a:rPr lang="zh-CN" altLang="en-US" sz="2000" b="0"/>
                  <a:t>使用优先队列的广度优先搜索，每次优先选择总花费最少的分支。实现得并不好，只能正确求解</a:t>
                </a:r>
                <a:r>
                  <a:rPr lang="en-US" altLang="zh-CN" sz="2000" b="0"/>
                  <a:t>n&lt;=5</a:t>
                </a:r>
                <a:r>
                  <a:rPr lang="zh-CN" altLang="en-US" sz="2000" b="0"/>
                  <a:t>规模的问题，往后内存不足。</a:t>
                </a:r>
              </a:p>
            </p:txBody>
          </p:sp>
        </p:grpSp>
      </p:grpSp>
      <p:sp>
        <p:nvSpPr>
          <p:cNvPr id="52" name="矩形: 圆角 51">
            <a:extLst>
              <a:ext uri="{FF2B5EF4-FFF2-40B4-BE49-F238E27FC236}">
                <a16:creationId xmlns:a16="http://schemas.microsoft.com/office/drawing/2014/main" id="{71577B41-0F01-A824-5A28-CB0F4A7443B8}"/>
              </a:ext>
            </a:extLst>
          </p:cNvPr>
          <p:cNvSpPr/>
          <p:nvPr/>
        </p:nvSpPr>
        <p:spPr>
          <a:xfrm>
            <a:off x="4959390" y="1298872"/>
            <a:ext cx="7146086" cy="5107715"/>
          </a:xfrm>
          <a:prstGeom prst="roundRect">
            <a:avLst>
              <a:gd name="adj" fmla="val 8942"/>
            </a:avLst>
          </a:prstGeom>
          <a:solidFill>
            <a:srgbClr val="D9D9D9"/>
          </a:solidFill>
          <a:ln w="19050">
            <a:solidFill>
              <a:srgbClr val="32427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0" name="文本框 59">
            <a:extLst>
              <a:ext uri="{FF2B5EF4-FFF2-40B4-BE49-F238E27FC236}">
                <a16:creationId xmlns:a16="http://schemas.microsoft.com/office/drawing/2014/main" id="{487669FE-2052-6E1C-C73A-146A047C86A6}"/>
              </a:ext>
            </a:extLst>
          </p:cNvPr>
          <p:cNvSpPr txBox="1"/>
          <p:nvPr/>
        </p:nvSpPr>
        <p:spPr>
          <a:xfrm>
            <a:off x="5161444" y="1720847"/>
            <a:ext cx="6741973" cy="47368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5000"/>
              </a:lnSpc>
            </a:pPr>
            <a:r>
              <a:rPr lang="en-US" altLang="zh-CN" sz="11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while (!qwq.empty()) {</a:t>
            </a:r>
          </a:p>
          <a:p>
            <a:pPr>
              <a:lnSpc>
                <a:spcPct val="125000"/>
              </a:lnSpc>
            </a:pPr>
            <a:r>
              <a:rPr lang="en-US" altLang="zh-CN" sz="11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    Status cur = qwq.top();</a:t>
            </a:r>
          </a:p>
          <a:p>
            <a:pPr>
              <a:lnSpc>
                <a:spcPct val="125000"/>
              </a:lnSpc>
            </a:pPr>
            <a:r>
              <a:rPr lang="en-US" altLang="zh-CN" sz="11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    qwq.pop();</a:t>
            </a:r>
          </a:p>
          <a:p>
            <a:pPr>
              <a:lnSpc>
                <a:spcPct val="125000"/>
              </a:lnSpc>
            </a:pPr>
            <a:r>
              <a:rPr lang="en-US" altLang="zh-CN" sz="11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    node_num++;</a:t>
            </a:r>
          </a:p>
          <a:p>
            <a:pPr>
              <a:lnSpc>
                <a:spcPct val="125000"/>
              </a:lnSpc>
            </a:pPr>
            <a:r>
              <a:rPr lang="en-US" altLang="zh-CN" sz="11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    if (cur.cost &gt; minn) continue;</a:t>
            </a:r>
          </a:p>
          <a:p>
            <a:pPr>
              <a:lnSpc>
                <a:spcPct val="125000"/>
              </a:lnSpc>
            </a:pPr>
            <a:r>
              <a:rPr lang="en-US" altLang="zh-CN" sz="11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    if (cur.len &gt;= n) {</a:t>
            </a:r>
          </a:p>
          <a:p>
            <a:pPr>
              <a:lnSpc>
                <a:spcPct val="125000"/>
              </a:lnSpc>
            </a:pPr>
            <a:r>
              <a:rPr lang="en-US" altLang="zh-CN" sz="11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        if (cur.cost + grid[1][cur.node] &lt; minn) {</a:t>
            </a:r>
          </a:p>
          <a:p>
            <a:pPr>
              <a:lnSpc>
                <a:spcPct val="125000"/>
              </a:lnSpc>
            </a:pPr>
            <a:r>
              <a:rPr lang="en-US" altLang="zh-CN" sz="11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            minn = cur.cost + grid[1][cur.node];</a:t>
            </a:r>
          </a:p>
          <a:p>
            <a:pPr>
              <a:lnSpc>
                <a:spcPct val="125000"/>
              </a:lnSpc>
            </a:pPr>
            <a:r>
              <a:rPr lang="en-US" altLang="zh-CN" sz="11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            for (int i = 1; i &lt;= n; ++i) path[i] = cur.cur_path[i]; }</a:t>
            </a:r>
          </a:p>
          <a:p>
            <a:pPr>
              <a:lnSpc>
                <a:spcPct val="125000"/>
              </a:lnSpc>
            </a:pPr>
            <a:r>
              <a:rPr lang="en-US" altLang="zh-CN" sz="11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        continue; }</a:t>
            </a:r>
          </a:p>
          <a:p>
            <a:pPr>
              <a:lnSpc>
                <a:spcPct val="125000"/>
              </a:lnSpc>
            </a:pPr>
            <a:r>
              <a:rPr lang="en-US" altLang="zh-CN" sz="11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    for (int i = 1; i &lt;= n; ++i) {</a:t>
            </a:r>
          </a:p>
          <a:p>
            <a:pPr>
              <a:lnSpc>
                <a:spcPct val="125000"/>
              </a:lnSpc>
            </a:pPr>
            <a:r>
              <a:rPr lang="en-US" altLang="zh-CN" sz="11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        if (!cur.vis[i] &amp;&amp; grid[cur.node][i] != 0 &amp;&amp; cur.cost &lt; minn) {</a:t>
            </a:r>
          </a:p>
          <a:p>
            <a:pPr>
              <a:lnSpc>
                <a:spcPct val="125000"/>
              </a:lnSpc>
            </a:pPr>
            <a:r>
              <a:rPr lang="en-US" altLang="zh-CN" sz="11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            int tmp_vis[MAXN], tmp_path[MAXN];</a:t>
            </a:r>
          </a:p>
          <a:p>
            <a:pPr>
              <a:lnSpc>
                <a:spcPct val="125000"/>
              </a:lnSpc>
            </a:pPr>
            <a:r>
              <a:rPr lang="en-US" altLang="zh-CN" sz="11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            for (int k = 1; k &lt;= n; ++k) {</a:t>
            </a:r>
          </a:p>
          <a:p>
            <a:pPr>
              <a:lnSpc>
                <a:spcPct val="125000"/>
              </a:lnSpc>
            </a:pPr>
            <a:r>
              <a:rPr lang="en-US" altLang="zh-CN" sz="11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                tmp_vis[k] = cur.vis[k];</a:t>
            </a:r>
          </a:p>
          <a:p>
            <a:pPr>
              <a:lnSpc>
                <a:spcPct val="125000"/>
              </a:lnSpc>
            </a:pPr>
            <a:r>
              <a:rPr lang="en-US" altLang="zh-CN" sz="11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                tmp_path[k] = cur.cur_path[k]; }</a:t>
            </a:r>
          </a:p>
          <a:p>
            <a:pPr>
              <a:lnSpc>
                <a:spcPct val="125000"/>
              </a:lnSpc>
            </a:pPr>
            <a:r>
              <a:rPr lang="en-US" altLang="zh-CN" sz="11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            tmp_vis[i] = 1;</a:t>
            </a:r>
          </a:p>
          <a:p>
            <a:pPr>
              <a:lnSpc>
                <a:spcPct val="125000"/>
              </a:lnSpc>
            </a:pPr>
            <a:r>
              <a:rPr lang="en-US" altLang="zh-CN" sz="11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            tmp_path[cur.len + 1] = i;</a:t>
            </a:r>
          </a:p>
          <a:p>
            <a:pPr>
              <a:lnSpc>
                <a:spcPct val="125000"/>
              </a:lnSpc>
            </a:pPr>
            <a:r>
              <a:rPr lang="en-US" altLang="zh-CN" sz="11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            qwq.emplace(i, cur.cost + grid[cur.node][i], </a:t>
            </a:r>
          </a:p>
          <a:p>
            <a:pPr>
              <a:lnSpc>
                <a:spcPct val="125000"/>
              </a:lnSpc>
            </a:pPr>
            <a:r>
              <a:rPr lang="en-US" altLang="zh-CN" sz="11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                        cur.len + 1, tmp_vis, tmp_path); }</a:t>
            </a:r>
          </a:p>
          <a:p>
            <a:pPr>
              <a:lnSpc>
                <a:spcPct val="125000"/>
              </a:lnSpc>
            </a:pPr>
            <a:r>
              <a:rPr lang="en-US" altLang="zh-CN" sz="11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    }</a:t>
            </a:r>
          </a:p>
          <a:p>
            <a:pPr>
              <a:lnSpc>
                <a:spcPct val="125000"/>
              </a:lnSpc>
            </a:pPr>
            <a:r>
              <a:rPr lang="en-US" altLang="zh-CN" sz="11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}</a:t>
            </a:r>
            <a:endParaRPr lang="zh-CN" altLang="en-US" sz="1100">
              <a:latin typeface="Fira Code Medium" pitchFamily="1" charset="0"/>
              <a:ea typeface="楷体" panose="02010609060101010101" pitchFamily="49" charset="-122"/>
              <a:cs typeface="Fira Code Medium" pitchFamily="1" charset="0"/>
            </a:endParaRPr>
          </a:p>
        </p:txBody>
      </p:sp>
      <p:grpSp>
        <p:nvGrpSpPr>
          <p:cNvPr id="43" name="组合 42">
            <a:extLst>
              <a:ext uri="{FF2B5EF4-FFF2-40B4-BE49-F238E27FC236}">
                <a16:creationId xmlns:a16="http://schemas.microsoft.com/office/drawing/2014/main" id="{60BFF45A-F643-02CB-9927-17EC38E9CE84}"/>
              </a:ext>
            </a:extLst>
          </p:cNvPr>
          <p:cNvGrpSpPr/>
          <p:nvPr/>
        </p:nvGrpSpPr>
        <p:grpSpPr>
          <a:xfrm>
            <a:off x="7088443" y="908592"/>
            <a:ext cx="2887979" cy="780559"/>
            <a:chOff x="861695" y="1092231"/>
            <a:chExt cx="3214255" cy="841059"/>
          </a:xfrm>
        </p:grpSpPr>
        <p:sp>
          <p:nvSpPr>
            <p:cNvPr id="44" name="矩形: 圆角 43">
              <a:extLst>
                <a:ext uri="{FF2B5EF4-FFF2-40B4-BE49-F238E27FC236}">
                  <a16:creationId xmlns:a16="http://schemas.microsoft.com/office/drawing/2014/main" id="{FFB899BA-E4C7-5C8D-41EB-3ADA9C5BE777}"/>
                </a:ext>
              </a:extLst>
            </p:cNvPr>
            <p:cNvSpPr/>
            <p:nvPr/>
          </p:nvSpPr>
          <p:spPr>
            <a:xfrm>
              <a:off x="861695" y="1126384"/>
              <a:ext cx="3214255" cy="780559"/>
            </a:xfrm>
            <a:prstGeom prst="roundRect">
              <a:avLst/>
            </a:prstGeom>
            <a:solidFill>
              <a:srgbClr val="324273"/>
            </a:solidFill>
            <a:ln w="19050">
              <a:solidFill>
                <a:srgbClr val="32427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5" name="文本框 44">
              <a:extLst>
                <a:ext uri="{FF2B5EF4-FFF2-40B4-BE49-F238E27FC236}">
                  <a16:creationId xmlns:a16="http://schemas.microsoft.com/office/drawing/2014/main" id="{3A1B118F-3A26-686A-BB0B-F0EC030418B4}"/>
                </a:ext>
              </a:extLst>
            </p:cNvPr>
            <p:cNvSpPr txBox="1"/>
            <p:nvPr/>
          </p:nvSpPr>
          <p:spPr>
            <a:xfrm>
              <a:off x="1493654" y="1092231"/>
              <a:ext cx="1950335" cy="841059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zh-CN" altLang="en-US" sz="2400">
                  <a:solidFill>
                    <a:schemeClr val="bg1"/>
                  </a:solidFill>
                  <a:latin typeface="华文中宋" panose="02010600040101010101" pitchFamily="2" charset="-122"/>
                  <a:ea typeface="华文中宋" panose="02010600040101010101" pitchFamily="2" charset="-122"/>
                </a:rPr>
                <a:t>核心代码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03764815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26705F-D38C-B6C8-C93B-0BB9270E56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组合 12">
            <a:extLst>
              <a:ext uri="{FF2B5EF4-FFF2-40B4-BE49-F238E27FC236}">
                <a16:creationId xmlns:a16="http://schemas.microsoft.com/office/drawing/2014/main" id="{17E5E765-BD66-E1DD-3294-D93B0E8454E2}"/>
              </a:ext>
            </a:extLst>
          </p:cNvPr>
          <p:cNvGrpSpPr/>
          <p:nvPr/>
        </p:nvGrpSpPr>
        <p:grpSpPr>
          <a:xfrm>
            <a:off x="-12700" y="-13335"/>
            <a:ext cx="3762375" cy="874395"/>
            <a:chOff x="-12700" y="-13335"/>
            <a:chExt cx="3762375" cy="874395"/>
          </a:xfrm>
        </p:grpSpPr>
        <p:sp>
          <p:nvSpPr>
            <p:cNvPr id="14" name="矩形 13">
              <a:extLst>
                <a:ext uri="{FF2B5EF4-FFF2-40B4-BE49-F238E27FC236}">
                  <a16:creationId xmlns:a16="http://schemas.microsoft.com/office/drawing/2014/main" id="{2B3AB6A6-B5DB-07A6-CD7A-683EEC265B1B}"/>
                </a:ext>
              </a:extLst>
            </p:cNvPr>
            <p:cNvSpPr/>
            <p:nvPr/>
          </p:nvSpPr>
          <p:spPr>
            <a:xfrm>
              <a:off x="-12700" y="784860"/>
              <a:ext cx="3762375" cy="76200"/>
            </a:xfrm>
            <a:prstGeom prst="rect">
              <a:avLst/>
            </a:prstGeom>
            <a:solidFill>
              <a:schemeClr val="tx2">
                <a:lumMod val="75000"/>
                <a:lumOff val="2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5" name="矩形 14">
              <a:extLst>
                <a:ext uri="{FF2B5EF4-FFF2-40B4-BE49-F238E27FC236}">
                  <a16:creationId xmlns:a16="http://schemas.microsoft.com/office/drawing/2014/main" id="{EC98917A-9355-85A0-A2B2-241F8ABBD601}"/>
                </a:ext>
              </a:extLst>
            </p:cNvPr>
            <p:cNvSpPr/>
            <p:nvPr/>
          </p:nvSpPr>
          <p:spPr>
            <a:xfrm>
              <a:off x="-12700" y="-13335"/>
              <a:ext cx="874395" cy="874395"/>
            </a:xfrm>
            <a:prstGeom prst="rect">
              <a:avLst/>
            </a:prstGeom>
            <a:solidFill>
              <a:schemeClr val="tx2">
                <a:lumMod val="75000"/>
                <a:lumOff val="2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4800">
                  <a:latin typeface="微软雅黑" panose="020B0503020204020204" pitchFamily="34" charset="-122"/>
                  <a:ea typeface="微软雅黑" panose="020B0503020204020204" pitchFamily="34" charset="-122"/>
                </a:rPr>
                <a:t>3</a:t>
              </a:r>
            </a:p>
          </p:txBody>
        </p:sp>
        <p:sp>
          <p:nvSpPr>
            <p:cNvPr id="16" name="文本框 15">
              <a:extLst>
                <a:ext uri="{FF2B5EF4-FFF2-40B4-BE49-F238E27FC236}">
                  <a16:creationId xmlns:a16="http://schemas.microsoft.com/office/drawing/2014/main" id="{3D9EBAF3-8BDA-1D9A-8C1F-CF4B0C5B907F}"/>
                </a:ext>
              </a:extLst>
            </p:cNvPr>
            <p:cNvSpPr txBox="1"/>
            <p:nvPr/>
          </p:nvSpPr>
          <p:spPr>
            <a:xfrm>
              <a:off x="861695" y="0"/>
              <a:ext cx="2887980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4800" b="1">
                  <a:solidFill>
                    <a:schemeClr val="tx2">
                      <a:lumMod val="75000"/>
                      <a:lumOff val="25000"/>
                    </a:schemeClr>
                  </a:solidFill>
                  <a:latin typeface="华文中宋" panose="02010600040101010101" pitchFamily="2" charset="-122"/>
                  <a:ea typeface="华文中宋" panose="02010600040101010101" pitchFamily="2" charset="-122"/>
                </a:rPr>
                <a:t>实验过程</a:t>
              </a:r>
            </a:p>
          </p:txBody>
        </p:sp>
      </p:grpSp>
      <p:grpSp>
        <p:nvGrpSpPr>
          <p:cNvPr id="51" name="组合 50">
            <a:extLst>
              <a:ext uri="{FF2B5EF4-FFF2-40B4-BE49-F238E27FC236}">
                <a16:creationId xmlns:a16="http://schemas.microsoft.com/office/drawing/2014/main" id="{B53BEF69-A66F-7190-3B00-F7F380AC8CE4}"/>
              </a:ext>
            </a:extLst>
          </p:cNvPr>
          <p:cNvGrpSpPr/>
          <p:nvPr/>
        </p:nvGrpSpPr>
        <p:grpSpPr>
          <a:xfrm>
            <a:off x="1237872" y="1298872"/>
            <a:ext cx="2887979" cy="5107715"/>
            <a:chOff x="1237872" y="1298872"/>
            <a:chExt cx="2887979" cy="5107715"/>
          </a:xfrm>
        </p:grpSpPr>
        <p:grpSp>
          <p:nvGrpSpPr>
            <p:cNvPr id="41" name="组合 40">
              <a:extLst>
                <a:ext uri="{FF2B5EF4-FFF2-40B4-BE49-F238E27FC236}">
                  <a16:creationId xmlns:a16="http://schemas.microsoft.com/office/drawing/2014/main" id="{C2A947BA-B9CD-DB7D-CBBC-75E4A4B580EE}"/>
                </a:ext>
              </a:extLst>
            </p:cNvPr>
            <p:cNvGrpSpPr/>
            <p:nvPr/>
          </p:nvGrpSpPr>
          <p:grpSpPr>
            <a:xfrm>
              <a:off x="1237872" y="1298872"/>
              <a:ext cx="2887979" cy="780559"/>
              <a:chOff x="861695" y="1126384"/>
              <a:chExt cx="3214255" cy="780559"/>
            </a:xfrm>
          </p:grpSpPr>
          <p:sp>
            <p:nvSpPr>
              <p:cNvPr id="35" name="矩形: 圆角 34">
                <a:extLst>
                  <a:ext uri="{FF2B5EF4-FFF2-40B4-BE49-F238E27FC236}">
                    <a16:creationId xmlns:a16="http://schemas.microsoft.com/office/drawing/2014/main" id="{CAE2C724-AAB7-91F2-062A-BC3891EA66BC}"/>
                  </a:ext>
                </a:extLst>
              </p:cNvPr>
              <p:cNvSpPr/>
              <p:nvPr/>
            </p:nvSpPr>
            <p:spPr>
              <a:xfrm>
                <a:off x="861695" y="1126384"/>
                <a:ext cx="3214255" cy="780559"/>
              </a:xfrm>
              <a:prstGeom prst="roundRect">
                <a:avLst/>
              </a:prstGeom>
              <a:solidFill>
                <a:srgbClr val="324273"/>
              </a:solidFill>
              <a:ln w="19050">
                <a:solidFill>
                  <a:srgbClr val="324273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" name="文本框 35">
                <a:extLst>
                  <a:ext uri="{FF2B5EF4-FFF2-40B4-BE49-F238E27FC236}">
                    <a16:creationId xmlns:a16="http://schemas.microsoft.com/office/drawing/2014/main" id="{D74841AB-1527-0CAE-316E-907E3544CAE9}"/>
                  </a:ext>
                </a:extLst>
              </p:cNvPr>
              <p:cNvSpPr txBox="1"/>
              <p:nvPr/>
            </p:nvSpPr>
            <p:spPr>
              <a:xfrm>
                <a:off x="1493654" y="1281928"/>
                <a:ext cx="1950335" cy="461665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sz="2400" b="1">
                    <a:solidFill>
                      <a:schemeClr val="bg1"/>
                    </a:solidFill>
                    <a:latin typeface="Consolas" panose="020B0609020204030204" pitchFamily="49" charset="0"/>
                  </a:rPr>
                  <a:t>dp-0</a:t>
                </a:r>
                <a:endParaRPr lang="zh-CN" altLang="en-US" sz="2400" b="1">
                  <a:solidFill>
                    <a:schemeClr val="bg1"/>
                  </a:solidFill>
                  <a:latin typeface="Consolas" panose="020B0609020204030204" pitchFamily="49" charset="0"/>
                </a:endParaRPr>
              </a:p>
            </p:txBody>
          </p:sp>
        </p:grpSp>
        <p:grpSp>
          <p:nvGrpSpPr>
            <p:cNvPr id="46" name="组合 45">
              <a:extLst>
                <a:ext uri="{FF2B5EF4-FFF2-40B4-BE49-F238E27FC236}">
                  <a16:creationId xmlns:a16="http://schemas.microsoft.com/office/drawing/2014/main" id="{1EC58863-6BCA-127B-2989-82FE1F23AD8B}"/>
                </a:ext>
              </a:extLst>
            </p:cNvPr>
            <p:cNvGrpSpPr/>
            <p:nvPr/>
          </p:nvGrpSpPr>
          <p:grpSpPr>
            <a:xfrm>
              <a:off x="1237872" y="2440110"/>
              <a:ext cx="2887978" cy="3966477"/>
              <a:chOff x="861695" y="2260703"/>
              <a:chExt cx="2887978" cy="3966477"/>
            </a:xfrm>
          </p:grpSpPr>
          <p:sp>
            <p:nvSpPr>
              <p:cNvPr id="17" name="矩形: 圆角 16">
                <a:extLst>
                  <a:ext uri="{FF2B5EF4-FFF2-40B4-BE49-F238E27FC236}">
                    <a16:creationId xmlns:a16="http://schemas.microsoft.com/office/drawing/2014/main" id="{9AEB56BF-177E-3ACF-2716-C639571FE2D0}"/>
                  </a:ext>
                </a:extLst>
              </p:cNvPr>
              <p:cNvSpPr/>
              <p:nvPr/>
            </p:nvSpPr>
            <p:spPr>
              <a:xfrm>
                <a:off x="861695" y="2260703"/>
                <a:ext cx="2887978" cy="3966477"/>
              </a:xfrm>
              <a:prstGeom prst="roundRect">
                <a:avLst/>
              </a:prstGeom>
              <a:solidFill>
                <a:srgbClr val="D9D9D9"/>
              </a:solidFill>
              <a:ln w="19050">
                <a:solidFill>
                  <a:srgbClr val="324273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2" name="文本框 41">
                <a:extLst>
                  <a:ext uri="{FF2B5EF4-FFF2-40B4-BE49-F238E27FC236}">
                    <a16:creationId xmlns:a16="http://schemas.microsoft.com/office/drawing/2014/main" id="{341A0107-1A96-387A-C1CE-BE1E98BB8536}"/>
                  </a:ext>
                </a:extLst>
              </p:cNvPr>
              <p:cNvSpPr txBox="1"/>
              <p:nvPr/>
            </p:nvSpPr>
            <p:spPr>
              <a:xfrm>
                <a:off x="1052985" y="2838047"/>
                <a:ext cx="2505395" cy="2811795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>
                <a:defPPr>
                  <a:defRPr lang="zh-CN"/>
                </a:defPPr>
                <a:lvl1pPr algn="ctr">
                  <a:defRPr sz="2800" b="1">
                    <a:solidFill>
                      <a:srgbClr val="324273"/>
                    </a:solidFill>
                    <a:latin typeface="Consolas" panose="020B0609020204030204" pitchFamily="49" charset="0"/>
                    <a:ea typeface="华文中宋" panose="02010600040101010101" pitchFamily="2" charset="-122"/>
                  </a:defRPr>
                </a:lvl1pPr>
              </a:lstStyle>
              <a:p>
                <a:pPr algn="just">
                  <a:lnSpc>
                    <a:spcPct val="150000"/>
                  </a:lnSpc>
                </a:pPr>
                <a:r>
                  <a:rPr lang="zh-CN" altLang="en-US" sz="2000" b="0"/>
                  <a:t>使用递推实现的动态规划算法，需要回溯倒推最优路径。尽管使用了状态压缩，还是只能求解</a:t>
                </a:r>
                <a:r>
                  <a:rPr lang="en-US" altLang="zh-CN" sz="2000" b="0"/>
                  <a:t>n&lt;=17</a:t>
                </a:r>
                <a:r>
                  <a:rPr lang="zh-CN" altLang="en-US" sz="2000" b="0"/>
                  <a:t>规模的问题。</a:t>
                </a:r>
              </a:p>
            </p:txBody>
          </p:sp>
        </p:grpSp>
      </p:grpSp>
      <p:sp>
        <p:nvSpPr>
          <p:cNvPr id="52" name="矩形: 圆角 51">
            <a:extLst>
              <a:ext uri="{FF2B5EF4-FFF2-40B4-BE49-F238E27FC236}">
                <a16:creationId xmlns:a16="http://schemas.microsoft.com/office/drawing/2014/main" id="{E69B2A2B-C9E3-8FD2-9607-7D5C069A52A7}"/>
              </a:ext>
            </a:extLst>
          </p:cNvPr>
          <p:cNvSpPr/>
          <p:nvPr/>
        </p:nvSpPr>
        <p:spPr>
          <a:xfrm>
            <a:off x="4959390" y="1298872"/>
            <a:ext cx="7146086" cy="5107715"/>
          </a:xfrm>
          <a:prstGeom prst="roundRect">
            <a:avLst>
              <a:gd name="adj" fmla="val 8942"/>
            </a:avLst>
          </a:prstGeom>
          <a:solidFill>
            <a:srgbClr val="D9D9D9"/>
          </a:solidFill>
          <a:ln w="19050">
            <a:solidFill>
              <a:srgbClr val="32427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0" name="文本框 59">
            <a:extLst>
              <a:ext uri="{FF2B5EF4-FFF2-40B4-BE49-F238E27FC236}">
                <a16:creationId xmlns:a16="http://schemas.microsoft.com/office/drawing/2014/main" id="{853652C4-61DE-B966-4799-5411DE5300A5}"/>
              </a:ext>
            </a:extLst>
          </p:cNvPr>
          <p:cNvSpPr txBox="1"/>
          <p:nvPr/>
        </p:nvSpPr>
        <p:spPr>
          <a:xfrm>
            <a:off x="5161444" y="1916081"/>
            <a:ext cx="6741973" cy="422423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12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void solve() {</a:t>
            </a:r>
          </a:p>
          <a:p>
            <a:pPr>
              <a:lnSpc>
                <a:spcPct val="150000"/>
              </a:lnSpc>
            </a:pPr>
            <a:r>
              <a:rPr lang="en-US" altLang="zh-CN" sz="12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// initialize dp[i][0]</a:t>
            </a:r>
          </a:p>
          <a:p>
            <a:pPr>
              <a:lnSpc>
                <a:spcPct val="150000"/>
              </a:lnSpc>
            </a:pPr>
            <a:r>
              <a:rPr lang="en-US" altLang="zh-CN" sz="12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for (int i = 0; i &lt; n; ++i) dp[i][0] = grid[i][0];</a:t>
            </a:r>
          </a:p>
          <a:p>
            <a:pPr>
              <a:lnSpc>
                <a:spcPct val="150000"/>
              </a:lnSpc>
            </a:pPr>
            <a:r>
              <a:rPr lang="en-US" altLang="zh-CN" sz="12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// solve dp[i][j], update column first</a:t>
            </a:r>
          </a:p>
          <a:p>
            <a:pPr>
              <a:lnSpc>
                <a:spcPct val="150000"/>
              </a:lnSpc>
            </a:pPr>
            <a:r>
              <a:rPr lang="en-US" altLang="zh-CN" sz="12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for (int j = 1; j &lt; m; ++j) {</a:t>
            </a:r>
          </a:p>
          <a:p>
            <a:pPr>
              <a:lnSpc>
                <a:spcPct val="150000"/>
              </a:lnSpc>
            </a:pPr>
            <a:r>
              <a:rPr lang="en-US" altLang="zh-CN" sz="12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    for (int i = 0; i &lt; n; ++i) {</a:t>
            </a:r>
          </a:p>
          <a:p>
            <a:pPr>
              <a:lnSpc>
                <a:spcPct val="150000"/>
              </a:lnSpc>
            </a:pPr>
            <a:r>
              <a:rPr lang="en-US" altLang="zh-CN" sz="12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        dp[i][j] = INF;</a:t>
            </a:r>
          </a:p>
          <a:p>
            <a:pPr>
              <a:lnSpc>
                <a:spcPct val="150000"/>
              </a:lnSpc>
            </a:pPr>
            <a:r>
              <a:rPr lang="en-US" altLang="zh-CN" sz="12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        if (((j &gt;&gt; (i - 1)) &amp; 1) == 1) continue;</a:t>
            </a:r>
          </a:p>
          <a:p>
            <a:pPr>
              <a:lnSpc>
                <a:spcPct val="150000"/>
              </a:lnSpc>
            </a:pPr>
            <a:r>
              <a:rPr lang="en-US" altLang="zh-CN" sz="12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        for (int k = 1; k &lt; n; ++k) {</a:t>
            </a:r>
          </a:p>
          <a:p>
            <a:pPr>
              <a:lnSpc>
                <a:spcPct val="150000"/>
              </a:lnSpc>
            </a:pPr>
            <a:r>
              <a:rPr lang="en-US" altLang="zh-CN" sz="12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            if (((j &gt;&gt; (k - 1)) &amp; 1) == 0) continue;</a:t>
            </a:r>
          </a:p>
          <a:p>
            <a:pPr>
              <a:lnSpc>
                <a:spcPct val="150000"/>
              </a:lnSpc>
            </a:pPr>
            <a:r>
              <a:rPr lang="en-US" altLang="zh-CN" sz="12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            dp[i][j] = min(dp[i][j], grid[i][k] + dp[k][j ^ (1 &lt;&lt; (k - 1))]);}</a:t>
            </a:r>
          </a:p>
          <a:p>
            <a:pPr>
              <a:lnSpc>
                <a:spcPct val="150000"/>
              </a:lnSpc>
            </a:pPr>
            <a:r>
              <a:rPr lang="en-US" altLang="zh-CN" sz="12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    }</a:t>
            </a:r>
          </a:p>
          <a:p>
            <a:pPr>
              <a:lnSpc>
                <a:spcPct val="150000"/>
              </a:lnSpc>
            </a:pPr>
            <a:r>
              <a:rPr lang="en-US" altLang="zh-CN" sz="12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}</a:t>
            </a:r>
          </a:p>
          <a:p>
            <a:pPr>
              <a:lnSpc>
                <a:spcPct val="150000"/>
              </a:lnSpc>
            </a:pPr>
            <a:r>
              <a:rPr lang="en-US" altLang="zh-CN" sz="12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}</a:t>
            </a:r>
            <a:endParaRPr lang="zh-CN" altLang="en-US" sz="1200">
              <a:latin typeface="Fira Code Medium" pitchFamily="1" charset="0"/>
              <a:ea typeface="楷体" panose="02010609060101010101" pitchFamily="49" charset="-122"/>
              <a:cs typeface="Fira Code Medium" pitchFamily="1" charset="0"/>
            </a:endParaRPr>
          </a:p>
        </p:txBody>
      </p:sp>
      <p:grpSp>
        <p:nvGrpSpPr>
          <p:cNvPr id="43" name="组合 42">
            <a:extLst>
              <a:ext uri="{FF2B5EF4-FFF2-40B4-BE49-F238E27FC236}">
                <a16:creationId xmlns:a16="http://schemas.microsoft.com/office/drawing/2014/main" id="{AF5A7A6D-A305-12C1-B3AC-8CFF85BF3A11}"/>
              </a:ext>
            </a:extLst>
          </p:cNvPr>
          <p:cNvGrpSpPr/>
          <p:nvPr/>
        </p:nvGrpSpPr>
        <p:grpSpPr>
          <a:xfrm>
            <a:off x="7088443" y="908592"/>
            <a:ext cx="2887979" cy="780559"/>
            <a:chOff x="861695" y="1092231"/>
            <a:chExt cx="3214255" cy="841059"/>
          </a:xfrm>
        </p:grpSpPr>
        <p:sp>
          <p:nvSpPr>
            <p:cNvPr id="44" name="矩形: 圆角 43">
              <a:extLst>
                <a:ext uri="{FF2B5EF4-FFF2-40B4-BE49-F238E27FC236}">
                  <a16:creationId xmlns:a16="http://schemas.microsoft.com/office/drawing/2014/main" id="{B215D7A7-8472-481A-446D-1B4308771110}"/>
                </a:ext>
              </a:extLst>
            </p:cNvPr>
            <p:cNvSpPr/>
            <p:nvPr/>
          </p:nvSpPr>
          <p:spPr>
            <a:xfrm>
              <a:off x="861695" y="1126384"/>
              <a:ext cx="3214255" cy="780559"/>
            </a:xfrm>
            <a:prstGeom prst="roundRect">
              <a:avLst/>
            </a:prstGeom>
            <a:solidFill>
              <a:srgbClr val="324273"/>
            </a:solidFill>
            <a:ln w="19050">
              <a:solidFill>
                <a:srgbClr val="32427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5" name="文本框 44">
              <a:extLst>
                <a:ext uri="{FF2B5EF4-FFF2-40B4-BE49-F238E27FC236}">
                  <a16:creationId xmlns:a16="http://schemas.microsoft.com/office/drawing/2014/main" id="{61A6146E-F509-AFE4-3C0F-06E83D87775F}"/>
                </a:ext>
              </a:extLst>
            </p:cNvPr>
            <p:cNvSpPr txBox="1"/>
            <p:nvPr/>
          </p:nvSpPr>
          <p:spPr>
            <a:xfrm>
              <a:off x="1493654" y="1092231"/>
              <a:ext cx="1950335" cy="841059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zh-CN" altLang="en-US" sz="2400">
                  <a:solidFill>
                    <a:schemeClr val="bg1"/>
                  </a:solidFill>
                  <a:latin typeface="华文中宋" panose="02010600040101010101" pitchFamily="2" charset="-122"/>
                  <a:ea typeface="华文中宋" panose="02010600040101010101" pitchFamily="2" charset="-122"/>
                </a:rPr>
                <a:t>核心代码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03034407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8CB676-8A8F-791F-7D7D-34CFAB66B4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组合 12">
            <a:extLst>
              <a:ext uri="{FF2B5EF4-FFF2-40B4-BE49-F238E27FC236}">
                <a16:creationId xmlns:a16="http://schemas.microsoft.com/office/drawing/2014/main" id="{B52930E3-4F0E-A295-E08A-CDC7BDDD9403}"/>
              </a:ext>
            </a:extLst>
          </p:cNvPr>
          <p:cNvGrpSpPr/>
          <p:nvPr/>
        </p:nvGrpSpPr>
        <p:grpSpPr>
          <a:xfrm>
            <a:off x="-12700" y="-13335"/>
            <a:ext cx="3762375" cy="874395"/>
            <a:chOff x="-12700" y="-13335"/>
            <a:chExt cx="3762375" cy="874395"/>
          </a:xfrm>
        </p:grpSpPr>
        <p:sp>
          <p:nvSpPr>
            <p:cNvPr id="14" name="矩形 13">
              <a:extLst>
                <a:ext uri="{FF2B5EF4-FFF2-40B4-BE49-F238E27FC236}">
                  <a16:creationId xmlns:a16="http://schemas.microsoft.com/office/drawing/2014/main" id="{64D2117A-A45E-99FC-7816-956E3C6FCF33}"/>
                </a:ext>
              </a:extLst>
            </p:cNvPr>
            <p:cNvSpPr/>
            <p:nvPr/>
          </p:nvSpPr>
          <p:spPr>
            <a:xfrm>
              <a:off x="-12700" y="784860"/>
              <a:ext cx="3762375" cy="76200"/>
            </a:xfrm>
            <a:prstGeom prst="rect">
              <a:avLst/>
            </a:prstGeom>
            <a:solidFill>
              <a:schemeClr val="tx2">
                <a:lumMod val="75000"/>
                <a:lumOff val="2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5" name="矩形 14">
              <a:extLst>
                <a:ext uri="{FF2B5EF4-FFF2-40B4-BE49-F238E27FC236}">
                  <a16:creationId xmlns:a16="http://schemas.microsoft.com/office/drawing/2014/main" id="{51208EB1-F941-792B-B8F0-9E43655792F2}"/>
                </a:ext>
              </a:extLst>
            </p:cNvPr>
            <p:cNvSpPr/>
            <p:nvPr/>
          </p:nvSpPr>
          <p:spPr>
            <a:xfrm>
              <a:off x="-12700" y="-13335"/>
              <a:ext cx="874395" cy="874395"/>
            </a:xfrm>
            <a:prstGeom prst="rect">
              <a:avLst/>
            </a:prstGeom>
            <a:solidFill>
              <a:schemeClr val="tx2">
                <a:lumMod val="75000"/>
                <a:lumOff val="2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4800">
                  <a:latin typeface="微软雅黑" panose="020B0503020204020204" pitchFamily="34" charset="-122"/>
                  <a:ea typeface="微软雅黑" panose="020B0503020204020204" pitchFamily="34" charset="-122"/>
                </a:rPr>
                <a:t>3</a:t>
              </a:r>
            </a:p>
          </p:txBody>
        </p:sp>
        <p:sp>
          <p:nvSpPr>
            <p:cNvPr id="16" name="文本框 15">
              <a:extLst>
                <a:ext uri="{FF2B5EF4-FFF2-40B4-BE49-F238E27FC236}">
                  <a16:creationId xmlns:a16="http://schemas.microsoft.com/office/drawing/2014/main" id="{67E69A4D-CBB5-DED9-37F0-C19F43A7F5F9}"/>
                </a:ext>
              </a:extLst>
            </p:cNvPr>
            <p:cNvSpPr txBox="1"/>
            <p:nvPr/>
          </p:nvSpPr>
          <p:spPr>
            <a:xfrm>
              <a:off x="861695" y="0"/>
              <a:ext cx="2887980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4800" b="1">
                  <a:solidFill>
                    <a:schemeClr val="tx2">
                      <a:lumMod val="75000"/>
                      <a:lumOff val="25000"/>
                    </a:schemeClr>
                  </a:solidFill>
                  <a:latin typeface="华文中宋" panose="02010600040101010101" pitchFamily="2" charset="-122"/>
                  <a:ea typeface="华文中宋" panose="02010600040101010101" pitchFamily="2" charset="-122"/>
                </a:rPr>
                <a:t>实验过程</a:t>
              </a:r>
            </a:p>
          </p:txBody>
        </p:sp>
      </p:grpSp>
      <p:grpSp>
        <p:nvGrpSpPr>
          <p:cNvPr id="7" name="组合 6">
            <a:extLst>
              <a:ext uri="{FF2B5EF4-FFF2-40B4-BE49-F238E27FC236}">
                <a16:creationId xmlns:a16="http://schemas.microsoft.com/office/drawing/2014/main" id="{3486A6D2-3F82-6891-E342-B9D327400272}"/>
              </a:ext>
            </a:extLst>
          </p:cNvPr>
          <p:cNvGrpSpPr/>
          <p:nvPr/>
        </p:nvGrpSpPr>
        <p:grpSpPr>
          <a:xfrm>
            <a:off x="861695" y="1053366"/>
            <a:ext cx="9605414" cy="4751268"/>
            <a:chOff x="861695" y="1246460"/>
            <a:chExt cx="9605414" cy="4751268"/>
          </a:xfrm>
        </p:grpSpPr>
        <p:sp>
          <p:nvSpPr>
            <p:cNvPr id="5" name="矩形: 圆角 4">
              <a:extLst>
                <a:ext uri="{FF2B5EF4-FFF2-40B4-BE49-F238E27FC236}">
                  <a16:creationId xmlns:a16="http://schemas.microsoft.com/office/drawing/2014/main" id="{E4581C7B-4D69-560D-3F26-7B5319D6A9CF}"/>
                </a:ext>
              </a:extLst>
            </p:cNvPr>
            <p:cNvSpPr/>
            <p:nvPr/>
          </p:nvSpPr>
          <p:spPr>
            <a:xfrm>
              <a:off x="1870365" y="1565229"/>
              <a:ext cx="8596744" cy="4432499"/>
            </a:xfrm>
            <a:prstGeom prst="roundRect">
              <a:avLst/>
            </a:prstGeom>
            <a:noFill/>
            <a:ln w="19050">
              <a:solidFill>
                <a:srgbClr val="32427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pSp>
          <p:nvGrpSpPr>
            <p:cNvPr id="4" name="组合 3">
              <a:extLst>
                <a:ext uri="{FF2B5EF4-FFF2-40B4-BE49-F238E27FC236}">
                  <a16:creationId xmlns:a16="http://schemas.microsoft.com/office/drawing/2014/main" id="{FA9414BC-DD56-5B2F-FCE0-50FE43ACC893}"/>
                </a:ext>
              </a:extLst>
            </p:cNvPr>
            <p:cNvGrpSpPr/>
            <p:nvPr/>
          </p:nvGrpSpPr>
          <p:grpSpPr>
            <a:xfrm>
              <a:off x="861695" y="1246460"/>
              <a:ext cx="8233410" cy="738794"/>
              <a:chOff x="1070610" y="2122170"/>
              <a:chExt cx="8233410" cy="738794"/>
            </a:xfrm>
          </p:grpSpPr>
          <p:sp>
            <p:nvSpPr>
              <p:cNvPr id="2" name="矩形 1">
                <a:extLst>
                  <a:ext uri="{FF2B5EF4-FFF2-40B4-BE49-F238E27FC236}">
                    <a16:creationId xmlns:a16="http://schemas.microsoft.com/office/drawing/2014/main" id="{CBC50B1D-4526-9581-0272-A3051FBD635B}"/>
                  </a:ext>
                </a:extLst>
              </p:cNvPr>
              <p:cNvSpPr/>
              <p:nvPr/>
            </p:nvSpPr>
            <p:spPr>
              <a:xfrm>
                <a:off x="1070610" y="2122170"/>
                <a:ext cx="8233410" cy="637540"/>
              </a:xfrm>
              <a:prstGeom prst="rect">
                <a:avLst/>
              </a:prstGeom>
              <a:solidFill>
                <a:schemeClr val="tx2">
                  <a:lumMod val="75000"/>
                  <a:lumOff val="25000"/>
                </a:schemeClr>
              </a:solidFill>
              <a:ln>
                <a:solidFill>
                  <a:schemeClr val="tx2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2400">
                    <a:latin typeface="华文中宋" panose="02010600040101010101" pitchFamily="2" charset="-122"/>
                    <a:ea typeface="华文中宋" panose="02010600040101010101" pitchFamily="2" charset="-122"/>
                  </a:rPr>
                  <a:t>三、代码编写（</a:t>
                </a:r>
                <a:r>
                  <a:rPr lang="en-US" altLang="zh-CN" sz="2400">
                    <a:latin typeface="华文中宋" panose="02010600040101010101" pitchFamily="2" charset="-122"/>
                    <a:ea typeface="华文中宋" panose="02010600040101010101" pitchFamily="2" charset="-122"/>
                  </a:rPr>
                  <a:t>code</a:t>
                </a:r>
                <a:r>
                  <a:rPr lang="zh-CN" altLang="en-US" sz="2400">
                    <a:latin typeface="华文中宋" panose="02010600040101010101" pitchFamily="2" charset="-122"/>
                    <a:ea typeface="华文中宋" panose="02010600040101010101" pitchFamily="2" charset="-122"/>
                  </a:rPr>
                  <a:t>分支）</a:t>
                </a:r>
              </a:p>
            </p:txBody>
          </p:sp>
          <p:sp>
            <p:nvSpPr>
              <p:cNvPr id="3" name="L 形 2">
                <a:extLst>
                  <a:ext uri="{FF2B5EF4-FFF2-40B4-BE49-F238E27FC236}">
                    <a16:creationId xmlns:a16="http://schemas.microsoft.com/office/drawing/2014/main" id="{14E6C316-27A9-4D7B-E3BC-913FB2612B83}"/>
                  </a:ext>
                </a:extLst>
              </p:cNvPr>
              <p:cNvSpPr/>
              <p:nvPr/>
            </p:nvSpPr>
            <p:spPr>
              <a:xfrm>
                <a:off x="1070610" y="2122170"/>
                <a:ext cx="619645" cy="738794"/>
              </a:xfrm>
              <a:prstGeom prst="corner">
                <a:avLst>
                  <a:gd name="adj1" fmla="val 38914"/>
                  <a:gd name="adj2" fmla="val 48191"/>
                </a:avLst>
              </a:prstGeom>
              <a:solidFill>
                <a:schemeClr val="bg1"/>
              </a:solidFill>
              <a:ln>
                <a:solidFill>
                  <a:srgbClr val="324273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sp>
          <p:nvSpPr>
            <p:cNvPr id="6" name="文本框 5">
              <a:extLst>
                <a:ext uri="{FF2B5EF4-FFF2-40B4-BE49-F238E27FC236}">
                  <a16:creationId xmlns:a16="http://schemas.microsoft.com/office/drawing/2014/main" id="{AB7C3B8F-BDD3-8D46-8231-902690BCEEDC}"/>
                </a:ext>
              </a:extLst>
            </p:cNvPr>
            <p:cNvSpPr txBox="1"/>
            <p:nvPr/>
          </p:nvSpPr>
          <p:spPr>
            <a:xfrm>
              <a:off x="2473582" y="2106369"/>
              <a:ext cx="7501265" cy="327455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indent="457200" algn="just">
                <a:lnSpc>
                  <a:spcPct val="150000"/>
                </a:lnSpc>
              </a:pPr>
              <a:r>
                <a:rPr lang="zh-CN" altLang="en-US" sz="2000">
                  <a:solidFill>
                    <a:srgbClr val="324273"/>
                  </a:solidFill>
                  <a:latin typeface="Consolas" panose="020B0609020204030204" pitchFamily="49" charset="0"/>
                  <a:ea typeface="华文中宋" panose="02010600040101010101" pitchFamily="2" charset="-122"/>
                </a:rPr>
                <a:t>在以上代码编写结束后，我们发现数据集中只有一小部分数据能被利用，规模大于</a:t>
              </a:r>
              <a:r>
                <a:rPr lang="en-US" altLang="zh-CN" sz="2000">
                  <a:solidFill>
                    <a:srgbClr val="324273"/>
                  </a:solidFill>
                  <a:latin typeface="Consolas" panose="020B0609020204030204" pitchFamily="49" charset="0"/>
                  <a:ea typeface="华文中宋" panose="02010600040101010101" pitchFamily="2" charset="-122"/>
                </a:rPr>
                <a:t>20</a:t>
              </a:r>
              <a:r>
                <a:rPr lang="zh-CN" altLang="en-US" sz="2000">
                  <a:solidFill>
                    <a:srgbClr val="324273"/>
                  </a:solidFill>
                  <a:latin typeface="Consolas" panose="020B0609020204030204" pitchFamily="49" charset="0"/>
                  <a:ea typeface="华文中宋" panose="02010600040101010101" pitchFamily="2" charset="-122"/>
                </a:rPr>
                <a:t>的数据并不适用于以上算法。因此，我们决定不局限于仅仅求精确解，而是加入求近似解的算法以最大利用数据集。</a:t>
              </a:r>
              <a:endParaRPr lang="en-US" altLang="zh-CN" sz="2000">
                <a:solidFill>
                  <a:srgbClr val="324273"/>
                </a:solidFill>
                <a:latin typeface="Consolas" panose="020B0609020204030204" pitchFamily="49" charset="0"/>
                <a:ea typeface="华文中宋" panose="02010600040101010101" pitchFamily="2" charset="-122"/>
              </a:endParaRPr>
            </a:p>
            <a:p>
              <a:pPr indent="457200" algn="just">
                <a:lnSpc>
                  <a:spcPct val="150000"/>
                </a:lnSpc>
              </a:pPr>
              <a:r>
                <a:rPr lang="zh-CN" altLang="en-US" sz="2000">
                  <a:solidFill>
                    <a:srgbClr val="324273"/>
                  </a:solidFill>
                  <a:latin typeface="Consolas" panose="020B0609020204030204" pitchFamily="49" charset="0"/>
                  <a:ea typeface="华文中宋" panose="02010600040101010101" pitchFamily="2" charset="-122"/>
                </a:rPr>
                <a:t>在查阅资料后，我们发现由于数据满足三角不等式，所以可以使用最小生成树来进行启发式搜索，而基础的贪心算法也同样适用。</a:t>
              </a:r>
            </a:p>
          </p:txBody>
        </p:sp>
      </p:grpSp>
      <p:grpSp>
        <p:nvGrpSpPr>
          <p:cNvPr id="37" name="组合 36">
            <a:extLst>
              <a:ext uri="{FF2B5EF4-FFF2-40B4-BE49-F238E27FC236}">
                <a16:creationId xmlns:a16="http://schemas.microsoft.com/office/drawing/2014/main" id="{E94E40E5-46E6-C824-57FC-7D1E09316E98}"/>
              </a:ext>
            </a:extLst>
          </p:cNvPr>
          <p:cNvGrpSpPr/>
          <p:nvPr/>
        </p:nvGrpSpPr>
        <p:grpSpPr>
          <a:xfrm>
            <a:off x="2997580" y="5206007"/>
            <a:ext cx="2659312" cy="1449805"/>
            <a:chOff x="3648743" y="5157763"/>
            <a:chExt cx="2659312" cy="1449805"/>
          </a:xfrm>
        </p:grpSpPr>
        <p:sp>
          <p:nvSpPr>
            <p:cNvPr id="35" name="矩形: 圆角 34">
              <a:extLst>
                <a:ext uri="{FF2B5EF4-FFF2-40B4-BE49-F238E27FC236}">
                  <a16:creationId xmlns:a16="http://schemas.microsoft.com/office/drawing/2014/main" id="{8AD2C958-5683-303C-BCFA-B077797FB6F0}"/>
                </a:ext>
              </a:extLst>
            </p:cNvPr>
            <p:cNvSpPr/>
            <p:nvPr/>
          </p:nvSpPr>
          <p:spPr>
            <a:xfrm>
              <a:off x="3732584" y="5157763"/>
              <a:ext cx="2491631" cy="1449805"/>
            </a:xfrm>
            <a:prstGeom prst="roundRect">
              <a:avLst/>
            </a:prstGeom>
            <a:solidFill>
              <a:srgbClr val="D9D9D9"/>
            </a:solidFill>
            <a:ln w="19050">
              <a:solidFill>
                <a:srgbClr val="32427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150000"/>
                </a:lnSpc>
              </a:pPr>
              <a:endParaRPr lang="zh-CN" altLang="en-US" sz="2400">
                <a:solidFill>
                  <a:srgbClr val="324273"/>
                </a:solidFill>
                <a:latin typeface="Consolas" panose="020B0609020204030204" pitchFamily="49" charset="0"/>
                <a:ea typeface="华文中宋" panose="02010600040101010101" pitchFamily="2" charset="-122"/>
              </a:endParaRPr>
            </a:p>
          </p:txBody>
        </p:sp>
        <p:sp>
          <p:nvSpPr>
            <p:cNvPr id="36" name="文本框 35">
              <a:extLst>
                <a:ext uri="{FF2B5EF4-FFF2-40B4-BE49-F238E27FC236}">
                  <a16:creationId xmlns:a16="http://schemas.microsoft.com/office/drawing/2014/main" id="{AE63A752-4B1A-0DD2-7726-12E532BE24FC}"/>
                </a:ext>
              </a:extLst>
            </p:cNvPr>
            <p:cNvSpPr txBox="1"/>
            <p:nvPr/>
          </p:nvSpPr>
          <p:spPr>
            <a:xfrm>
              <a:off x="3648743" y="5234766"/>
              <a:ext cx="2659312" cy="1139736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US" altLang="zh-CN" sz="2400">
                  <a:solidFill>
                    <a:srgbClr val="324273"/>
                  </a:solidFill>
                  <a:latin typeface="Consolas" panose="020B0609020204030204" pitchFamily="49" charset="0"/>
                  <a:ea typeface="华文中宋" panose="02010600040101010101" pitchFamily="2" charset="-122"/>
                </a:rPr>
                <a:t>MST</a:t>
              </a:r>
            </a:p>
            <a:p>
              <a:pPr algn="ctr">
                <a:lnSpc>
                  <a:spcPct val="150000"/>
                </a:lnSpc>
              </a:pPr>
              <a:r>
                <a:rPr lang="zh-CN" altLang="en-US" sz="2400">
                  <a:solidFill>
                    <a:srgbClr val="324273"/>
                  </a:solidFill>
                  <a:latin typeface="Consolas" panose="020B0609020204030204" pitchFamily="49" charset="0"/>
                  <a:ea typeface="华文中宋" panose="02010600040101010101" pitchFamily="2" charset="-122"/>
                </a:rPr>
                <a:t>（最小生成树）</a:t>
              </a:r>
            </a:p>
          </p:txBody>
        </p:sp>
      </p:grpSp>
      <p:grpSp>
        <p:nvGrpSpPr>
          <p:cNvPr id="39" name="组合 38">
            <a:extLst>
              <a:ext uri="{FF2B5EF4-FFF2-40B4-BE49-F238E27FC236}">
                <a16:creationId xmlns:a16="http://schemas.microsoft.com/office/drawing/2014/main" id="{9E7CB07A-9EF1-3E3A-1519-58FB6F27DCC8}"/>
              </a:ext>
            </a:extLst>
          </p:cNvPr>
          <p:cNvGrpSpPr/>
          <p:nvPr/>
        </p:nvGrpSpPr>
        <p:grpSpPr>
          <a:xfrm>
            <a:off x="6690424" y="5206007"/>
            <a:ext cx="2659312" cy="1449805"/>
            <a:chOff x="3648743" y="5157763"/>
            <a:chExt cx="2659312" cy="1449805"/>
          </a:xfrm>
        </p:grpSpPr>
        <p:sp>
          <p:nvSpPr>
            <p:cNvPr id="40" name="矩形: 圆角 39">
              <a:extLst>
                <a:ext uri="{FF2B5EF4-FFF2-40B4-BE49-F238E27FC236}">
                  <a16:creationId xmlns:a16="http://schemas.microsoft.com/office/drawing/2014/main" id="{34FDB020-E11D-515A-E7D0-EF9D435AD77C}"/>
                </a:ext>
              </a:extLst>
            </p:cNvPr>
            <p:cNvSpPr/>
            <p:nvPr/>
          </p:nvSpPr>
          <p:spPr>
            <a:xfrm>
              <a:off x="3732584" y="5157763"/>
              <a:ext cx="2491631" cy="1449805"/>
            </a:xfrm>
            <a:prstGeom prst="roundRect">
              <a:avLst/>
            </a:prstGeom>
            <a:solidFill>
              <a:srgbClr val="D9D9D9"/>
            </a:solidFill>
            <a:ln w="19050">
              <a:solidFill>
                <a:srgbClr val="32427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150000"/>
                </a:lnSpc>
              </a:pPr>
              <a:endParaRPr lang="zh-CN" altLang="en-US" sz="2400">
                <a:solidFill>
                  <a:srgbClr val="324273"/>
                </a:solidFill>
                <a:latin typeface="Consolas" panose="020B0609020204030204" pitchFamily="49" charset="0"/>
                <a:ea typeface="华文中宋" panose="02010600040101010101" pitchFamily="2" charset="-122"/>
              </a:endParaRPr>
            </a:p>
          </p:txBody>
        </p:sp>
        <p:sp>
          <p:nvSpPr>
            <p:cNvPr id="41" name="文本框 40">
              <a:extLst>
                <a:ext uri="{FF2B5EF4-FFF2-40B4-BE49-F238E27FC236}">
                  <a16:creationId xmlns:a16="http://schemas.microsoft.com/office/drawing/2014/main" id="{9A184B4D-D766-BF91-313A-F1B1791E9A46}"/>
                </a:ext>
              </a:extLst>
            </p:cNvPr>
            <p:cNvSpPr txBox="1"/>
            <p:nvPr/>
          </p:nvSpPr>
          <p:spPr>
            <a:xfrm>
              <a:off x="3648743" y="5234766"/>
              <a:ext cx="2659312" cy="1139736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US" altLang="zh-CN" sz="2400">
                  <a:solidFill>
                    <a:srgbClr val="324273"/>
                  </a:solidFill>
                  <a:latin typeface="Consolas" panose="020B0609020204030204" pitchFamily="49" charset="0"/>
                  <a:ea typeface="华文中宋" panose="02010600040101010101" pitchFamily="2" charset="-122"/>
                </a:rPr>
                <a:t>greedy</a:t>
              </a:r>
            </a:p>
            <a:p>
              <a:pPr algn="ctr">
                <a:lnSpc>
                  <a:spcPct val="150000"/>
                </a:lnSpc>
              </a:pPr>
              <a:r>
                <a:rPr lang="zh-CN" altLang="en-US" sz="2400">
                  <a:solidFill>
                    <a:srgbClr val="324273"/>
                  </a:solidFill>
                  <a:latin typeface="Consolas" panose="020B0609020204030204" pitchFamily="49" charset="0"/>
                  <a:ea typeface="华文中宋" panose="02010600040101010101" pitchFamily="2" charset="-122"/>
                </a:rPr>
                <a:t>（基础贪心）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66207441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3AA1B7-E413-4F27-505F-0464E99FAC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组合 12">
            <a:extLst>
              <a:ext uri="{FF2B5EF4-FFF2-40B4-BE49-F238E27FC236}">
                <a16:creationId xmlns:a16="http://schemas.microsoft.com/office/drawing/2014/main" id="{47C63C57-E5D5-AE4A-162C-52C10967D891}"/>
              </a:ext>
            </a:extLst>
          </p:cNvPr>
          <p:cNvGrpSpPr/>
          <p:nvPr/>
        </p:nvGrpSpPr>
        <p:grpSpPr>
          <a:xfrm>
            <a:off x="-12700" y="-13335"/>
            <a:ext cx="3762375" cy="874395"/>
            <a:chOff x="-12700" y="-13335"/>
            <a:chExt cx="3762375" cy="874395"/>
          </a:xfrm>
        </p:grpSpPr>
        <p:sp>
          <p:nvSpPr>
            <p:cNvPr id="14" name="矩形 13">
              <a:extLst>
                <a:ext uri="{FF2B5EF4-FFF2-40B4-BE49-F238E27FC236}">
                  <a16:creationId xmlns:a16="http://schemas.microsoft.com/office/drawing/2014/main" id="{083F14E2-9A3E-1044-06B2-AE6CAB3DF1CF}"/>
                </a:ext>
              </a:extLst>
            </p:cNvPr>
            <p:cNvSpPr/>
            <p:nvPr/>
          </p:nvSpPr>
          <p:spPr>
            <a:xfrm>
              <a:off x="-12700" y="784860"/>
              <a:ext cx="3762375" cy="76200"/>
            </a:xfrm>
            <a:prstGeom prst="rect">
              <a:avLst/>
            </a:prstGeom>
            <a:solidFill>
              <a:schemeClr val="tx2">
                <a:lumMod val="75000"/>
                <a:lumOff val="2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5" name="矩形 14">
              <a:extLst>
                <a:ext uri="{FF2B5EF4-FFF2-40B4-BE49-F238E27FC236}">
                  <a16:creationId xmlns:a16="http://schemas.microsoft.com/office/drawing/2014/main" id="{2D7FA945-EA82-C5A0-FD8E-FB78B875B5C2}"/>
                </a:ext>
              </a:extLst>
            </p:cNvPr>
            <p:cNvSpPr/>
            <p:nvPr/>
          </p:nvSpPr>
          <p:spPr>
            <a:xfrm>
              <a:off x="-12700" y="-13335"/>
              <a:ext cx="874395" cy="874395"/>
            </a:xfrm>
            <a:prstGeom prst="rect">
              <a:avLst/>
            </a:prstGeom>
            <a:solidFill>
              <a:schemeClr val="tx2">
                <a:lumMod val="75000"/>
                <a:lumOff val="2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4800">
                  <a:latin typeface="微软雅黑" panose="020B0503020204020204" pitchFamily="34" charset="-122"/>
                  <a:ea typeface="微软雅黑" panose="020B0503020204020204" pitchFamily="34" charset="-122"/>
                </a:rPr>
                <a:t>3</a:t>
              </a:r>
            </a:p>
          </p:txBody>
        </p:sp>
        <p:sp>
          <p:nvSpPr>
            <p:cNvPr id="16" name="文本框 15">
              <a:extLst>
                <a:ext uri="{FF2B5EF4-FFF2-40B4-BE49-F238E27FC236}">
                  <a16:creationId xmlns:a16="http://schemas.microsoft.com/office/drawing/2014/main" id="{2339087E-E8A3-B254-A49D-B92EEF87EEAA}"/>
                </a:ext>
              </a:extLst>
            </p:cNvPr>
            <p:cNvSpPr txBox="1"/>
            <p:nvPr/>
          </p:nvSpPr>
          <p:spPr>
            <a:xfrm>
              <a:off x="861695" y="0"/>
              <a:ext cx="2887980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4800" b="1">
                  <a:solidFill>
                    <a:schemeClr val="tx2">
                      <a:lumMod val="75000"/>
                      <a:lumOff val="25000"/>
                    </a:schemeClr>
                  </a:solidFill>
                  <a:latin typeface="华文中宋" panose="02010600040101010101" pitchFamily="2" charset="-122"/>
                  <a:ea typeface="华文中宋" panose="02010600040101010101" pitchFamily="2" charset="-122"/>
                </a:rPr>
                <a:t>实验过程</a:t>
              </a:r>
            </a:p>
          </p:txBody>
        </p:sp>
      </p:grpSp>
      <p:grpSp>
        <p:nvGrpSpPr>
          <p:cNvPr id="51" name="组合 50">
            <a:extLst>
              <a:ext uri="{FF2B5EF4-FFF2-40B4-BE49-F238E27FC236}">
                <a16:creationId xmlns:a16="http://schemas.microsoft.com/office/drawing/2014/main" id="{3AD60F8B-A6A7-1E62-B723-DBF4A38561BA}"/>
              </a:ext>
            </a:extLst>
          </p:cNvPr>
          <p:cNvGrpSpPr/>
          <p:nvPr/>
        </p:nvGrpSpPr>
        <p:grpSpPr>
          <a:xfrm>
            <a:off x="1237872" y="1298872"/>
            <a:ext cx="2887979" cy="5107715"/>
            <a:chOff x="1237872" y="1298872"/>
            <a:chExt cx="2887979" cy="5107715"/>
          </a:xfrm>
        </p:grpSpPr>
        <p:grpSp>
          <p:nvGrpSpPr>
            <p:cNvPr id="41" name="组合 40">
              <a:extLst>
                <a:ext uri="{FF2B5EF4-FFF2-40B4-BE49-F238E27FC236}">
                  <a16:creationId xmlns:a16="http://schemas.microsoft.com/office/drawing/2014/main" id="{32BEADE0-2199-1B11-E8AC-98B96BB551B5}"/>
                </a:ext>
              </a:extLst>
            </p:cNvPr>
            <p:cNvGrpSpPr/>
            <p:nvPr/>
          </p:nvGrpSpPr>
          <p:grpSpPr>
            <a:xfrm>
              <a:off x="1237872" y="1298872"/>
              <a:ext cx="2887979" cy="780559"/>
              <a:chOff x="861695" y="1126384"/>
              <a:chExt cx="3214255" cy="780559"/>
            </a:xfrm>
          </p:grpSpPr>
          <p:sp>
            <p:nvSpPr>
              <p:cNvPr id="35" name="矩形: 圆角 34">
                <a:extLst>
                  <a:ext uri="{FF2B5EF4-FFF2-40B4-BE49-F238E27FC236}">
                    <a16:creationId xmlns:a16="http://schemas.microsoft.com/office/drawing/2014/main" id="{0AF46759-4D46-5508-54C0-EC9ECBF0901A}"/>
                  </a:ext>
                </a:extLst>
              </p:cNvPr>
              <p:cNvSpPr/>
              <p:nvPr/>
            </p:nvSpPr>
            <p:spPr>
              <a:xfrm>
                <a:off x="861695" y="1126384"/>
                <a:ext cx="3214255" cy="780559"/>
              </a:xfrm>
              <a:prstGeom prst="roundRect">
                <a:avLst/>
              </a:prstGeom>
              <a:solidFill>
                <a:srgbClr val="324273"/>
              </a:solidFill>
              <a:ln w="19050">
                <a:solidFill>
                  <a:srgbClr val="324273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" name="文本框 35">
                <a:extLst>
                  <a:ext uri="{FF2B5EF4-FFF2-40B4-BE49-F238E27FC236}">
                    <a16:creationId xmlns:a16="http://schemas.microsoft.com/office/drawing/2014/main" id="{D0569012-926D-39F5-CA14-5CFED78DF792}"/>
                  </a:ext>
                </a:extLst>
              </p:cNvPr>
              <p:cNvSpPr txBox="1"/>
              <p:nvPr/>
            </p:nvSpPr>
            <p:spPr>
              <a:xfrm>
                <a:off x="1493654" y="1281928"/>
                <a:ext cx="1950335" cy="461665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sz="2400" b="1">
                    <a:solidFill>
                      <a:schemeClr val="bg1"/>
                    </a:solidFill>
                    <a:latin typeface="Consolas" panose="020B0609020204030204" pitchFamily="49" charset="0"/>
                  </a:rPr>
                  <a:t>MST</a:t>
                </a:r>
                <a:endParaRPr lang="zh-CN" altLang="en-US" sz="2400" b="1">
                  <a:solidFill>
                    <a:schemeClr val="bg1"/>
                  </a:solidFill>
                  <a:latin typeface="Consolas" panose="020B0609020204030204" pitchFamily="49" charset="0"/>
                </a:endParaRPr>
              </a:p>
            </p:txBody>
          </p:sp>
        </p:grpSp>
        <p:grpSp>
          <p:nvGrpSpPr>
            <p:cNvPr id="46" name="组合 45">
              <a:extLst>
                <a:ext uri="{FF2B5EF4-FFF2-40B4-BE49-F238E27FC236}">
                  <a16:creationId xmlns:a16="http://schemas.microsoft.com/office/drawing/2014/main" id="{5022A916-E8E3-F683-A2F6-206B4BB82DA6}"/>
                </a:ext>
              </a:extLst>
            </p:cNvPr>
            <p:cNvGrpSpPr/>
            <p:nvPr/>
          </p:nvGrpSpPr>
          <p:grpSpPr>
            <a:xfrm>
              <a:off x="1237872" y="2440110"/>
              <a:ext cx="2887978" cy="3966477"/>
              <a:chOff x="861695" y="2260703"/>
              <a:chExt cx="2887978" cy="3966477"/>
            </a:xfrm>
          </p:grpSpPr>
          <p:sp>
            <p:nvSpPr>
              <p:cNvPr id="17" name="矩形: 圆角 16">
                <a:extLst>
                  <a:ext uri="{FF2B5EF4-FFF2-40B4-BE49-F238E27FC236}">
                    <a16:creationId xmlns:a16="http://schemas.microsoft.com/office/drawing/2014/main" id="{04A1C5A2-A5D6-A527-60B7-6ACF1AD79B89}"/>
                  </a:ext>
                </a:extLst>
              </p:cNvPr>
              <p:cNvSpPr/>
              <p:nvPr/>
            </p:nvSpPr>
            <p:spPr>
              <a:xfrm>
                <a:off x="861695" y="2260703"/>
                <a:ext cx="2887978" cy="3966477"/>
              </a:xfrm>
              <a:prstGeom prst="roundRect">
                <a:avLst/>
              </a:prstGeom>
              <a:solidFill>
                <a:srgbClr val="D9D9D9"/>
              </a:solidFill>
              <a:ln w="19050">
                <a:solidFill>
                  <a:srgbClr val="324273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2" name="文本框 41">
                <a:extLst>
                  <a:ext uri="{FF2B5EF4-FFF2-40B4-BE49-F238E27FC236}">
                    <a16:creationId xmlns:a16="http://schemas.microsoft.com/office/drawing/2014/main" id="{249033C2-388A-FF66-6ACB-9D2B7706131D}"/>
                  </a:ext>
                </a:extLst>
              </p:cNvPr>
              <p:cNvSpPr txBox="1"/>
              <p:nvPr/>
            </p:nvSpPr>
            <p:spPr>
              <a:xfrm>
                <a:off x="1052985" y="2838050"/>
                <a:ext cx="2505395" cy="2811795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>
                <a:defPPr>
                  <a:defRPr lang="zh-CN"/>
                </a:defPPr>
                <a:lvl1pPr algn="ctr">
                  <a:defRPr sz="2800" b="1">
                    <a:solidFill>
                      <a:srgbClr val="324273"/>
                    </a:solidFill>
                    <a:latin typeface="Consolas" panose="020B0609020204030204" pitchFamily="49" charset="0"/>
                    <a:ea typeface="华文中宋" panose="02010600040101010101" pitchFamily="2" charset="-122"/>
                  </a:defRPr>
                </a:lvl1pPr>
              </a:lstStyle>
              <a:p>
                <a:pPr algn="just">
                  <a:lnSpc>
                    <a:spcPct val="150000"/>
                  </a:lnSpc>
                </a:pPr>
                <a:r>
                  <a:rPr lang="zh-CN" altLang="en-US" sz="2000" b="0"/>
                  <a:t>先求出图的最小生成树，然后前序遍历生成路径，并求出当前花费。由于最小生成树与起点选取有关，因此需遍历所有起点。</a:t>
                </a:r>
              </a:p>
            </p:txBody>
          </p:sp>
        </p:grpSp>
      </p:grpSp>
      <p:sp>
        <p:nvSpPr>
          <p:cNvPr id="52" name="矩形: 圆角 51">
            <a:extLst>
              <a:ext uri="{FF2B5EF4-FFF2-40B4-BE49-F238E27FC236}">
                <a16:creationId xmlns:a16="http://schemas.microsoft.com/office/drawing/2014/main" id="{DCBF5B1C-BC07-A3F9-F251-34364D9D00B7}"/>
              </a:ext>
            </a:extLst>
          </p:cNvPr>
          <p:cNvSpPr/>
          <p:nvPr/>
        </p:nvSpPr>
        <p:spPr>
          <a:xfrm>
            <a:off x="4959390" y="784860"/>
            <a:ext cx="7146086" cy="5934777"/>
          </a:xfrm>
          <a:prstGeom prst="roundRect">
            <a:avLst>
              <a:gd name="adj" fmla="val 8942"/>
            </a:avLst>
          </a:prstGeom>
          <a:solidFill>
            <a:srgbClr val="D9D9D9"/>
          </a:solidFill>
          <a:ln w="19050">
            <a:solidFill>
              <a:srgbClr val="32427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0" name="文本框 59">
            <a:extLst>
              <a:ext uri="{FF2B5EF4-FFF2-40B4-BE49-F238E27FC236}">
                <a16:creationId xmlns:a16="http://schemas.microsoft.com/office/drawing/2014/main" id="{3BD3A651-7CDF-D629-8B58-87F847E551B8}"/>
              </a:ext>
            </a:extLst>
          </p:cNvPr>
          <p:cNvSpPr txBox="1"/>
          <p:nvPr/>
        </p:nvSpPr>
        <p:spPr>
          <a:xfrm>
            <a:off x="5786167" y="1225750"/>
            <a:ext cx="5492522" cy="54034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11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void solve(int st) {</a:t>
            </a:r>
          </a:p>
          <a:p>
            <a:pPr>
              <a:lnSpc>
                <a:spcPct val="150000"/>
              </a:lnSpc>
            </a:pPr>
            <a:r>
              <a:rPr lang="en-US" altLang="zh-CN" sz="11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while (cnt &lt; n) {</a:t>
            </a:r>
          </a:p>
          <a:p>
            <a:pPr>
              <a:lnSpc>
                <a:spcPct val="150000"/>
              </a:lnSpc>
            </a:pPr>
            <a:r>
              <a:rPr lang="en-US" altLang="zh-CN" sz="11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    int src = 0, dst = 0, minx = INF;</a:t>
            </a:r>
          </a:p>
          <a:p>
            <a:pPr>
              <a:lnSpc>
                <a:spcPct val="150000"/>
              </a:lnSpc>
            </a:pPr>
            <a:r>
              <a:rPr lang="en-US" altLang="zh-CN" sz="11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    for (int i = 1; i &lt;= n; ++i) {</a:t>
            </a:r>
          </a:p>
          <a:p>
            <a:pPr>
              <a:lnSpc>
                <a:spcPct val="150000"/>
              </a:lnSpc>
            </a:pPr>
            <a:r>
              <a:rPr lang="en-US" altLang="zh-CN" sz="11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        if (!vis[i]) continue;</a:t>
            </a:r>
          </a:p>
          <a:p>
            <a:pPr>
              <a:lnSpc>
                <a:spcPct val="150000"/>
              </a:lnSpc>
            </a:pPr>
            <a:r>
              <a:rPr lang="en-US" altLang="zh-CN" sz="11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        for (int k = 1; k &lt;= n; ++k) {</a:t>
            </a:r>
          </a:p>
          <a:p>
            <a:pPr>
              <a:lnSpc>
                <a:spcPct val="150000"/>
              </a:lnSpc>
            </a:pPr>
            <a:r>
              <a:rPr lang="en-US" altLang="zh-CN" sz="11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            if (!vis[k] &amp;&amp; grid[i][k] &lt; minx) {</a:t>
            </a:r>
          </a:p>
          <a:p>
            <a:pPr>
              <a:lnSpc>
                <a:spcPct val="150000"/>
              </a:lnSpc>
            </a:pPr>
            <a:r>
              <a:rPr lang="en-US" altLang="zh-CN" sz="11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                src = i;</a:t>
            </a:r>
          </a:p>
          <a:p>
            <a:pPr>
              <a:lnSpc>
                <a:spcPct val="150000"/>
              </a:lnSpc>
            </a:pPr>
            <a:r>
              <a:rPr lang="en-US" altLang="zh-CN" sz="11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                dst = k;</a:t>
            </a:r>
          </a:p>
          <a:p>
            <a:pPr>
              <a:lnSpc>
                <a:spcPct val="150000"/>
              </a:lnSpc>
            </a:pPr>
            <a:r>
              <a:rPr lang="en-US" altLang="zh-CN" sz="11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                minx = grid[i][k]; }</a:t>
            </a:r>
          </a:p>
          <a:p>
            <a:pPr>
              <a:lnSpc>
                <a:spcPct val="150000"/>
              </a:lnSpc>
            </a:pPr>
            <a:r>
              <a:rPr lang="en-US" altLang="zh-CN" sz="11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        }</a:t>
            </a:r>
          </a:p>
          <a:p>
            <a:pPr>
              <a:lnSpc>
                <a:spcPct val="150000"/>
              </a:lnSpc>
            </a:pPr>
            <a:r>
              <a:rPr lang="en-US" altLang="zh-CN" sz="11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    }</a:t>
            </a:r>
          </a:p>
          <a:p>
            <a:pPr>
              <a:lnSpc>
                <a:spcPct val="150000"/>
              </a:lnSpc>
            </a:pPr>
            <a:r>
              <a:rPr lang="en-US" altLang="zh-CN" sz="11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    vis[dst] = 1;</a:t>
            </a:r>
          </a:p>
          <a:p>
            <a:pPr>
              <a:lnSpc>
                <a:spcPct val="150000"/>
              </a:lnSpc>
            </a:pPr>
            <a:r>
              <a:rPr lang="en-US" altLang="zh-CN" sz="11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    mst[src].push_back(dst);</a:t>
            </a:r>
          </a:p>
          <a:p>
            <a:pPr>
              <a:lnSpc>
                <a:spcPct val="150000"/>
              </a:lnSpc>
            </a:pPr>
            <a:r>
              <a:rPr lang="en-US" altLang="zh-CN" sz="11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    cnt++; }</a:t>
            </a:r>
          </a:p>
          <a:p>
            <a:pPr>
              <a:lnSpc>
                <a:spcPct val="150000"/>
              </a:lnSpc>
            </a:pPr>
            <a:r>
              <a:rPr lang="en-US" altLang="zh-CN" sz="11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}</a:t>
            </a:r>
          </a:p>
          <a:p>
            <a:pPr>
              <a:lnSpc>
                <a:spcPct val="150000"/>
              </a:lnSpc>
            </a:pPr>
            <a:endParaRPr lang="en-US" altLang="zh-CN" sz="1100">
              <a:latin typeface="Fira Code Medium" pitchFamily="1" charset="0"/>
              <a:ea typeface="楷体" panose="02010609060101010101" pitchFamily="49" charset="-122"/>
              <a:cs typeface="Fira Code Medium" pitchFamily="1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void getPath(int node, vector&lt;int&gt; &amp;ret, vector&lt;int&gt; mst[]) {</a:t>
            </a: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ret.push_back(node);</a:t>
            </a: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for (int &amp;nxt: mst[node]) getPath(nxt, ret, mst);</a:t>
            </a: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}</a:t>
            </a:r>
            <a:endParaRPr kumimoji="0" lang="zh-CN" altLang="en-US" sz="11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Fira Code Medium" pitchFamily="1" charset="0"/>
              <a:ea typeface="楷体" panose="02010609060101010101" pitchFamily="49" charset="-122"/>
              <a:cs typeface="Fira Code Medium" pitchFamily="1" charset="0"/>
            </a:endParaRPr>
          </a:p>
        </p:txBody>
      </p:sp>
      <p:grpSp>
        <p:nvGrpSpPr>
          <p:cNvPr id="43" name="组合 42">
            <a:extLst>
              <a:ext uri="{FF2B5EF4-FFF2-40B4-BE49-F238E27FC236}">
                <a16:creationId xmlns:a16="http://schemas.microsoft.com/office/drawing/2014/main" id="{EAA87C05-D76C-2EE5-E14E-B0F7E5C06A90}"/>
              </a:ext>
            </a:extLst>
          </p:cNvPr>
          <p:cNvGrpSpPr/>
          <p:nvPr/>
        </p:nvGrpSpPr>
        <p:grpSpPr>
          <a:xfrm>
            <a:off x="7088440" y="354706"/>
            <a:ext cx="2887979" cy="780559"/>
            <a:chOff x="861695" y="1092231"/>
            <a:chExt cx="3214255" cy="841059"/>
          </a:xfrm>
        </p:grpSpPr>
        <p:sp>
          <p:nvSpPr>
            <p:cNvPr id="44" name="矩形: 圆角 43">
              <a:extLst>
                <a:ext uri="{FF2B5EF4-FFF2-40B4-BE49-F238E27FC236}">
                  <a16:creationId xmlns:a16="http://schemas.microsoft.com/office/drawing/2014/main" id="{9EB658B4-DBE0-085F-6C3E-31B1E5936F35}"/>
                </a:ext>
              </a:extLst>
            </p:cNvPr>
            <p:cNvSpPr/>
            <p:nvPr/>
          </p:nvSpPr>
          <p:spPr>
            <a:xfrm>
              <a:off x="861695" y="1126384"/>
              <a:ext cx="3214255" cy="780559"/>
            </a:xfrm>
            <a:prstGeom prst="roundRect">
              <a:avLst/>
            </a:prstGeom>
            <a:solidFill>
              <a:srgbClr val="324273"/>
            </a:solidFill>
            <a:ln w="19050">
              <a:solidFill>
                <a:srgbClr val="32427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5" name="文本框 44">
              <a:extLst>
                <a:ext uri="{FF2B5EF4-FFF2-40B4-BE49-F238E27FC236}">
                  <a16:creationId xmlns:a16="http://schemas.microsoft.com/office/drawing/2014/main" id="{0E4F7566-AE16-A6D3-C528-CF228D7BCB2C}"/>
                </a:ext>
              </a:extLst>
            </p:cNvPr>
            <p:cNvSpPr txBox="1"/>
            <p:nvPr/>
          </p:nvSpPr>
          <p:spPr>
            <a:xfrm>
              <a:off x="1493654" y="1092231"/>
              <a:ext cx="1950335" cy="841059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zh-CN" altLang="en-US" sz="2400">
                  <a:solidFill>
                    <a:schemeClr val="bg1"/>
                  </a:solidFill>
                  <a:latin typeface="华文中宋" panose="02010600040101010101" pitchFamily="2" charset="-122"/>
                  <a:ea typeface="华文中宋" panose="02010600040101010101" pitchFamily="2" charset="-122"/>
                </a:rPr>
                <a:t>核心代码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614476896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576937-E6DA-CB3E-645E-32FDBA83DA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组合 12">
            <a:extLst>
              <a:ext uri="{FF2B5EF4-FFF2-40B4-BE49-F238E27FC236}">
                <a16:creationId xmlns:a16="http://schemas.microsoft.com/office/drawing/2014/main" id="{4226FC5A-148D-4B31-823F-322A942CF6D1}"/>
              </a:ext>
            </a:extLst>
          </p:cNvPr>
          <p:cNvGrpSpPr/>
          <p:nvPr/>
        </p:nvGrpSpPr>
        <p:grpSpPr>
          <a:xfrm>
            <a:off x="-12700" y="-13335"/>
            <a:ext cx="3762375" cy="874395"/>
            <a:chOff x="-12700" y="-13335"/>
            <a:chExt cx="3762375" cy="874395"/>
          </a:xfrm>
        </p:grpSpPr>
        <p:sp>
          <p:nvSpPr>
            <p:cNvPr id="14" name="矩形 13">
              <a:extLst>
                <a:ext uri="{FF2B5EF4-FFF2-40B4-BE49-F238E27FC236}">
                  <a16:creationId xmlns:a16="http://schemas.microsoft.com/office/drawing/2014/main" id="{E3C5E0AF-1519-F17F-1BEF-93C66DC5EF06}"/>
                </a:ext>
              </a:extLst>
            </p:cNvPr>
            <p:cNvSpPr/>
            <p:nvPr/>
          </p:nvSpPr>
          <p:spPr>
            <a:xfrm>
              <a:off x="-12700" y="784860"/>
              <a:ext cx="3762375" cy="76200"/>
            </a:xfrm>
            <a:prstGeom prst="rect">
              <a:avLst/>
            </a:prstGeom>
            <a:solidFill>
              <a:schemeClr val="tx2">
                <a:lumMod val="75000"/>
                <a:lumOff val="2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5" name="矩形 14">
              <a:extLst>
                <a:ext uri="{FF2B5EF4-FFF2-40B4-BE49-F238E27FC236}">
                  <a16:creationId xmlns:a16="http://schemas.microsoft.com/office/drawing/2014/main" id="{4EBE5B74-C2F9-23DE-8C58-0D4B7C0F5E35}"/>
                </a:ext>
              </a:extLst>
            </p:cNvPr>
            <p:cNvSpPr/>
            <p:nvPr/>
          </p:nvSpPr>
          <p:spPr>
            <a:xfrm>
              <a:off x="-12700" y="-13335"/>
              <a:ext cx="874395" cy="874395"/>
            </a:xfrm>
            <a:prstGeom prst="rect">
              <a:avLst/>
            </a:prstGeom>
            <a:solidFill>
              <a:schemeClr val="tx2">
                <a:lumMod val="75000"/>
                <a:lumOff val="2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4800">
                  <a:latin typeface="微软雅黑" panose="020B0503020204020204" pitchFamily="34" charset="-122"/>
                  <a:ea typeface="微软雅黑" panose="020B0503020204020204" pitchFamily="34" charset="-122"/>
                </a:rPr>
                <a:t>3</a:t>
              </a:r>
            </a:p>
          </p:txBody>
        </p:sp>
        <p:sp>
          <p:nvSpPr>
            <p:cNvPr id="16" name="文本框 15">
              <a:extLst>
                <a:ext uri="{FF2B5EF4-FFF2-40B4-BE49-F238E27FC236}">
                  <a16:creationId xmlns:a16="http://schemas.microsoft.com/office/drawing/2014/main" id="{4A86EA7D-C890-A02E-E880-B9A9E457B529}"/>
                </a:ext>
              </a:extLst>
            </p:cNvPr>
            <p:cNvSpPr txBox="1"/>
            <p:nvPr/>
          </p:nvSpPr>
          <p:spPr>
            <a:xfrm>
              <a:off x="861695" y="0"/>
              <a:ext cx="2887980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4800" b="1">
                  <a:solidFill>
                    <a:schemeClr val="tx2">
                      <a:lumMod val="75000"/>
                      <a:lumOff val="25000"/>
                    </a:schemeClr>
                  </a:solidFill>
                  <a:latin typeface="华文中宋" panose="02010600040101010101" pitchFamily="2" charset="-122"/>
                  <a:ea typeface="华文中宋" panose="02010600040101010101" pitchFamily="2" charset="-122"/>
                </a:rPr>
                <a:t>实验过程</a:t>
              </a:r>
            </a:p>
          </p:txBody>
        </p:sp>
      </p:grpSp>
      <p:grpSp>
        <p:nvGrpSpPr>
          <p:cNvPr id="51" name="组合 50">
            <a:extLst>
              <a:ext uri="{FF2B5EF4-FFF2-40B4-BE49-F238E27FC236}">
                <a16:creationId xmlns:a16="http://schemas.microsoft.com/office/drawing/2014/main" id="{D235E86F-4C88-0518-BAF1-789D48FB0CFB}"/>
              </a:ext>
            </a:extLst>
          </p:cNvPr>
          <p:cNvGrpSpPr/>
          <p:nvPr/>
        </p:nvGrpSpPr>
        <p:grpSpPr>
          <a:xfrm>
            <a:off x="1237872" y="1298872"/>
            <a:ext cx="2887979" cy="5107715"/>
            <a:chOff x="1237872" y="1298872"/>
            <a:chExt cx="2887979" cy="5107715"/>
          </a:xfrm>
        </p:grpSpPr>
        <p:grpSp>
          <p:nvGrpSpPr>
            <p:cNvPr id="41" name="组合 40">
              <a:extLst>
                <a:ext uri="{FF2B5EF4-FFF2-40B4-BE49-F238E27FC236}">
                  <a16:creationId xmlns:a16="http://schemas.microsoft.com/office/drawing/2014/main" id="{08D1A6CC-E4FA-E3D0-18E1-E74EF174BB3D}"/>
                </a:ext>
              </a:extLst>
            </p:cNvPr>
            <p:cNvGrpSpPr/>
            <p:nvPr/>
          </p:nvGrpSpPr>
          <p:grpSpPr>
            <a:xfrm>
              <a:off x="1237872" y="1298872"/>
              <a:ext cx="2887979" cy="780559"/>
              <a:chOff x="861695" y="1126384"/>
              <a:chExt cx="3214255" cy="780559"/>
            </a:xfrm>
          </p:grpSpPr>
          <p:sp>
            <p:nvSpPr>
              <p:cNvPr id="35" name="矩形: 圆角 34">
                <a:extLst>
                  <a:ext uri="{FF2B5EF4-FFF2-40B4-BE49-F238E27FC236}">
                    <a16:creationId xmlns:a16="http://schemas.microsoft.com/office/drawing/2014/main" id="{FA44AB52-F689-A58E-FDE5-A4DC5F4BAC94}"/>
                  </a:ext>
                </a:extLst>
              </p:cNvPr>
              <p:cNvSpPr/>
              <p:nvPr/>
            </p:nvSpPr>
            <p:spPr>
              <a:xfrm>
                <a:off x="861695" y="1126384"/>
                <a:ext cx="3214255" cy="780559"/>
              </a:xfrm>
              <a:prstGeom prst="roundRect">
                <a:avLst/>
              </a:prstGeom>
              <a:solidFill>
                <a:srgbClr val="324273"/>
              </a:solidFill>
              <a:ln w="19050">
                <a:solidFill>
                  <a:srgbClr val="324273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" name="文本框 35">
                <a:extLst>
                  <a:ext uri="{FF2B5EF4-FFF2-40B4-BE49-F238E27FC236}">
                    <a16:creationId xmlns:a16="http://schemas.microsoft.com/office/drawing/2014/main" id="{98ADD8C0-F8EE-0AE0-58C1-466DD6BF7A83}"/>
                  </a:ext>
                </a:extLst>
              </p:cNvPr>
              <p:cNvSpPr txBox="1"/>
              <p:nvPr/>
            </p:nvSpPr>
            <p:spPr>
              <a:xfrm>
                <a:off x="1493654" y="1281928"/>
                <a:ext cx="1950335" cy="461665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sz="2400" b="1">
                    <a:solidFill>
                      <a:schemeClr val="bg1"/>
                    </a:solidFill>
                    <a:latin typeface="Consolas" panose="020B0609020204030204" pitchFamily="49" charset="0"/>
                  </a:rPr>
                  <a:t>greedy</a:t>
                </a:r>
                <a:endParaRPr lang="zh-CN" altLang="en-US" sz="2400" b="1">
                  <a:solidFill>
                    <a:schemeClr val="bg1"/>
                  </a:solidFill>
                  <a:latin typeface="Consolas" panose="020B0609020204030204" pitchFamily="49" charset="0"/>
                </a:endParaRPr>
              </a:p>
            </p:txBody>
          </p:sp>
        </p:grpSp>
        <p:grpSp>
          <p:nvGrpSpPr>
            <p:cNvPr id="46" name="组合 45">
              <a:extLst>
                <a:ext uri="{FF2B5EF4-FFF2-40B4-BE49-F238E27FC236}">
                  <a16:creationId xmlns:a16="http://schemas.microsoft.com/office/drawing/2014/main" id="{CABE8730-14E3-1E60-7DE6-2BB1D4CB640E}"/>
                </a:ext>
              </a:extLst>
            </p:cNvPr>
            <p:cNvGrpSpPr/>
            <p:nvPr/>
          </p:nvGrpSpPr>
          <p:grpSpPr>
            <a:xfrm>
              <a:off x="1237872" y="2440110"/>
              <a:ext cx="2887978" cy="3966477"/>
              <a:chOff x="861695" y="2260703"/>
              <a:chExt cx="2887978" cy="3966477"/>
            </a:xfrm>
          </p:grpSpPr>
          <p:sp>
            <p:nvSpPr>
              <p:cNvPr id="17" name="矩形: 圆角 16">
                <a:extLst>
                  <a:ext uri="{FF2B5EF4-FFF2-40B4-BE49-F238E27FC236}">
                    <a16:creationId xmlns:a16="http://schemas.microsoft.com/office/drawing/2014/main" id="{40C631A7-DBD1-C824-9E79-03B868A399F5}"/>
                  </a:ext>
                </a:extLst>
              </p:cNvPr>
              <p:cNvSpPr/>
              <p:nvPr/>
            </p:nvSpPr>
            <p:spPr>
              <a:xfrm>
                <a:off x="861695" y="2260703"/>
                <a:ext cx="2887978" cy="3966477"/>
              </a:xfrm>
              <a:prstGeom prst="roundRect">
                <a:avLst/>
              </a:prstGeom>
              <a:solidFill>
                <a:srgbClr val="D9D9D9"/>
              </a:solidFill>
              <a:ln w="19050">
                <a:solidFill>
                  <a:srgbClr val="324273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2" name="文本框 41">
                <a:extLst>
                  <a:ext uri="{FF2B5EF4-FFF2-40B4-BE49-F238E27FC236}">
                    <a16:creationId xmlns:a16="http://schemas.microsoft.com/office/drawing/2014/main" id="{72E41EED-D500-AB17-208C-197C343A3FFD}"/>
                  </a:ext>
                </a:extLst>
              </p:cNvPr>
              <p:cNvSpPr txBox="1"/>
              <p:nvPr/>
            </p:nvSpPr>
            <p:spPr>
              <a:xfrm>
                <a:off x="1052985" y="2837506"/>
                <a:ext cx="2505395" cy="2812886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>
                <a:defPPr>
                  <a:defRPr lang="zh-CN"/>
                </a:defPPr>
                <a:lvl1pPr algn="ctr">
                  <a:defRPr sz="2800" b="1">
                    <a:solidFill>
                      <a:srgbClr val="324273"/>
                    </a:solidFill>
                    <a:latin typeface="Consolas" panose="020B0609020204030204" pitchFamily="49" charset="0"/>
                    <a:ea typeface="华文中宋" panose="02010600040101010101" pitchFamily="2" charset="-122"/>
                  </a:defRPr>
                </a:lvl1pPr>
              </a:lstStyle>
              <a:p>
                <a:pPr algn="just">
                  <a:lnSpc>
                    <a:spcPct val="150000"/>
                  </a:lnSpc>
                </a:pPr>
                <a:r>
                  <a:rPr lang="zh-CN" altLang="en-US" sz="2000" b="0"/>
                  <a:t>使用最简单的贪心算法，每次都选取距离当前节点最近的未访问节点，直至形成回路。同样需要遍历所有起点。</a:t>
                </a:r>
              </a:p>
            </p:txBody>
          </p:sp>
        </p:grpSp>
      </p:grpSp>
      <p:sp>
        <p:nvSpPr>
          <p:cNvPr id="52" name="矩形: 圆角 51">
            <a:extLst>
              <a:ext uri="{FF2B5EF4-FFF2-40B4-BE49-F238E27FC236}">
                <a16:creationId xmlns:a16="http://schemas.microsoft.com/office/drawing/2014/main" id="{9156FB42-E422-BDF8-1024-9D6C344D3AD9}"/>
              </a:ext>
            </a:extLst>
          </p:cNvPr>
          <p:cNvSpPr/>
          <p:nvPr/>
        </p:nvSpPr>
        <p:spPr>
          <a:xfrm>
            <a:off x="4959390" y="784860"/>
            <a:ext cx="7146086" cy="5934777"/>
          </a:xfrm>
          <a:prstGeom prst="roundRect">
            <a:avLst>
              <a:gd name="adj" fmla="val 8942"/>
            </a:avLst>
          </a:prstGeom>
          <a:solidFill>
            <a:srgbClr val="D9D9D9"/>
          </a:solidFill>
          <a:ln w="19050">
            <a:solidFill>
              <a:srgbClr val="32427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0" name="文本框 59">
            <a:extLst>
              <a:ext uri="{FF2B5EF4-FFF2-40B4-BE49-F238E27FC236}">
                <a16:creationId xmlns:a16="http://schemas.microsoft.com/office/drawing/2014/main" id="{8E0CEF7D-792F-3C67-59A4-DCD2AB8ABD6F}"/>
              </a:ext>
            </a:extLst>
          </p:cNvPr>
          <p:cNvSpPr txBox="1"/>
          <p:nvPr/>
        </p:nvSpPr>
        <p:spPr>
          <a:xfrm>
            <a:off x="5626290" y="1298872"/>
            <a:ext cx="5812276" cy="49128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14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void solve(int st) {</a:t>
            </a:r>
          </a:p>
          <a:p>
            <a:pPr>
              <a:lnSpc>
                <a:spcPct val="150000"/>
              </a:lnSpc>
            </a:pPr>
            <a:r>
              <a:rPr lang="en-US" altLang="zh-CN" sz="14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while (cnt &lt; n) {</a:t>
            </a:r>
          </a:p>
          <a:p>
            <a:pPr>
              <a:lnSpc>
                <a:spcPct val="150000"/>
              </a:lnSpc>
            </a:pPr>
            <a:r>
              <a:rPr lang="en-US" altLang="zh-CN" sz="14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    int nxt, minx = INF;</a:t>
            </a:r>
          </a:p>
          <a:p>
            <a:pPr>
              <a:lnSpc>
                <a:spcPct val="150000"/>
              </a:lnSpc>
            </a:pPr>
            <a:r>
              <a:rPr lang="en-US" altLang="zh-CN" sz="14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    for (int i = 1; i &lt;= n; ++i) {</a:t>
            </a:r>
          </a:p>
          <a:p>
            <a:pPr>
              <a:lnSpc>
                <a:spcPct val="150000"/>
              </a:lnSpc>
            </a:pPr>
            <a:r>
              <a:rPr lang="en-US" altLang="zh-CN" sz="14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        if (!vis[i] &amp;&amp; grid[node][i] &lt; minx) {</a:t>
            </a:r>
          </a:p>
          <a:p>
            <a:pPr>
              <a:lnSpc>
                <a:spcPct val="150000"/>
              </a:lnSpc>
            </a:pPr>
            <a:r>
              <a:rPr lang="en-US" altLang="zh-CN" sz="14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            minx = grid[node][i];</a:t>
            </a:r>
          </a:p>
          <a:p>
            <a:pPr>
              <a:lnSpc>
                <a:spcPct val="150000"/>
              </a:lnSpc>
            </a:pPr>
            <a:r>
              <a:rPr lang="en-US" altLang="zh-CN" sz="14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            nxt = i;</a:t>
            </a:r>
          </a:p>
          <a:p>
            <a:pPr>
              <a:lnSpc>
                <a:spcPct val="150000"/>
              </a:lnSpc>
            </a:pPr>
            <a:r>
              <a:rPr lang="en-US" altLang="zh-CN" sz="14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        }</a:t>
            </a:r>
          </a:p>
          <a:p>
            <a:pPr>
              <a:lnSpc>
                <a:spcPct val="150000"/>
              </a:lnSpc>
            </a:pPr>
            <a:r>
              <a:rPr lang="en-US" altLang="zh-CN" sz="14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    }</a:t>
            </a:r>
          </a:p>
          <a:p>
            <a:pPr>
              <a:lnSpc>
                <a:spcPct val="150000"/>
              </a:lnSpc>
            </a:pPr>
            <a:r>
              <a:rPr lang="en-US" altLang="zh-CN" sz="14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    cost += minx;</a:t>
            </a:r>
          </a:p>
          <a:p>
            <a:pPr>
              <a:lnSpc>
                <a:spcPct val="150000"/>
              </a:lnSpc>
            </a:pPr>
            <a:r>
              <a:rPr lang="en-US" altLang="zh-CN" sz="14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    vis[nxt] = 1;</a:t>
            </a:r>
          </a:p>
          <a:p>
            <a:pPr>
              <a:lnSpc>
                <a:spcPct val="150000"/>
              </a:lnSpc>
            </a:pPr>
            <a:r>
              <a:rPr lang="en-US" altLang="zh-CN" sz="14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    _path[++cnt] = nxt;</a:t>
            </a:r>
          </a:p>
          <a:p>
            <a:pPr>
              <a:lnSpc>
                <a:spcPct val="150000"/>
              </a:lnSpc>
            </a:pPr>
            <a:r>
              <a:rPr lang="en-US" altLang="zh-CN" sz="14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    node = nxt;</a:t>
            </a:r>
          </a:p>
          <a:p>
            <a:pPr>
              <a:lnSpc>
                <a:spcPct val="150000"/>
              </a:lnSpc>
            </a:pPr>
            <a:r>
              <a:rPr lang="en-US" altLang="zh-CN" sz="14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    }</a:t>
            </a:r>
          </a:p>
          <a:p>
            <a:pPr>
              <a:lnSpc>
                <a:spcPct val="150000"/>
              </a:lnSpc>
            </a:pPr>
            <a:r>
              <a:rPr lang="en-US" altLang="zh-CN" sz="1400">
                <a:latin typeface="Fira Code Medium" pitchFamily="1" charset="0"/>
                <a:ea typeface="楷体" panose="02010609060101010101" pitchFamily="49" charset="-122"/>
                <a:cs typeface="Fira Code Medium" pitchFamily="1" charset="0"/>
              </a:rPr>
              <a:t>}</a:t>
            </a:r>
            <a:endParaRPr kumimoji="0" lang="zh-CN" alt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Fira Code Medium" pitchFamily="1" charset="0"/>
              <a:ea typeface="楷体" panose="02010609060101010101" pitchFamily="49" charset="-122"/>
              <a:cs typeface="Fira Code Medium" pitchFamily="1" charset="0"/>
            </a:endParaRPr>
          </a:p>
        </p:txBody>
      </p:sp>
      <p:grpSp>
        <p:nvGrpSpPr>
          <p:cNvPr id="43" name="组合 42">
            <a:extLst>
              <a:ext uri="{FF2B5EF4-FFF2-40B4-BE49-F238E27FC236}">
                <a16:creationId xmlns:a16="http://schemas.microsoft.com/office/drawing/2014/main" id="{230D6FB0-57AD-40C9-00BB-93E950A5E0E7}"/>
              </a:ext>
            </a:extLst>
          </p:cNvPr>
          <p:cNvGrpSpPr/>
          <p:nvPr/>
        </p:nvGrpSpPr>
        <p:grpSpPr>
          <a:xfrm>
            <a:off x="7088440" y="354706"/>
            <a:ext cx="2887979" cy="780559"/>
            <a:chOff x="861695" y="1092231"/>
            <a:chExt cx="3214255" cy="841059"/>
          </a:xfrm>
        </p:grpSpPr>
        <p:sp>
          <p:nvSpPr>
            <p:cNvPr id="44" name="矩形: 圆角 43">
              <a:extLst>
                <a:ext uri="{FF2B5EF4-FFF2-40B4-BE49-F238E27FC236}">
                  <a16:creationId xmlns:a16="http://schemas.microsoft.com/office/drawing/2014/main" id="{5C2787F2-989F-0231-6F0C-1E9D5AD8A240}"/>
                </a:ext>
              </a:extLst>
            </p:cNvPr>
            <p:cNvSpPr/>
            <p:nvPr/>
          </p:nvSpPr>
          <p:spPr>
            <a:xfrm>
              <a:off x="861695" y="1126384"/>
              <a:ext cx="3214255" cy="780559"/>
            </a:xfrm>
            <a:prstGeom prst="roundRect">
              <a:avLst/>
            </a:prstGeom>
            <a:solidFill>
              <a:srgbClr val="324273"/>
            </a:solidFill>
            <a:ln w="19050">
              <a:solidFill>
                <a:srgbClr val="32427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5" name="文本框 44">
              <a:extLst>
                <a:ext uri="{FF2B5EF4-FFF2-40B4-BE49-F238E27FC236}">
                  <a16:creationId xmlns:a16="http://schemas.microsoft.com/office/drawing/2014/main" id="{182C89D6-77CF-EAF7-D0F9-D490ECC34B3C}"/>
                </a:ext>
              </a:extLst>
            </p:cNvPr>
            <p:cNvSpPr txBox="1"/>
            <p:nvPr/>
          </p:nvSpPr>
          <p:spPr>
            <a:xfrm>
              <a:off x="1493654" y="1092231"/>
              <a:ext cx="1950335" cy="841059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zh-CN" altLang="en-US" sz="2400">
                  <a:solidFill>
                    <a:schemeClr val="bg1"/>
                  </a:solidFill>
                  <a:latin typeface="华文中宋" panose="02010600040101010101" pitchFamily="2" charset="-122"/>
                  <a:ea typeface="华文中宋" panose="02010600040101010101" pitchFamily="2" charset="-122"/>
                </a:rPr>
                <a:t>核心代码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545626617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71FF7C-C47B-D2F1-FE58-BB297A2E44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组合 12">
            <a:extLst>
              <a:ext uri="{FF2B5EF4-FFF2-40B4-BE49-F238E27FC236}">
                <a16:creationId xmlns:a16="http://schemas.microsoft.com/office/drawing/2014/main" id="{82D353DE-2D8C-A5F1-36EF-DFACB7F80131}"/>
              </a:ext>
            </a:extLst>
          </p:cNvPr>
          <p:cNvGrpSpPr/>
          <p:nvPr/>
        </p:nvGrpSpPr>
        <p:grpSpPr>
          <a:xfrm>
            <a:off x="-12700" y="-13335"/>
            <a:ext cx="3762375" cy="874395"/>
            <a:chOff x="-12700" y="-13335"/>
            <a:chExt cx="3762375" cy="874395"/>
          </a:xfrm>
        </p:grpSpPr>
        <p:sp>
          <p:nvSpPr>
            <p:cNvPr id="14" name="矩形 13">
              <a:extLst>
                <a:ext uri="{FF2B5EF4-FFF2-40B4-BE49-F238E27FC236}">
                  <a16:creationId xmlns:a16="http://schemas.microsoft.com/office/drawing/2014/main" id="{186D409F-4794-95BE-C477-79884AB1F068}"/>
                </a:ext>
              </a:extLst>
            </p:cNvPr>
            <p:cNvSpPr/>
            <p:nvPr/>
          </p:nvSpPr>
          <p:spPr>
            <a:xfrm>
              <a:off x="-12700" y="784860"/>
              <a:ext cx="3762375" cy="76200"/>
            </a:xfrm>
            <a:prstGeom prst="rect">
              <a:avLst/>
            </a:prstGeom>
            <a:solidFill>
              <a:schemeClr val="tx2">
                <a:lumMod val="75000"/>
                <a:lumOff val="2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5" name="矩形 14">
              <a:extLst>
                <a:ext uri="{FF2B5EF4-FFF2-40B4-BE49-F238E27FC236}">
                  <a16:creationId xmlns:a16="http://schemas.microsoft.com/office/drawing/2014/main" id="{29CC0F82-094E-BA52-664B-89B05FAC7A7C}"/>
                </a:ext>
              </a:extLst>
            </p:cNvPr>
            <p:cNvSpPr/>
            <p:nvPr/>
          </p:nvSpPr>
          <p:spPr>
            <a:xfrm>
              <a:off x="-12700" y="-13335"/>
              <a:ext cx="874395" cy="874395"/>
            </a:xfrm>
            <a:prstGeom prst="rect">
              <a:avLst/>
            </a:prstGeom>
            <a:solidFill>
              <a:schemeClr val="tx2">
                <a:lumMod val="75000"/>
                <a:lumOff val="2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4800">
                  <a:latin typeface="微软雅黑" panose="020B0503020204020204" pitchFamily="34" charset="-122"/>
                  <a:ea typeface="微软雅黑" panose="020B0503020204020204" pitchFamily="34" charset="-122"/>
                </a:rPr>
                <a:t>3</a:t>
              </a:r>
            </a:p>
          </p:txBody>
        </p:sp>
        <p:sp>
          <p:nvSpPr>
            <p:cNvPr id="16" name="文本框 15">
              <a:extLst>
                <a:ext uri="{FF2B5EF4-FFF2-40B4-BE49-F238E27FC236}">
                  <a16:creationId xmlns:a16="http://schemas.microsoft.com/office/drawing/2014/main" id="{0C169C92-71FE-F7BC-7AB3-5BCD2B24F919}"/>
                </a:ext>
              </a:extLst>
            </p:cNvPr>
            <p:cNvSpPr txBox="1"/>
            <p:nvPr/>
          </p:nvSpPr>
          <p:spPr>
            <a:xfrm>
              <a:off x="861695" y="0"/>
              <a:ext cx="2887980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4800" b="1">
                  <a:solidFill>
                    <a:schemeClr val="tx2">
                      <a:lumMod val="75000"/>
                      <a:lumOff val="25000"/>
                    </a:schemeClr>
                  </a:solidFill>
                  <a:latin typeface="华文中宋" panose="02010600040101010101" pitchFamily="2" charset="-122"/>
                  <a:ea typeface="华文中宋" panose="02010600040101010101" pitchFamily="2" charset="-122"/>
                </a:rPr>
                <a:t>实验过程</a:t>
              </a:r>
            </a:p>
          </p:txBody>
        </p:sp>
      </p:grpSp>
      <p:grpSp>
        <p:nvGrpSpPr>
          <p:cNvPr id="7" name="组合 6">
            <a:extLst>
              <a:ext uri="{FF2B5EF4-FFF2-40B4-BE49-F238E27FC236}">
                <a16:creationId xmlns:a16="http://schemas.microsoft.com/office/drawing/2014/main" id="{DFC0F412-3E9A-3642-574D-3B6A674B0737}"/>
              </a:ext>
            </a:extLst>
          </p:cNvPr>
          <p:cNvGrpSpPr/>
          <p:nvPr/>
        </p:nvGrpSpPr>
        <p:grpSpPr>
          <a:xfrm>
            <a:off x="861695" y="1321872"/>
            <a:ext cx="9432233" cy="4751268"/>
            <a:chOff x="861695" y="1246460"/>
            <a:chExt cx="9432233" cy="4751268"/>
          </a:xfrm>
        </p:grpSpPr>
        <p:sp>
          <p:nvSpPr>
            <p:cNvPr id="5" name="矩形: 圆角 4">
              <a:extLst>
                <a:ext uri="{FF2B5EF4-FFF2-40B4-BE49-F238E27FC236}">
                  <a16:creationId xmlns:a16="http://schemas.microsoft.com/office/drawing/2014/main" id="{A8280272-7480-8A0C-5D59-20699D9019ED}"/>
                </a:ext>
              </a:extLst>
            </p:cNvPr>
            <p:cNvSpPr/>
            <p:nvPr/>
          </p:nvSpPr>
          <p:spPr>
            <a:xfrm>
              <a:off x="1891146" y="1565229"/>
              <a:ext cx="8402782" cy="4432499"/>
            </a:xfrm>
            <a:prstGeom prst="roundRect">
              <a:avLst/>
            </a:prstGeom>
            <a:noFill/>
            <a:ln w="19050">
              <a:solidFill>
                <a:srgbClr val="32427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pSp>
          <p:nvGrpSpPr>
            <p:cNvPr id="4" name="组合 3">
              <a:extLst>
                <a:ext uri="{FF2B5EF4-FFF2-40B4-BE49-F238E27FC236}">
                  <a16:creationId xmlns:a16="http://schemas.microsoft.com/office/drawing/2014/main" id="{84241801-8392-0681-DAAC-03FFA386ED38}"/>
                </a:ext>
              </a:extLst>
            </p:cNvPr>
            <p:cNvGrpSpPr/>
            <p:nvPr/>
          </p:nvGrpSpPr>
          <p:grpSpPr>
            <a:xfrm>
              <a:off x="861695" y="1246460"/>
              <a:ext cx="8233410" cy="738794"/>
              <a:chOff x="1070610" y="2122170"/>
              <a:chExt cx="8233410" cy="738794"/>
            </a:xfrm>
          </p:grpSpPr>
          <p:sp>
            <p:nvSpPr>
              <p:cNvPr id="2" name="矩形 1">
                <a:extLst>
                  <a:ext uri="{FF2B5EF4-FFF2-40B4-BE49-F238E27FC236}">
                    <a16:creationId xmlns:a16="http://schemas.microsoft.com/office/drawing/2014/main" id="{B752DE47-BD91-67F1-FB8E-8235F6EFDB25}"/>
                  </a:ext>
                </a:extLst>
              </p:cNvPr>
              <p:cNvSpPr/>
              <p:nvPr/>
            </p:nvSpPr>
            <p:spPr>
              <a:xfrm>
                <a:off x="1070610" y="2122170"/>
                <a:ext cx="8233410" cy="637540"/>
              </a:xfrm>
              <a:prstGeom prst="rect">
                <a:avLst/>
              </a:prstGeom>
              <a:solidFill>
                <a:schemeClr val="tx2">
                  <a:lumMod val="75000"/>
                  <a:lumOff val="25000"/>
                </a:schemeClr>
              </a:solidFill>
              <a:ln>
                <a:solidFill>
                  <a:schemeClr val="tx2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2400">
                    <a:latin typeface="华文中宋" panose="02010600040101010101" pitchFamily="2" charset="-122"/>
                    <a:ea typeface="华文中宋" panose="02010600040101010101" pitchFamily="2" charset="-122"/>
                  </a:rPr>
                  <a:t>四、算法性能测试（</a:t>
                </a:r>
                <a:r>
                  <a:rPr lang="en-US" altLang="zh-CN" sz="2400">
                    <a:latin typeface="华文中宋" panose="02010600040101010101" pitchFamily="2" charset="-122"/>
                    <a:ea typeface="华文中宋" panose="02010600040101010101" pitchFamily="2" charset="-122"/>
                  </a:rPr>
                  <a:t>output</a:t>
                </a:r>
                <a:r>
                  <a:rPr lang="zh-CN" altLang="en-US" sz="2400">
                    <a:latin typeface="华文中宋" panose="02010600040101010101" pitchFamily="2" charset="-122"/>
                    <a:ea typeface="华文中宋" panose="02010600040101010101" pitchFamily="2" charset="-122"/>
                  </a:rPr>
                  <a:t>分支）</a:t>
                </a:r>
              </a:p>
            </p:txBody>
          </p:sp>
          <p:sp>
            <p:nvSpPr>
              <p:cNvPr id="3" name="L 形 2">
                <a:extLst>
                  <a:ext uri="{FF2B5EF4-FFF2-40B4-BE49-F238E27FC236}">
                    <a16:creationId xmlns:a16="http://schemas.microsoft.com/office/drawing/2014/main" id="{48E7D429-9281-FEA2-A80E-A2FD9A782027}"/>
                  </a:ext>
                </a:extLst>
              </p:cNvPr>
              <p:cNvSpPr/>
              <p:nvPr/>
            </p:nvSpPr>
            <p:spPr>
              <a:xfrm>
                <a:off x="1070610" y="2122170"/>
                <a:ext cx="619645" cy="738794"/>
              </a:xfrm>
              <a:prstGeom prst="corner">
                <a:avLst>
                  <a:gd name="adj1" fmla="val 38914"/>
                  <a:gd name="adj2" fmla="val 48191"/>
                </a:avLst>
              </a:prstGeom>
              <a:solidFill>
                <a:schemeClr val="bg1"/>
              </a:solidFill>
              <a:ln>
                <a:solidFill>
                  <a:srgbClr val="324273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sp>
          <p:nvSpPr>
            <p:cNvPr id="6" name="文本框 5">
              <a:extLst>
                <a:ext uri="{FF2B5EF4-FFF2-40B4-BE49-F238E27FC236}">
                  <a16:creationId xmlns:a16="http://schemas.microsoft.com/office/drawing/2014/main" id="{C445006B-588F-F978-4C93-D5FBFF879085}"/>
                </a:ext>
              </a:extLst>
            </p:cNvPr>
            <p:cNvSpPr txBox="1"/>
            <p:nvPr/>
          </p:nvSpPr>
          <p:spPr>
            <a:xfrm>
              <a:off x="2341904" y="2375035"/>
              <a:ext cx="7501265" cy="2812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indent="457200" algn="just">
                <a:lnSpc>
                  <a:spcPct val="150000"/>
                </a:lnSpc>
              </a:pPr>
              <a:r>
                <a:rPr lang="zh-CN" altLang="en-US" sz="2000">
                  <a:solidFill>
                    <a:srgbClr val="324273"/>
                  </a:solidFill>
                  <a:latin typeface="Consolas" panose="020B0609020204030204" pitchFamily="49" charset="0"/>
                  <a:ea typeface="华文中宋" panose="02010600040101010101" pitchFamily="2" charset="-122"/>
                </a:rPr>
                <a:t>至此，全部代码编写完成。为了对比不同算法策略的性能差异，我们需要生成输出文件并进行记录。</a:t>
              </a:r>
              <a:endParaRPr lang="en-US" altLang="zh-CN" sz="2000">
                <a:solidFill>
                  <a:srgbClr val="324273"/>
                </a:solidFill>
                <a:latin typeface="Consolas" panose="020B0609020204030204" pitchFamily="49" charset="0"/>
                <a:ea typeface="华文中宋" panose="02010600040101010101" pitchFamily="2" charset="-122"/>
              </a:endParaRPr>
            </a:p>
            <a:p>
              <a:pPr indent="457200" algn="just">
                <a:lnSpc>
                  <a:spcPct val="150000"/>
                </a:lnSpc>
              </a:pPr>
              <a:r>
                <a:rPr lang="zh-CN" altLang="en-US" sz="2000">
                  <a:solidFill>
                    <a:srgbClr val="324273"/>
                  </a:solidFill>
                  <a:latin typeface="Consolas" panose="020B0609020204030204" pitchFamily="49" charset="0"/>
                  <a:ea typeface="华文中宋" panose="02010600040101010101" pitchFamily="2" charset="-122"/>
                </a:rPr>
                <a:t>对于求精确解的算法，由于可用数据集并不多，所以我们手动记录。</a:t>
              </a:r>
              <a:endParaRPr lang="en-US" altLang="zh-CN" sz="2000">
                <a:solidFill>
                  <a:srgbClr val="324273"/>
                </a:solidFill>
                <a:latin typeface="Consolas" panose="020B0609020204030204" pitchFamily="49" charset="0"/>
                <a:ea typeface="华文中宋" panose="02010600040101010101" pitchFamily="2" charset="-122"/>
              </a:endParaRPr>
            </a:p>
            <a:p>
              <a:pPr indent="457200" algn="just">
                <a:lnSpc>
                  <a:spcPct val="150000"/>
                </a:lnSpc>
              </a:pPr>
              <a:r>
                <a:rPr lang="zh-CN" altLang="en-US" sz="2000">
                  <a:solidFill>
                    <a:srgbClr val="324273"/>
                  </a:solidFill>
                  <a:latin typeface="Consolas" panose="020B0609020204030204" pitchFamily="49" charset="0"/>
                  <a:ea typeface="华文中宋" panose="02010600040101010101" pitchFamily="2" charset="-122"/>
                </a:rPr>
                <a:t>对于求近似解的算法，由于几乎所有数据集都适用，因此为了批量生成输出文件，我们编写了一个</a:t>
              </a:r>
              <a:r>
                <a:rPr lang="en-US" altLang="zh-CN" sz="2000">
                  <a:solidFill>
                    <a:srgbClr val="324273"/>
                  </a:solidFill>
                  <a:latin typeface="Consolas" panose="020B0609020204030204" pitchFamily="49" charset="0"/>
                  <a:ea typeface="华文中宋" panose="02010600040101010101" pitchFamily="2" charset="-122"/>
                </a:rPr>
                <a:t>shell</a:t>
              </a:r>
              <a:r>
                <a:rPr lang="zh-CN" altLang="en-US" sz="2000">
                  <a:solidFill>
                    <a:srgbClr val="324273"/>
                  </a:solidFill>
                  <a:latin typeface="Consolas" panose="020B0609020204030204" pitchFamily="49" charset="0"/>
                  <a:ea typeface="华文中宋" panose="02010600040101010101" pitchFamily="2" charset="-122"/>
                </a:rPr>
                <a:t>脚本。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110126287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63560C-03C5-44BB-B430-31C33A464A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组合 12">
            <a:extLst>
              <a:ext uri="{FF2B5EF4-FFF2-40B4-BE49-F238E27FC236}">
                <a16:creationId xmlns:a16="http://schemas.microsoft.com/office/drawing/2014/main" id="{2524DF25-1363-3832-24F0-835416D939AB}"/>
              </a:ext>
            </a:extLst>
          </p:cNvPr>
          <p:cNvGrpSpPr/>
          <p:nvPr/>
        </p:nvGrpSpPr>
        <p:grpSpPr>
          <a:xfrm>
            <a:off x="-12700" y="-13335"/>
            <a:ext cx="3762375" cy="874395"/>
            <a:chOff x="-12700" y="-13335"/>
            <a:chExt cx="3762375" cy="874395"/>
          </a:xfrm>
        </p:grpSpPr>
        <p:sp>
          <p:nvSpPr>
            <p:cNvPr id="14" name="矩形 13">
              <a:extLst>
                <a:ext uri="{FF2B5EF4-FFF2-40B4-BE49-F238E27FC236}">
                  <a16:creationId xmlns:a16="http://schemas.microsoft.com/office/drawing/2014/main" id="{348B2697-D51A-683E-902A-10D84B1A07EE}"/>
                </a:ext>
              </a:extLst>
            </p:cNvPr>
            <p:cNvSpPr/>
            <p:nvPr/>
          </p:nvSpPr>
          <p:spPr>
            <a:xfrm>
              <a:off x="-12700" y="784860"/>
              <a:ext cx="3762375" cy="76200"/>
            </a:xfrm>
            <a:prstGeom prst="rect">
              <a:avLst/>
            </a:prstGeom>
            <a:solidFill>
              <a:schemeClr val="tx2">
                <a:lumMod val="75000"/>
                <a:lumOff val="2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5" name="矩形 14">
              <a:extLst>
                <a:ext uri="{FF2B5EF4-FFF2-40B4-BE49-F238E27FC236}">
                  <a16:creationId xmlns:a16="http://schemas.microsoft.com/office/drawing/2014/main" id="{19CA95C8-7607-BF12-EFD2-324CA964E2FA}"/>
                </a:ext>
              </a:extLst>
            </p:cNvPr>
            <p:cNvSpPr/>
            <p:nvPr/>
          </p:nvSpPr>
          <p:spPr>
            <a:xfrm>
              <a:off x="-12700" y="-13335"/>
              <a:ext cx="874395" cy="874395"/>
            </a:xfrm>
            <a:prstGeom prst="rect">
              <a:avLst/>
            </a:prstGeom>
            <a:solidFill>
              <a:schemeClr val="tx2">
                <a:lumMod val="75000"/>
                <a:lumOff val="2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4800">
                  <a:latin typeface="微软雅黑" panose="020B0503020204020204" pitchFamily="34" charset="-122"/>
                  <a:ea typeface="微软雅黑" panose="020B0503020204020204" pitchFamily="34" charset="-122"/>
                </a:rPr>
                <a:t>3</a:t>
              </a:r>
            </a:p>
          </p:txBody>
        </p:sp>
        <p:sp>
          <p:nvSpPr>
            <p:cNvPr id="16" name="文本框 15">
              <a:extLst>
                <a:ext uri="{FF2B5EF4-FFF2-40B4-BE49-F238E27FC236}">
                  <a16:creationId xmlns:a16="http://schemas.microsoft.com/office/drawing/2014/main" id="{5550E743-03F0-536A-BB50-EF595655AF54}"/>
                </a:ext>
              </a:extLst>
            </p:cNvPr>
            <p:cNvSpPr txBox="1"/>
            <p:nvPr/>
          </p:nvSpPr>
          <p:spPr>
            <a:xfrm>
              <a:off x="861695" y="0"/>
              <a:ext cx="2887980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4800" b="1">
                  <a:solidFill>
                    <a:schemeClr val="tx2">
                      <a:lumMod val="75000"/>
                      <a:lumOff val="25000"/>
                    </a:schemeClr>
                  </a:solidFill>
                  <a:latin typeface="华文中宋" panose="02010600040101010101" pitchFamily="2" charset="-122"/>
                  <a:ea typeface="华文中宋" panose="02010600040101010101" pitchFamily="2" charset="-122"/>
                </a:rPr>
                <a:t>实验过程</a:t>
              </a:r>
            </a:p>
          </p:txBody>
        </p:sp>
      </p:grpSp>
      <p:grpSp>
        <p:nvGrpSpPr>
          <p:cNvPr id="8" name="组合 7">
            <a:extLst>
              <a:ext uri="{FF2B5EF4-FFF2-40B4-BE49-F238E27FC236}">
                <a16:creationId xmlns:a16="http://schemas.microsoft.com/office/drawing/2014/main" id="{2A1AA26B-A041-710B-7AF1-F3E3B5767001}"/>
              </a:ext>
            </a:extLst>
          </p:cNvPr>
          <p:cNvGrpSpPr/>
          <p:nvPr/>
        </p:nvGrpSpPr>
        <p:grpSpPr>
          <a:xfrm>
            <a:off x="1243660" y="1192354"/>
            <a:ext cx="10336812" cy="5364704"/>
            <a:chOff x="1237872" y="1525802"/>
            <a:chExt cx="10336812" cy="5364704"/>
          </a:xfrm>
        </p:grpSpPr>
        <p:grpSp>
          <p:nvGrpSpPr>
            <p:cNvPr id="46" name="组合 45">
              <a:extLst>
                <a:ext uri="{FF2B5EF4-FFF2-40B4-BE49-F238E27FC236}">
                  <a16:creationId xmlns:a16="http://schemas.microsoft.com/office/drawing/2014/main" id="{6A2850C9-E7C8-3BC6-56CE-EAB3C6633E21}"/>
                </a:ext>
              </a:extLst>
            </p:cNvPr>
            <p:cNvGrpSpPr/>
            <p:nvPr/>
          </p:nvGrpSpPr>
          <p:grpSpPr>
            <a:xfrm>
              <a:off x="1237872" y="1916082"/>
              <a:ext cx="10336812" cy="4974424"/>
              <a:chOff x="861695" y="1736675"/>
              <a:chExt cx="10336812" cy="4974424"/>
            </a:xfrm>
          </p:grpSpPr>
          <p:sp>
            <p:nvSpPr>
              <p:cNvPr id="17" name="矩形: 圆角 16">
                <a:extLst>
                  <a:ext uri="{FF2B5EF4-FFF2-40B4-BE49-F238E27FC236}">
                    <a16:creationId xmlns:a16="http://schemas.microsoft.com/office/drawing/2014/main" id="{A12CD29C-3179-B05E-B1E3-B672B20EA5BD}"/>
                  </a:ext>
                </a:extLst>
              </p:cNvPr>
              <p:cNvSpPr/>
              <p:nvPr/>
            </p:nvSpPr>
            <p:spPr>
              <a:xfrm>
                <a:off x="861695" y="1736675"/>
                <a:ext cx="10336812" cy="4974424"/>
              </a:xfrm>
              <a:prstGeom prst="roundRect">
                <a:avLst/>
              </a:prstGeom>
              <a:solidFill>
                <a:srgbClr val="D9D9D9"/>
              </a:solidFill>
              <a:ln w="19050">
                <a:solidFill>
                  <a:srgbClr val="324273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2" name="文本框 41">
                <a:extLst>
                  <a:ext uri="{FF2B5EF4-FFF2-40B4-BE49-F238E27FC236}">
                    <a16:creationId xmlns:a16="http://schemas.microsoft.com/office/drawing/2014/main" id="{3CDF366F-BA28-1C56-F75C-CF442215BC62}"/>
                  </a:ext>
                </a:extLst>
              </p:cNvPr>
              <p:cNvSpPr txBox="1"/>
              <p:nvPr/>
            </p:nvSpPr>
            <p:spPr>
              <a:xfrm>
                <a:off x="1052985" y="3991668"/>
                <a:ext cx="2505395" cy="50456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>
                <a:defPPr>
                  <a:defRPr lang="zh-CN"/>
                </a:defPPr>
                <a:lvl1pPr algn="ctr">
                  <a:defRPr sz="2800" b="1">
                    <a:solidFill>
                      <a:srgbClr val="324273"/>
                    </a:solidFill>
                    <a:latin typeface="Consolas" panose="020B0609020204030204" pitchFamily="49" charset="0"/>
                    <a:ea typeface="华文中宋" panose="02010600040101010101" pitchFamily="2" charset="-122"/>
                  </a:defRPr>
                </a:lvl1pPr>
              </a:lstStyle>
              <a:p>
                <a:pPr algn="just">
                  <a:lnSpc>
                    <a:spcPct val="150000"/>
                  </a:lnSpc>
                </a:pPr>
                <a:endParaRPr lang="zh-CN" altLang="en-US" sz="2000" b="0"/>
              </a:p>
            </p:txBody>
          </p:sp>
        </p:grpSp>
        <p:sp>
          <p:nvSpPr>
            <p:cNvPr id="5" name="文本框 4">
              <a:extLst>
                <a:ext uri="{FF2B5EF4-FFF2-40B4-BE49-F238E27FC236}">
                  <a16:creationId xmlns:a16="http://schemas.microsoft.com/office/drawing/2014/main" id="{4584BE08-2AA9-E6C1-3729-00A7B696F28D}"/>
                </a:ext>
              </a:extLst>
            </p:cNvPr>
            <p:cNvSpPr txBox="1"/>
            <p:nvPr/>
          </p:nvSpPr>
          <p:spPr>
            <a:xfrm>
              <a:off x="1973772" y="2616255"/>
              <a:ext cx="8865011" cy="379033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zh-CN"/>
              </a:defPPr>
              <a:lvl1pPr>
                <a:lnSpc>
                  <a:spcPct val="150000"/>
                </a:lnSpc>
                <a:defRPr sz="1400">
                  <a:latin typeface="Fira Code Medium" pitchFamily="1" charset="0"/>
                  <a:ea typeface="楷体" panose="02010609060101010101" pitchFamily="49" charset="-122"/>
                  <a:cs typeface="Fira Code Medium" pitchFamily="1" charset="0"/>
                </a:defRPr>
              </a:lvl1pPr>
            </a:lstStyle>
            <a:p>
              <a:r>
                <a:rPr lang="en-US" altLang="zh-CN" sz="1800"/>
                <a:t>/* ...</a:t>
              </a:r>
              <a:r>
                <a:rPr lang="zh-CN" altLang="en-US" sz="1800"/>
                <a:t>输入</a:t>
              </a:r>
              <a:r>
                <a:rPr lang="en-US" altLang="zh-CN" sz="1800"/>
                <a:t>...</a:t>
              </a:r>
              <a:r>
                <a:rPr lang="zh-CN" altLang="en-US" sz="1800"/>
                <a:t> </a:t>
              </a:r>
              <a:r>
                <a:rPr lang="en-US" altLang="zh-CN" sz="1800"/>
                <a:t>*/</a:t>
              </a:r>
            </a:p>
            <a:p>
              <a:r>
                <a:rPr lang="en-US" altLang="zh-CN" sz="1800"/>
                <a:t>long start = clock();</a:t>
              </a:r>
            </a:p>
            <a:p>
              <a:endParaRPr lang="en-US" altLang="zh-CN" sz="1800"/>
            </a:p>
            <a:p>
              <a:r>
                <a:rPr lang="en-US" altLang="zh-CN" sz="1800"/>
                <a:t>solve();</a:t>
              </a:r>
            </a:p>
            <a:p>
              <a:endParaRPr lang="en-US" altLang="zh-CN" sz="1800"/>
            </a:p>
            <a:p>
              <a:r>
                <a:rPr lang="en-US" altLang="zh-CN" sz="1800"/>
                <a:t>long end = clock();</a:t>
              </a:r>
            </a:p>
            <a:p>
              <a:r>
                <a:rPr lang="en-US" altLang="zh-CN" sz="1800"/>
                <a:t>cout &lt;&lt; "Time cost: " &lt;&lt; (double) (end - start) &lt;&lt; " ms.\n";</a:t>
              </a:r>
            </a:p>
            <a:p>
              <a:r>
                <a:rPr lang="en-US" altLang="zh-CN" sz="1800"/>
                <a:t>cout &lt;&lt; "Min cost: " &lt;&lt; minn &lt;&lt; endl;</a:t>
              </a:r>
            </a:p>
            <a:p>
              <a:r>
                <a:rPr lang="en-US" altLang="zh-CN" sz="1800"/>
                <a:t>/* ...</a:t>
              </a:r>
              <a:r>
                <a:rPr lang="zh-CN" altLang="en-US" sz="1800"/>
                <a:t>输出路径</a:t>
              </a:r>
              <a:r>
                <a:rPr lang="en-US" altLang="zh-CN" sz="1800"/>
                <a:t>...</a:t>
              </a:r>
              <a:r>
                <a:rPr lang="zh-CN" altLang="en-US" sz="1800"/>
                <a:t> </a:t>
              </a:r>
              <a:r>
                <a:rPr lang="en-US" altLang="zh-CN" sz="1800"/>
                <a:t>*/</a:t>
              </a:r>
              <a:endParaRPr lang="zh-CN" altLang="en-US" sz="1800"/>
            </a:p>
          </p:txBody>
        </p:sp>
        <p:grpSp>
          <p:nvGrpSpPr>
            <p:cNvPr id="7" name="组合 6">
              <a:extLst>
                <a:ext uri="{FF2B5EF4-FFF2-40B4-BE49-F238E27FC236}">
                  <a16:creationId xmlns:a16="http://schemas.microsoft.com/office/drawing/2014/main" id="{A64C9955-4416-25D0-C9B8-1C86E3E7BC8A}"/>
                </a:ext>
              </a:extLst>
            </p:cNvPr>
            <p:cNvGrpSpPr/>
            <p:nvPr/>
          </p:nvGrpSpPr>
          <p:grpSpPr>
            <a:xfrm>
              <a:off x="4652010" y="1525802"/>
              <a:ext cx="2887979" cy="780559"/>
              <a:chOff x="1237872" y="1298872"/>
              <a:chExt cx="2887979" cy="780559"/>
            </a:xfrm>
          </p:grpSpPr>
          <p:sp>
            <p:nvSpPr>
              <p:cNvPr id="35" name="矩形: 圆角 34">
                <a:extLst>
                  <a:ext uri="{FF2B5EF4-FFF2-40B4-BE49-F238E27FC236}">
                    <a16:creationId xmlns:a16="http://schemas.microsoft.com/office/drawing/2014/main" id="{A82C1E2D-3226-921A-66FF-3FC934F168C9}"/>
                  </a:ext>
                </a:extLst>
              </p:cNvPr>
              <p:cNvSpPr/>
              <p:nvPr/>
            </p:nvSpPr>
            <p:spPr>
              <a:xfrm>
                <a:off x="1237872" y="1298872"/>
                <a:ext cx="2887979" cy="780559"/>
              </a:xfrm>
              <a:prstGeom prst="roundRect">
                <a:avLst/>
              </a:prstGeom>
              <a:solidFill>
                <a:srgbClr val="324273"/>
              </a:solidFill>
              <a:ln w="19050">
                <a:solidFill>
                  <a:srgbClr val="324273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" name="文本框 35">
                <a:extLst>
                  <a:ext uri="{FF2B5EF4-FFF2-40B4-BE49-F238E27FC236}">
                    <a16:creationId xmlns:a16="http://schemas.microsoft.com/office/drawing/2014/main" id="{58A2C429-1458-7AF5-677D-90755CAC5BCD}"/>
                  </a:ext>
                </a:extLst>
              </p:cNvPr>
              <p:cNvSpPr txBox="1"/>
              <p:nvPr/>
            </p:nvSpPr>
            <p:spPr>
              <a:xfrm>
                <a:off x="1616808" y="1456370"/>
                <a:ext cx="2130105" cy="461665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zh-CN" altLang="en-US" sz="2400">
                    <a:solidFill>
                      <a:schemeClr val="bg1"/>
                    </a:solidFill>
                    <a:latin typeface="Consolas" panose="020B0609020204030204" pitchFamily="49" charset="0"/>
                    <a:ea typeface="华文中宋" panose="02010600040101010101" pitchFamily="2" charset="-122"/>
                  </a:rPr>
                  <a:t>在算法代码中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72435623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0BED97-61E4-95DF-35CE-F366316275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组合 12">
            <a:extLst>
              <a:ext uri="{FF2B5EF4-FFF2-40B4-BE49-F238E27FC236}">
                <a16:creationId xmlns:a16="http://schemas.microsoft.com/office/drawing/2014/main" id="{326C4287-B9BF-9433-EBD8-085F2FA7FB0E}"/>
              </a:ext>
            </a:extLst>
          </p:cNvPr>
          <p:cNvGrpSpPr/>
          <p:nvPr/>
        </p:nvGrpSpPr>
        <p:grpSpPr>
          <a:xfrm>
            <a:off x="-12700" y="-13335"/>
            <a:ext cx="3762375" cy="874395"/>
            <a:chOff x="-12700" y="-13335"/>
            <a:chExt cx="3762375" cy="874395"/>
          </a:xfrm>
        </p:grpSpPr>
        <p:sp>
          <p:nvSpPr>
            <p:cNvPr id="14" name="矩形 13">
              <a:extLst>
                <a:ext uri="{FF2B5EF4-FFF2-40B4-BE49-F238E27FC236}">
                  <a16:creationId xmlns:a16="http://schemas.microsoft.com/office/drawing/2014/main" id="{CF046910-4C08-4E54-E022-9DBEC868F3C5}"/>
                </a:ext>
              </a:extLst>
            </p:cNvPr>
            <p:cNvSpPr/>
            <p:nvPr/>
          </p:nvSpPr>
          <p:spPr>
            <a:xfrm>
              <a:off x="-12700" y="784860"/>
              <a:ext cx="3762375" cy="76200"/>
            </a:xfrm>
            <a:prstGeom prst="rect">
              <a:avLst/>
            </a:prstGeom>
            <a:solidFill>
              <a:schemeClr val="tx2">
                <a:lumMod val="75000"/>
                <a:lumOff val="2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5" name="矩形 14">
              <a:extLst>
                <a:ext uri="{FF2B5EF4-FFF2-40B4-BE49-F238E27FC236}">
                  <a16:creationId xmlns:a16="http://schemas.microsoft.com/office/drawing/2014/main" id="{0865B6DB-1DF1-7BFE-709A-247A41FBEB45}"/>
                </a:ext>
              </a:extLst>
            </p:cNvPr>
            <p:cNvSpPr/>
            <p:nvPr/>
          </p:nvSpPr>
          <p:spPr>
            <a:xfrm>
              <a:off x="-12700" y="-13335"/>
              <a:ext cx="874395" cy="874395"/>
            </a:xfrm>
            <a:prstGeom prst="rect">
              <a:avLst/>
            </a:prstGeom>
            <a:solidFill>
              <a:schemeClr val="tx2">
                <a:lumMod val="75000"/>
                <a:lumOff val="2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4800">
                  <a:latin typeface="微软雅黑" panose="020B0503020204020204" pitchFamily="34" charset="-122"/>
                  <a:ea typeface="微软雅黑" panose="020B0503020204020204" pitchFamily="34" charset="-122"/>
                </a:rPr>
                <a:t>3</a:t>
              </a:r>
            </a:p>
          </p:txBody>
        </p:sp>
        <p:sp>
          <p:nvSpPr>
            <p:cNvPr id="16" name="文本框 15">
              <a:extLst>
                <a:ext uri="{FF2B5EF4-FFF2-40B4-BE49-F238E27FC236}">
                  <a16:creationId xmlns:a16="http://schemas.microsoft.com/office/drawing/2014/main" id="{95C96022-2030-81C7-99D1-136A53B4B4F1}"/>
                </a:ext>
              </a:extLst>
            </p:cNvPr>
            <p:cNvSpPr txBox="1"/>
            <p:nvPr/>
          </p:nvSpPr>
          <p:spPr>
            <a:xfrm>
              <a:off x="861695" y="0"/>
              <a:ext cx="2887980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4800" b="1">
                  <a:solidFill>
                    <a:schemeClr val="tx2">
                      <a:lumMod val="75000"/>
                      <a:lumOff val="25000"/>
                    </a:schemeClr>
                  </a:solidFill>
                  <a:latin typeface="华文中宋" panose="02010600040101010101" pitchFamily="2" charset="-122"/>
                  <a:ea typeface="华文中宋" panose="02010600040101010101" pitchFamily="2" charset="-122"/>
                </a:rPr>
                <a:t>实验过程</a:t>
              </a:r>
            </a:p>
          </p:txBody>
        </p:sp>
      </p:grpSp>
      <p:grpSp>
        <p:nvGrpSpPr>
          <p:cNvPr id="8" name="组合 7">
            <a:extLst>
              <a:ext uri="{FF2B5EF4-FFF2-40B4-BE49-F238E27FC236}">
                <a16:creationId xmlns:a16="http://schemas.microsoft.com/office/drawing/2014/main" id="{D7C76B6F-A3EB-7D96-72A1-6191DA0B9F1B}"/>
              </a:ext>
            </a:extLst>
          </p:cNvPr>
          <p:cNvGrpSpPr/>
          <p:nvPr/>
        </p:nvGrpSpPr>
        <p:grpSpPr>
          <a:xfrm>
            <a:off x="1243660" y="703708"/>
            <a:ext cx="10862346" cy="5853350"/>
            <a:chOff x="1237872" y="1037156"/>
            <a:chExt cx="10862346" cy="5853350"/>
          </a:xfrm>
        </p:grpSpPr>
        <p:grpSp>
          <p:nvGrpSpPr>
            <p:cNvPr id="46" name="组合 45">
              <a:extLst>
                <a:ext uri="{FF2B5EF4-FFF2-40B4-BE49-F238E27FC236}">
                  <a16:creationId xmlns:a16="http://schemas.microsoft.com/office/drawing/2014/main" id="{4322FAE7-887A-E9EF-0416-42FE3ECD88B2}"/>
                </a:ext>
              </a:extLst>
            </p:cNvPr>
            <p:cNvGrpSpPr/>
            <p:nvPr/>
          </p:nvGrpSpPr>
          <p:grpSpPr>
            <a:xfrm>
              <a:off x="1237872" y="1456192"/>
              <a:ext cx="10336812" cy="5434314"/>
              <a:chOff x="861695" y="1276785"/>
              <a:chExt cx="10336812" cy="5434314"/>
            </a:xfrm>
          </p:grpSpPr>
          <p:sp>
            <p:nvSpPr>
              <p:cNvPr id="17" name="矩形: 圆角 16">
                <a:extLst>
                  <a:ext uri="{FF2B5EF4-FFF2-40B4-BE49-F238E27FC236}">
                    <a16:creationId xmlns:a16="http://schemas.microsoft.com/office/drawing/2014/main" id="{89E6E7F8-DB81-15C8-7B0F-B92474AE48A6}"/>
                  </a:ext>
                </a:extLst>
              </p:cNvPr>
              <p:cNvSpPr/>
              <p:nvPr/>
            </p:nvSpPr>
            <p:spPr>
              <a:xfrm>
                <a:off x="861695" y="1276785"/>
                <a:ext cx="10336812" cy="5434314"/>
              </a:xfrm>
              <a:prstGeom prst="roundRect">
                <a:avLst/>
              </a:prstGeom>
              <a:solidFill>
                <a:srgbClr val="D9D9D9"/>
              </a:solidFill>
              <a:ln w="19050">
                <a:solidFill>
                  <a:srgbClr val="324273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2" name="文本框 41">
                <a:extLst>
                  <a:ext uri="{FF2B5EF4-FFF2-40B4-BE49-F238E27FC236}">
                    <a16:creationId xmlns:a16="http://schemas.microsoft.com/office/drawing/2014/main" id="{42E5AC0A-2CE2-2DFB-95B0-0EB5D15F782A}"/>
                  </a:ext>
                </a:extLst>
              </p:cNvPr>
              <p:cNvSpPr txBox="1"/>
              <p:nvPr/>
            </p:nvSpPr>
            <p:spPr>
              <a:xfrm>
                <a:off x="1052985" y="3991668"/>
                <a:ext cx="2505395" cy="50456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>
                <a:defPPr>
                  <a:defRPr lang="zh-CN"/>
                </a:defPPr>
                <a:lvl1pPr algn="ctr">
                  <a:defRPr sz="2800" b="1">
                    <a:solidFill>
                      <a:srgbClr val="324273"/>
                    </a:solidFill>
                    <a:latin typeface="Consolas" panose="020B0609020204030204" pitchFamily="49" charset="0"/>
                    <a:ea typeface="华文中宋" panose="02010600040101010101" pitchFamily="2" charset="-122"/>
                  </a:defRPr>
                </a:lvl1pPr>
              </a:lstStyle>
              <a:p>
                <a:pPr algn="just">
                  <a:lnSpc>
                    <a:spcPct val="150000"/>
                  </a:lnSpc>
                </a:pPr>
                <a:endParaRPr lang="zh-CN" altLang="en-US" sz="2000" b="0"/>
              </a:p>
            </p:txBody>
          </p:sp>
        </p:grpSp>
        <p:sp>
          <p:nvSpPr>
            <p:cNvPr id="5" name="文本框 4">
              <a:extLst>
                <a:ext uri="{FF2B5EF4-FFF2-40B4-BE49-F238E27FC236}">
                  <a16:creationId xmlns:a16="http://schemas.microsoft.com/office/drawing/2014/main" id="{4ABD65C2-72D8-6F1C-4701-F4C69115FEB8}"/>
                </a:ext>
              </a:extLst>
            </p:cNvPr>
            <p:cNvSpPr txBox="1"/>
            <p:nvPr/>
          </p:nvSpPr>
          <p:spPr>
            <a:xfrm>
              <a:off x="1862699" y="1558277"/>
              <a:ext cx="10237519" cy="533222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zh-CN"/>
              </a:defPPr>
              <a:lvl1pPr>
                <a:lnSpc>
                  <a:spcPct val="150000"/>
                </a:lnSpc>
                <a:defRPr sz="1400">
                  <a:latin typeface="Fira Code Medium" pitchFamily="1" charset="0"/>
                  <a:ea typeface="楷体" panose="02010609060101010101" pitchFamily="49" charset="-122"/>
                  <a:cs typeface="Fira Code Medium" pitchFamily="1" charset="0"/>
                </a:defRPr>
              </a:lvl1pPr>
            </a:lstStyle>
            <a:p>
              <a:r>
                <a:rPr lang="en-US" altLang="zh-CN" sz="1200"/>
                <a:t>find "$CODE_DIR" -type f | while IFS= read -r src;</a:t>
              </a:r>
            </a:p>
            <a:p>
              <a:r>
                <a:rPr lang="en-US" altLang="zh-CN" sz="1200"/>
                <a:t>do</a:t>
              </a:r>
            </a:p>
            <a:p>
              <a:r>
                <a:rPr lang="en-US" altLang="zh-CN" sz="1200"/>
                <a:t>    src_name="${src##*/}"</a:t>
              </a:r>
            </a:p>
            <a:p>
              <a:r>
                <a:rPr lang="en-US" altLang="zh-CN" sz="1200"/>
                <a:t>    out_name="${src_name%%.*}.out"</a:t>
              </a:r>
            </a:p>
            <a:p>
              <a:r>
                <a:rPr lang="en-US" altLang="zh-CN" sz="1200"/>
                <a:t>    echo "ready to compile $src_name and run..."</a:t>
              </a:r>
            </a:p>
            <a:p>
              <a:r>
                <a:rPr lang="en-US" altLang="zh-CN" sz="1200"/>
                <a:t>    g++ "$src" -o "$out_name"</a:t>
              </a:r>
            </a:p>
            <a:p>
              <a:endParaRPr lang="en-US" altLang="zh-CN" sz="1200"/>
            </a:p>
            <a:p>
              <a:r>
                <a:rPr lang="en-US" altLang="zh-CN" sz="1200"/>
                <a:t>    find "$DATA_DIR" -type f | while IFS= read -r file;</a:t>
              </a:r>
            </a:p>
            <a:p>
              <a:r>
                <a:rPr lang="en-US" altLang="zh-CN" sz="1200"/>
                <a:t>    do</a:t>
              </a:r>
            </a:p>
            <a:p>
              <a:r>
                <a:rPr lang="en-US" altLang="zh-CN" sz="1200"/>
                <a:t>        file_name="${file##*/}"</a:t>
              </a:r>
            </a:p>
            <a:p>
              <a:r>
                <a:rPr lang="en-US" altLang="zh-CN" sz="1200"/>
                <a:t>        txt=".txt"</a:t>
              </a:r>
            </a:p>
            <a:p>
              <a:r>
                <a:rPr lang="en-US" altLang="zh-CN" sz="1200"/>
                <a:t>        ans="-ans.txt"</a:t>
              </a:r>
            </a:p>
            <a:p>
              <a:r>
                <a:rPr lang="en-US" altLang="zh-CN" sz="1200"/>
                <a:t>        if [[ $file_name == *$txt* ]] &amp;&amp; ! [[ $file_name == *$ans* ]]</a:t>
              </a:r>
            </a:p>
            <a:p>
              <a:r>
                <a:rPr lang="en-US" altLang="zh-CN" sz="1200"/>
                <a:t>        then</a:t>
              </a:r>
            </a:p>
            <a:p>
              <a:r>
                <a:rPr lang="en-US" altLang="zh-CN" sz="1200"/>
                <a:t>            echo "-testing $file_name"</a:t>
              </a:r>
            </a:p>
            <a:p>
              <a:r>
                <a:rPr lang="en-US" altLang="zh-CN" sz="1200"/>
                <a:t>            "./$out_name" &lt; "$file" &gt; "$RES_DIR/${src_name%%.*}-${file_name%%.*}.txt"</a:t>
              </a:r>
            </a:p>
            <a:p>
              <a:r>
                <a:rPr lang="en-US" altLang="zh-CN" sz="1200"/>
                <a:t>        fi</a:t>
              </a:r>
            </a:p>
            <a:p>
              <a:r>
                <a:rPr lang="en-US" altLang="zh-CN" sz="1200"/>
                <a:t>    done</a:t>
              </a:r>
            </a:p>
            <a:p>
              <a:r>
                <a:rPr lang="en-US" altLang="zh-CN" sz="1200"/>
                <a:t>done</a:t>
              </a:r>
              <a:endParaRPr lang="zh-CN" altLang="en-US" sz="1200"/>
            </a:p>
          </p:txBody>
        </p:sp>
        <p:grpSp>
          <p:nvGrpSpPr>
            <p:cNvPr id="7" name="组合 6">
              <a:extLst>
                <a:ext uri="{FF2B5EF4-FFF2-40B4-BE49-F238E27FC236}">
                  <a16:creationId xmlns:a16="http://schemas.microsoft.com/office/drawing/2014/main" id="{75439538-4D37-0E51-A1A5-B9194B583133}"/>
                </a:ext>
              </a:extLst>
            </p:cNvPr>
            <p:cNvGrpSpPr/>
            <p:nvPr/>
          </p:nvGrpSpPr>
          <p:grpSpPr>
            <a:xfrm>
              <a:off x="8752200" y="1037156"/>
              <a:ext cx="2130106" cy="780559"/>
              <a:chOff x="5338062" y="810226"/>
              <a:chExt cx="2130106" cy="780559"/>
            </a:xfrm>
          </p:grpSpPr>
          <p:sp>
            <p:nvSpPr>
              <p:cNvPr id="35" name="矩形: 圆角 34">
                <a:extLst>
                  <a:ext uri="{FF2B5EF4-FFF2-40B4-BE49-F238E27FC236}">
                    <a16:creationId xmlns:a16="http://schemas.microsoft.com/office/drawing/2014/main" id="{2995DC6E-FD00-1766-3A09-B17DD44C94C0}"/>
                  </a:ext>
                </a:extLst>
              </p:cNvPr>
              <p:cNvSpPr/>
              <p:nvPr/>
            </p:nvSpPr>
            <p:spPr>
              <a:xfrm>
                <a:off x="5338063" y="810226"/>
                <a:ext cx="2130105" cy="780559"/>
              </a:xfrm>
              <a:prstGeom prst="roundRect">
                <a:avLst/>
              </a:prstGeom>
              <a:solidFill>
                <a:srgbClr val="324273"/>
              </a:solidFill>
              <a:ln w="19050">
                <a:solidFill>
                  <a:srgbClr val="324273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" name="文本框 35">
                <a:extLst>
                  <a:ext uri="{FF2B5EF4-FFF2-40B4-BE49-F238E27FC236}">
                    <a16:creationId xmlns:a16="http://schemas.microsoft.com/office/drawing/2014/main" id="{FFB8556F-8279-0E6A-CCD2-E6C2B1FE1692}"/>
                  </a:ext>
                </a:extLst>
              </p:cNvPr>
              <p:cNvSpPr txBox="1"/>
              <p:nvPr/>
            </p:nvSpPr>
            <p:spPr>
              <a:xfrm>
                <a:off x="5338062" y="969672"/>
                <a:ext cx="2130105" cy="461665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sz="2400">
                    <a:solidFill>
                      <a:schemeClr val="bg1"/>
                    </a:solidFill>
                    <a:latin typeface="Consolas" panose="020B0609020204030204" pitchFamily="49" charset="0"/>
                    <a:ea typeface="华文中宋" panose="02010600040101010101" pitchFamily="2" charset="-122"/>
                  </a:rPr>
                  <a:t>script.sh</a:t>
                </a:r>
                <a:endParaRPr lang="zh-CN" altLang="en-US" sz="2400">
                  <a:solidFill>
                    <a:schemeClr val="bg1"/>
                  </a:solidFill>
                  <a:latin typeface="Consolas" panose="020B0609020204030204" pitchFamily="49" charset="0"/>
                  <a:ea typeface="华文中宋" panose="02010600040101010101" pitchFamily="2" charset="-122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37249190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79944E-E089-FCB9-5179-52613A16E1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组合 12">
            <a:extLst>
              <a:ext uri="{FF2B5EF4-FFF2-40B4-BE49-F238E27FC236}">
                <a16:creationId xmlns:a16="http://schemas.microsoft.com/office/drawing/2014/main" id="{73E47A02-DCF4-B370-5CBA-3FB988C19991}"/>
              </a:ext>
            </a:extLst>
          </p:cNvPr>
          <p:cNvGrpSpPr/>
          <p:nvPr/>
        </p:nvGrpSpPr>
        <p:grpSpPr>
          <a:xfrm>
            <a:off x="-12700" y="-13335"/>
            <a:ext cx="3762375" cy="874395"/>
            <a:chOff x="-12700" y="-13335"/>
            <a:chExt cx="3762375" cy="874395"/>
          </a:xfrm>
        </p:grpSpPr>
        <p:sp>
          <p:nvSpPr>
            <p:cNvPr id="14" name="矩形 13">
              <a:extLst>
                <a:ext uri="{FF2B5EF4-FFF2-40B4-BE49-F238E27FC236}">
                  <a16:creationId xmlns:a16="http://schemas.microsoft.com/office/drawing/2014/main" id="{A5454AF0-0E30-9BE9-4B52-90B3A792C431}"/>
                </a:ext>
              </a:extLst>
            </p:cNvPr>
            <p:cNvSpPr/>
            <p:nvPr/>
          </p:nvSpPr>
          <p:spPr>
            <a:xfrm>
              <a:off x="-12700" y="784860"/>
              <a:ext cx="3762375" cy="76200"/>
            </a:xfrm>
            <a:prstGeom prst="rect">
              <a:avLst/>
            </a:prstGeom>
            <a:solidFill>
              <a:schemeClr val="tx2">
                <a:lumMod val="75000"/>
                <a:lumOff val="2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5" name="矩形 14">
              <a:extLst>
                <a:ext uri="{FF2B5EF4-FFF2-40B4-BE49-F238E27FC236}">
                  <a16:creationId xmlns:a16="http://schemas.microsoft.com/office/drawing/2014/main" id="{C3FFF534-74C7-D2D5-F6A3-28144A8A273E}"/>
                </a:ext>
              </a:extLst>
            </p:cNvPr>
            <p:cNvSpPr/>
            <p:nvPr/>
          </p:nvSpPr>
          <p:spPr>
            <a:xfrm>
              <a:off x="-12700" y="-13335"/>
              <a:ext cx="874395" cy="874395"/>
            </a:xfrm>
            <a:prstGeom prst="rect">
              <a:avLst/>
            </a:prstGeom>
            <a:solidFill>
              <a:schemeClr val="tx2">
                <a:lumMod val="75000"/>
                <a:lumOff val="2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4800">
                  <a:latin typeface="微软雅黑" panose="020B0503020204020204" pitchFamily="34" charset="-122"/>
                  <a:ea typeface="微软雅黑" panose="020B0503020204020204" pitchFamily="34" charset="-122"/>
                </a:rPr>
                <a:t>3</a:t>
              </a:r>
            </a:p>
          </p:txBody>
        </p:sp>
        <p:sp>
          <p:nvSpPr>
            <p:cNvPr id="16" name="文本框 15">
              <a:extLst>
                <a:ext uri="{FF2B5EF4-FFF2-40B4-BE49-F238E27FC236}">
                  <a16:creationId xmlns:a16="http://schemas.microsoft.com/office/drawing/2014/main" id="{AE44B24F-BF3A-669B-BB1D-B45F9A350CDB}"/>
                </a:ext>
              </a:extLst>
            </p:cNvPr>
            <p:cNvSpPr txBox="1"/>
            <p:nvPr/>
          </p:nvSpPr>
          <p:spPr>
            <a:xfrm>
              <a:off x="861695" y="0"/>
              <a:ext cx="2887980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4800" b="1">
                  <a:solidFill>
                    <a:schemeClr val="tx2">
                      <a:lumMod val="75000"/>
                      <a:lumOff val="25000"/>
                    </a:schemeClr>
                  </a:solidFill>
                  <a:latin typeface="华文中宋" panose="02010600040101010101" pitchFamily="2" charset="-122"/>
                  <a:ea typeface="华文中宋" panose="02010600040101010101" pitchFamily="2" charset="-122"/>
                </a:rPr>
                <a:t>实验过程</a:t>
              </a:r>
            </a:p>
          </p:txBody>
        </p:sp>
      </p:grpSp>
      <p:grpSp>
        <p:nvGrpSpPr>
          <p:cNvPr id="7" name="组合 6">
            <a:extLst>
              <a:ext uri="{FF2B5EF4-FFF2-40B4-BE49-F238E27FC236}">
                <a16:creationId xmlns:a16="http://schemas.microsoft.com/office/drawing/2014/main" id="{01C3FAE6-D9D5-A9D0-A476-B42AB8F5D06F}"/>
              </a:ext>
            </a:extLst>
          </p:cNvPr>
          <p:cNvGrpSpPr/>
          <p:nvPr/>
        </p:nvGrpSpPr>
        <p:grpSpPr>
          <a:xfrm>
            <a:off x="861695" y="1991248"/>
            <a:ext cx="9217488" cy="3000746"/>
            <a:chOff x="861695" y="1246460"/>
            <a:chExt cx="9217488" cy="3000746"/>
          </a:xfrm>
        </p:grpSpPr>
        <p:sp>
          <p:nvSpPr>
            <p:cNvPr id="5" name="矩形: 圆角 4">
              <a:extLst>
                <a:ext uri="{FF2B5EF4-FFF2-40B4-BE49-F238E27FC236}">
                  <a16:creationId xmlns:a16="http://schemas.microsoft.com/office/drawing/2014/main" id="{F159F721-718B-272E-5150-6B3EE2D5F051}"/>
                </a:ext>
              </a:extLst>
            </p:cNvPr>
            <p:cNvSpPr/>
            <p:nvPr/>
          </p:nvSpPr>
          <p:spPr>
            <a:xfrm>
              <a:off x="1845773" y="1565229"/>
              <a:ext cx="8233410" cy="2681977"/>
            </a:xfrm>
            <a:prstGeom prst="roundRect">
              <a:avLst/>
            </a:prstGeom>
            <a:noFill/>
            <a:ln w="19050">
              <a:solidFill>
                <a:srgbClr val="32427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pSp>
          <p:nvGrpSpPr>
            <p:cNvPr id="4" name="组合 3">
              <a:extLst>
                <a:ext uri="{FF2B5EF4-FFF2-40B4-BE49-F238E27FC236}">
                  <a16:creationId xmlns:a16="http://schemas.microsoft.com/office/drawing/2014/main" id="{0B50B9F5-D9E3-6430-A992-650BE7D54A35}"/>
                </a:ext>
              </a:extLst>
            </p:cNvPr>
            <p:cNvGrpSpPr/>
            <p:nvPr/>
          </p:nvGrpSpPr>
          <p:grpSpPr>
            <a:xfrm>
              <a:off x="861695" y="1246460"/>
              <a:ext cx="8233410" cy="738794"/>
              <a:chOff x="1070610" y="2122170"/>
              <a:chExt cx="8233410" cy="738794"/>
            </a:xfrm>
          </p:grpSpPr>
          <p:sp>
            <p:nvSpPr>
              <p:cNvPr id="2" name="矩形 1">
                <a:extLst>
                  <a:ext uri="{FF2B5EF4-FFF2-40B4-BE49-F238E27FC236}">
                    <a16:creationId xmlns:a16="http://schemas.microsoft.com/office/drawing/2014/main" id="{F59E2144-3EFB-A0B7-4EB9-87F4D0CDE181}"/>
                  </a:ext>
                </a:extLst>
              </p:cNvPr>
              <p:cNvSpPr/>
              <p:nvPr/>
            </p:nvSpPr>
            <p:spPr>
              <a:xfrm>
                <a:off x="1070610" y="2122170"/>
                <a:ext cx="8233410" cy="637540"/>
              </a:xfrm>
              <a:prstGeom prst="rect">
                <a:avLst/>
              </a:prstGeom>
              <a:solidFill>
                <a:schemeClr val="tx2">
                  <a:lumMod val="75000"/>
                  <a:lumOff val="25000"/>
                </a:schemeClr>
              </a:solidFill>
              <a:ln>
                <a:solidFill>
                  <a:schemeClr val="tx2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2400">
                    <a:latin typeface="华文中宋" panose="02010600040101010101" pitchFamily="2" charset="-122"/>
                    <a:ea typeface="华文中宋" panose="02010600040101010101" pitchFamily="2" charset="-122"/>
                  </a:rPr>
                  <a:t>五、项目整理提交（</a:t>
                </a:r>
                <a:r>
                  <a:rPr lang="en-US" altLang="zh-CN" sz="2400">
                    <a:latin typeface="华文中宋" panose="02010600040101010101" pitchFamily="2" charset="-122"/>
                    <a:ea typeface="华文中宋" panose="02010600040101010101" pitchFamily="2" charset="-122"/>
                  </a:rPr>
                  <a:t>submit</a:t>
                </a:r>
                <a:r>
                  <a:rPr lang="zh-CN" altLang="en-US" sz="2400">
                    <a:latin typeface="华文中宋" panose="02010600040101010101" pitchFamily="2" charset="-122"/>
                    <a:ea typeface="华文中宋" panose="02010600040101010101" pitchFamily="2" charset="-122"/>
                  </a:rPr>
                  <a:t>分支）</a:t>
                </a:r>
              </a:p>
            </p:txBody>
          </p:sp>
          <p:sp>
            <p:nvSpPr>
              <p:cNvPr id="3" name="L 形 2">
                <a:extLst>
                  <a:ext uri="{FF2B5EF4-FFF2-40B4-BE49-F238E27FC236}">
                    <a16:creationId xmlns:a16="http://schemas.microsoft.com/office/drawing/2014/main" id="{73B6EA2F-90A6-0317-F052-88B9065FF084}"/>
                  </a:ext>
                </a:extLst>
              </p:cNvPr>
              <p:cNvSpPr/>
              <p:nvPr/>
            </p:nvSpPr>
            <p:spPr>
              <a:xfrm>
                <a:off x="1070610" y="2122170"/>
                <a:ext cx="619645" cy="738794"/>
              </a:xfrm>
              <a:prstGeom prst="corner">
                <a:avLst>
                  <a:gd name="adj1" fmla="val 38914"/>
                  <a:gd name="adj2" fmla="val 48191"/>
                </a:avLst>
              </a:prstGeom>
              <a:solidFill>
                <a:schemeClr val="bg1"/>
              </a:solidFill>
              <a:ln>
                <a:solidFill>
                  <a:srgbClr val="324273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sp>
          <p:nvSpPr>
            <p:cNvPr id="6" name="文本框 5">
              <a:extLst>
                <a:ext uri="{FF2B5EF4-FFF2-40B4-BE49-F238E27FC236}">
                  <a16:creationId xmlns:a16="http://schemas.microsoft.com/office/drawing/2014/main" id="{94AF84A3-B8A1-C6F4-4598-BC0B8967D4D8}"/>
                </a:ext>
              </a:extLst>
            </p:cNvPr>
            <p:cNvSpPr txBox="1"/>
            <p:nvPr/>
          </p:nvSpPr>
          <p:spPr>
            <a:xfrm>
              <a:off x="2305685" y="2423103"/>
              <a:ext cx="7501265" cy="96622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indent="457200" algn="just">
                <a:lnSpc>
                  <a:spcPct val="150000"/>
                </a:lnSpc>
              </a:pPr>
              <a:r>
                <a:rPr lang="zh-CN" altLang="en-US" sz="2000">
                  <a:solidFill>
                    <a:srgbClr val="324273"/>
                  </a:solidFill>
                  <a:latin typeface="Consolas" panose="020B0609020204030204" pitchFamily="49" charset="0"/>
                  <a:ea typeface="华文中宋" panose="02010600040101010101" pitchFamily="2" charset="-122"/>
                </a:rPr>
                <a:t>完成算法性能的记录和对比分析之后，实验内容已全部结束。我们会按照指导书的要求，格式化整理并提交所有资料。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40174271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0F3D6D-4807-8E72-A998-9F38DFD312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610682FB-D959-3869-A4F0-56A56A420529}"/>
              </a:ext>
            </a:extLst>
          </p:cNvPr>
          <p:cNvSpPr/>
          <p:nvPr/>
        </p:nvSpPr>
        <p:spPr>
          <a:xfrm>
            <a:off x="1933575" y="3660775"/>
            <a:ext cx="8324215" cy="427990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9B69523A-4F29-5776-0B78-E961AA483387}"/>
              </a:ext>
            </a:extLst>
          </p:cNvPr>
          <p:cNvSpPr/>
          <p:nvPr/>
        </p:nvSpPr>
        <p:spPr>
          <a:xfrm>
            <a:off x="3311574" y="2679382"/>
            <a:ext cx="874395" cy="874395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4800">
                <a:latin typeface="微软雅黑" panose="020B0503020204020204" pitchFamily="34" charset="-122"/>
                <a:ea typeface="微软雅黑" panose="020B0503020204020204" pitchFamily="34" charset="-122"/>
              </a:rPr>
              <a:t>4</a:t>
            </a: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360CD464-CA55-4A83-C60C-D58DAC6212B4}"/>
              </a:ext>
            </a:extLst>
          </p:cNvPr>
          <p:cNvSpPr txBox="1"/>
          <p:nvPr/>
        </p:nvSpPr>
        <p:spPr>
          <a:xfrm>
            <a:off x="4265836" y="2596177"/>
            <a:ext cx="5077735" cy="92333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zh-CN" altLang="en-US" sz="5400" b="1">
                <a:solidFill>
                  <a:schemeClr val="tx2">
                    <a:lumMod val="75000"/>
                    <a:lumOff val="25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实验结果与结论</a:t>
            </a:r>
          </a:p>
        </p:txBody>
      </p:sp>
      <p:cxnSp>
        <p:nvCxnSpPr>
          <p:cNvPr id="32" name="直接连接符 31">
            <a:extLst>
              <a:ext uri="{FF2B5EF4-FFF2-40B4-BE49-F238E27FC236}">
                <a16:creationId xmlns:a16="http://schemas.microsoft.com/office/drawing/2014/main" id="{B930C7C9-0577-687B-FD2C-4EF9C49B270E}"/>
              </a:ext>
            </a:extLst>
          </p:cNvPr>
          <p:cNvCxnSpPr/>
          <p:nvPr/>
        </p:nvCxnSpPr>
        <p:spPr>
          <a:xfrm>
            <a:off x="2157095" y="3874770"/>
            <a:ext cx="787781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" name="组合 3">
            <a:extLst>
              <a:ext uri="{FF2B5EF4-FFF2-40B4-BE49-F238E27FC236}">
                <a16:creationId xmlns:a16="http://schemas.microsoft.com/office/drawing/2014/main" id="{3E921E6E-A17C-A9ED-6B31-858A9602915A}"/>
              </a:ext>
            </a:extLst>
          </p:cNvPr>
          <p:cNvGrpSpPr/>
          <p:nvPr/>
        </p:nvGrpSpPr>
        <p:grpSpPr>
          <a:xfrm>
            <a:off x="0" y="-17780"/>
            <a:ext cx="1593850" cy="6095365"/>
            <a:chOff x="0" y="-17780"/>
            <a:chExt cx="1593850" cy="6095365"/>
          </a:xfrm>
        </p:grpSpPr>
        <p:sp>
          <p:nvSpPr>
            <p:cNvPr id="24" name="等腰三角形 23">
              <a:extLst>
                <a:ext uri="{FF2B5EF4-FFF2-40B4-BE49-F238E27FC236}">
                  <a16:creationId xmlns:a16="http://schemas.microsoft.com/office/drawing/2014/main" id="{33DBF714-09EE-A448-AA1D-D038BAA4E31D}"/>
                </a:ext>
              </a:extLst>
            </p:cNvPr>
            <p:cNvSpPr/>
            <p:nvPr/>
          </p:nvSpPr>
          <p:spPr>
            <a:xfrm rot="10800000">
              <a:off x="0" y="-17780"/>
              <a:ext cx="1593850" cy="1210945"/>
            </a:xfrm>
            <a:prstGeom prst="triangle">
              <a:avLst/>
            </a:prstGeom>
            <a:solidFill>
              <a:schemeClr val="tx2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33" name="直接连接符 32">
              <a:extLst>
                <a:ext uri="{FF2B5EF4-FFF2-40B4-BE49-F238E27FC236}">
                  <a16:creationId xmlns:a16="http://schemas.microsoft.com/office/drawing/2014/main" id="{1EB7F226-7EEC-E326-5CA7-9CC953FBA6FC}"/>
                </a:ext>
              </a:extLst>
            </p:cNvPr>
            <p:cNvCxnSpPr/>
            <p:nvPr/>
          </p:nvCxnSpPr>
          <p:spPr>
            <a:xfrm>
              <a:off x="200025" y="2540"/>
              <a:ext cx="0" cy="6075045"/>
            </a:xfrm>
            <a:prstGeom prst="line">
              <a:avLst/>
            </a:prstGeom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直接连接符 33">
              <a:extLst>
                <a:ext uri="{FF2B5EF4-FFF2-40B4-BE49-F238E27FC236}">
                  <a16:creationId xmlns:a16="http://schemas.microsoft.com/office/drawing/2014/main" id="{B1F10DAB-CD46-6DF6-54BC-DA994F6D7EE5}"/>
                </a:ext>
              </a:extLst>
            </p:cNvPr>
            <p:cNvCxnSpPr/>
            <p:nvPr/>
          </p:nvCxnSpPr>
          <p:spPr>
            <a:xfrm>
              <a:off x="409575" y="348615"/>
              <a:ext cx="0" cy="4763135"/>
            </a:xfrm>
            <a:prstGeom prst="line">
              <a:avLst/>
            </a:prstGeom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直接连接符 36">
              <a:extLst>
                <a:ext uri="{FF2B5EF4-FFF2-40B4-BE49-F238E27FC236}">
                  <a16:creationId xmlns:a16="http://schemas.microsoft.com/office/drawing/2014/main" id="{CDDB4395-2A22-B791-D76E-5F5CEC82F56D}"/>
                </a:ext>
              </a:extLst>
            </p:cNvPr>
            <p:cNvCxnSpPr/>
            <p:nvPr/>
          </p:nvCxnSpPr>
          <p:spPr>
            <a:xfrm>
              <a:off x="628015" y="576580"/>
              <a:ext cx="0" cy="3105150"/>
            </a:xfrm>
            <a:prstGeom prst="line">
              <a:avLst/>
            </a:prstGeom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" name="组合 4">
            <a:extLst>
              <a:ext uri="{FF2B5EF4-FFF2-40B4-BE49-F238E27FC236}">
                <a16:creationId xmlns:a16="http://schemas.microsoft.com/office/drawing/2014/main" id="{C5F8AF41-AC0A-6A1E-EFF6-EAFB6A27B736}"/>
              </a:ext>
            </a:extLst>
          </p:cNvPr>
          <p:cNvGrpSpPr/>
          <p:nvPr/>
        </p:nvGrpSpPr>
        <p:grpSpPr>
          <a:xfrm flipH="1">
            <a:off x="10598150" y="0"/>
            <a:ext cx="1593850" cy="6095365"/>
            <a:chOff x="0" y="-17780"/>
            <a:chExt cx="1593850" cy="6095365"/>
          </a:xfrm>
        </p:grpSpPr>
        <p:sp>
          <p:nvSpPr>
            <p:cNvPr id="6" name="等腰三角形 5">
              <a:extLst>
                <a:ext uri="{FF2B5EF4-FFF2-40B4-BE49-F238E27FC236}">
                  <a16:creationId xmlns:a16="http://schemas.microsoft.com/office/drawing/2014/main" id="{0507291B-0AF1-30F0-62E1-37B9687B8A4C}"/>
                </a:ext>
              </a:extLst>
            </p:cNvPr>
            <p:cNvSpPr/>
            <p:nvPr/>
          </p:nvSpPr>
          <p:spPr>
            <a:xfrm rot="10800000">
              <a:off x="0" y="-17780"/>
              <a:ext cx="1593850" cy="1210945"/>
            </a:xfrm>
            <a:prstGeom prst="triangle">
              <a:avLst/>
            </a:prstGeom>
            <a:solidFill>
              <a:schemeClr val="tx2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7" name="直接连接符 6">
              <a:extLst>
                <a:ext uri="{FF2B5EF4-FFF2-40B4-BE49-F238E27FC236}">
                  <a16:creationId xmlns:a16="http://schemas.microsoft.com/office/drawing/2014/main" id="{A29F9145-29E4-3B94-7EEA-F1704F5F3AA6}"/>
                </a:ext>
              </a:extLst>
            </p:cNvPr>
            <p:cNvCxnSpPr/>
            <p:nvPr/>
          </p:nvCxnSpPr>
          <p:spPr>
            <a:xfrm>
              <a:off x="200025" y="2540"/>
              <a:ext cx="0" cy="6075045"/>
            </a:xfrm>
            <a:prstGeom prst="line">
              <a:avLst/>
            </a:prstGeom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直接连接符 7">
              <a:extLst>
                <a:ext uri="{FF2B5EF4-FFF2-40B4-BE49-F238E27FC236}">
                  <a16:creationId xmlns:a16="http://schemas.microsoft.com/office/drawing/2014/main" id="{3B21B63A-40A0-CB30-083A-891EC4C460C5}"/>
                </a:ext>
              </a:extLst>
            </p:cNvPr>
            <p:cNvCxnSpPr/>
            <p:nvPr/>
          </p:nvCxnSpPr>
          <p:spPr>
            <a:xfrm>
              <a:off x="409575" y="348615"/>
              <a:ext cx="0" cy="4763135"/>
            </a:xfrm>
            <a:prstGeom prst="line">
              <a:avLst/>
            </a:prstGeom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直接连接符 8">
              <a:extLst>
                <a:ext uri="{FF2B5EF4-FFF2-40B4-BE49-F238E27FC236}">
                  <a16:creationId xmlns:a16="http://schemas.microsoft.com/office/drawing/2014/main" id="{96989900-7094-2B0E-A785-A5CB6588272D}"/>
                </a:ext>
              </a:extLst>
            </p:cNvPr>
            <p:cNvCxnSpPr/>
            <p:nvPr/>
          </p:nvCxnSpPr>
          <p:spPr>
            <a:xfrm>
              <a:off x="628015" y="576580"/>
              <a:ext cx="0" cy="3105150"/>
            </a:xfrm>
            <a:prstGeom prst="line">
              <a:avLst/>
            </a:prstGeom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custDataLst>
      <p:tags r:id="rId1"/>
    </p:custDataLst>
    <p:extLst>
      <p:ext uri="{BB962C8B-B14F-4D97-AF65-F5344CB8AC3E}">
        <p14:creationId xmlns:p14="http://schemas.microsoft.com/office/powerpoint/2010/main" val="387263993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B4FB0E-271D-A498-60E0-F0ECA2FB0D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组合 1">
            <a:extLst>
              <a:ext uri="{FF2B5EF4-FFF2-40B4-BE49-F238E27FC236}">
                <a16:creationId xmlns:a16="http://schemas.microsoft.com/office/drawing/2014/main" id="{E75D0551-F195-28F0-185A-74248FD02AC5}"/>
              </a:ext>
            </a:extLst>
          </p:cNvPr>
          <p:cNvGrpSpPr/>
          <p:nvPr/>
        </p:nvGrpSpPr>
        <p:grpSpPr>
          <a:xfrm>
            <a:off x="-12700" y="-13335"/>
            <a:ext cx="5365991" cy="874395"/>
            <a:chOff x="-12700" y="-13335"/>
            <a:chExt cx="5365991" cy="874395"/>
          </a:xfrm>
        </p:grpSpPr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2954CBC6-0784-8F1D-6658-8F6FEC7828BA}"/>
                </a:ext>
              </a:extLst>
            </p:cNvPr>
            <p:cNvSpPr/>
            <p:nvPr/>
          </p:nvSpPr>
          <p:spPr>
            <a:xfrm>
              <a:off x="-12700" y="784860"/>
              <a:ext cx="5365991" cy="46137"/>
            </a:xfrm>
            <a:prstGeom prst="rect">
              <a:avLst/>
            </a:prstGeom>
            <a:solidFill>
              <a:schemeClr val="tx2">
                <a:lumMod val="75000"/>
                <a:lumOff val="2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" name="矩形 7">
              <a:extLst>
                <a:ext uri="{FF2B5EF4-FFF2-40B4-BE49-F238E27FC236}">
                  <a16:creationId xmlns:a16="http://schemas.microsoft.com/office/drawing/2014/main" id="{0AD6D048-BF22-CD16-589F-111777D92751}"/>
                </a:ext>
              </a:extLst>
            </p:cNvPr>
            <p:cNvSpPr/>
            <p:nvPr/>
          </p:nvSpPr>
          <p:spPr>
            <a:xfrm>
              <a:off x="-12700" y="-13335"/>
              <a:ext cx="874395" cy="874395"/>
            </a:xfrm>
            <a:prstGeom prst="rect">
              <a:avLst/>
            </a:prstGeom>
            <a:solidFill>
              <a:schemeClr val="tx2">
                <a:lumMod val="75000"/>
                <a:lumOff val="2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4800">
                  <a:latin typeface="微软雅黑" panose="020B0503020204020204" pitchFamily="34" charset="-122"/>
                  <a:ea typeface="微软雅黑" panose="020B0503020204020204" pitchFamily="34" charset="-122"/>
                </a:rPr>
                <a:t>4</a:t>
              </a:r>
            </a:p>
          </p:txBody>
        </p:sp>
        <p:sp>
          <p:nvSpPr>
            <p:cNvPr id="10" name="文本框 9">
              <a:extLst>
                <a:ext uri="{FF2B5EF4-FFF2-40B4-BE49-F238E27FC236}">
                  <a16:creationId xmlns:a16="http://schemas.microsoft.com/office/drawing/2014/main" id="{904B3CDC-F00B-F608-6AFA-5C408D31FF5A}"/>
                </a:ext>
              </a:extLst>
            </p:cNvPr>
            <p:cNvSpPr txBox="1"/>
            <p:nvPr/>
          </p:nvSpPr>
          <p:spPr>
            <a:xfrm>
              <a:off x="861695" y="0"/>
              <a:ext cx="4491596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4800" b="1">
                  <a:solidFill>
                    <a:schemeClr val="tx2">
                      <a:lumMod val="75000"/>
                      <a:lumOff val="25000"/>
                    </a:schemeClr>
                  </a:solidFill>
                  <a:latin typeface="华文中宋" panose="02010600040101010101" pitchFamily="2" charset="-122"/>
                  <a:ea typeface="华文中宋" panose="02010600040101010101" pitchFamily="2" charset="-122"/>
                </a:rPr>
                <a:t>实验结果与结论</a:t>
              </a:r>
            </a:p>
          </p:txBody>
        </p:sp>
      </p:grpSp>
      <p:graphicFrame>
        <p:nvGraphicFramePr>
          <p:cNvPr id="24" name="表格 23">
            <a:extLst>
              <a:ext uri="{FF2B5EF4-FFF2-40B4-BE49-F238E27FC236}">
                <a16:creationId xmlns:a16="http://schemas.microsoft.com/office/drawing/2014/main" id="{2DAC2FF8-7159-3C63-9F33-3F35111A2CE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91733795"/>
              </p:ext>
            </p:extLst>
          </p:nvPr>
        </p:nvGraphicFramePr>
        <p:xfrm>
          <a:off x="290944" y="1170466"/>
          <a:ext cx="11610110" cy="2825211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61011">
                  <a:extLst>
                    <a:ext uri="{9D8B030D-6E8A-4147-A177-3AD203B41FA5}">
                      <a16:colId xmlns:a16="http://schemas.microsoft.com/office/drawing/2014/main" val="1932534948"/>
                    </a:ext>
                  </a:extLst>
                </a:gridCol>
                <a:gridCol w="1206794">
                  <a:extLst>
                    <a:ext uri="{9D8B030D-6E8A-4147-A177-3AD203B41FA5}">
                      <a16:colId xmlns:a16="http://schemas.microsoft.com/office/drawing/2014/main" val="301507719"/>
                    </a:ext>
                  </a:extLst>
                </a:gridCol>
                <a:gridCol w="1115228">
                  <a:extLst>
                    <a:ext uri="{9D8B030D-6E8A-4147-A177-3AD203B41FA5}">
                      <a16:colId xmlns:a16="http://schemas.microsoft.com/office/drawing/2014/main" val="1214023725"/>
                    </a:ext>
                  </a:extLst>
                </a:gridCol>
                <a:gridCol w="1161011">
                  <a:extLst>
                    <a:ext uri="{9D8B030D-6E8A-4147-A177-3AD203B41FA5}">
                      <a16:colId xmlns:a16="http://schemas.microsoft.com/office/drawing/2014/main" val="1364286172"/>
                    </a:ext>
                  </a:extLst>
                </a:gridCol>
                <a:gridCol w="1161011">
                  <a:extLst>
                    <a:ext uri="{9D8B030D-6E8A-4147-A177-3AD203B41FA5}">
                      <a16:colId xmlns:a16="http://schemas.microsoft.com/office/drawing/2014/main" val="1157769015"/>
                    </a:ext>
                  </a:extLst>
                </a:gridCol>
                <a:gridCol w="1161011">
                  <a:extLst>
                    <a:ext uri="{9D8B030D-6E8A-4147-A177-3AD203B41FA5}">
                      <a16:colId xmlns:a16="http://schemas.microsoft.com/office/drawing/2014/main" val="4208521872"/>
                    </a:ext>
                  </a:extLst>
                </a:gridCol>
                <a:gridCol w="1415935">
                  <a:extLst>
                    <a:ext uri="{9D8B030D-6E8A-4147-A177-3AD203B41FA5}">
                      <a16:colId xmlns:a16="http://schemas.microsoft.com/office/drawing/2014/main" val="3820699049"/>
                    </a:ext>
                  </a:extLst>
                </a:gridCol>
                <a:gridCol w="1163782">
                  <a:extLst>
                    <a:ext uri="{9D8B030D-6E8A-4147-A177-3AD203B41FA5}">
                      <a16:colId xmlns:a16="http://schemas.microsoft.com/office/drawing/2014/main" val="1994613604"/>
                    </a:ext>
                  </a:extLst>
                </a:gridCol>
                <a:gridCol w="1177636">
                  <a:extLst>
                    <a:ext uri="{9D8B030D-6E8A-4147-A177-3AD203B41FA5}">
                      <a16:colId xmlns:a16="http://schemas.microsoft.com/office/drawing/2014/main" val="2137169216"/>
                    </a:ext>
                  </a:extLst>
                </a:gridCol>
                <a:gridCol w="886691">
                  <a:extLst>
                    <a:ext uri="{9D8B030D-6E8A-4147-A177-3AD203B41FA5}">
                      <a16:colId xmlns:a16="http://schemas.microsoft.com/office/drawing/2014/main" val="188627707"/>
                    </a:ext>
                  </a:extLst>
                </a:gridCol>
              </a:tblGrid>
              <a:tr h="422063">
                <a:tc rowSpan="2">
                  <a:txBody>
                    <a:bodyPr/>
                    <a:lstStyle/>
                    <a:p>
                      <a:pPr algn="ctr" fontAlgn="ctr"/>
                      <a:r>
                        <a:rPr lang="en-US" sz="16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DATASET</a:t>
                      </a:r>
                    </a:p>
                  </a:txBody>
                  <a:tcPr marL="107671" marR="107671" marT="53835" marB="53835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fontAlgn="ctr"/>
                      <a:r>
                        <a:rPr lang="en-US" sz="16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MIN_COST</a:t>
                      </a:r>
                    </a:p>
                  </a:txBody>
                  <a:tcPr marL="107671" marR="107671" marT="53835" marB="53835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6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dp-0</a:t>
                      </a:r>
                    </a:p>
                  </a:txBody>
                  <a:tcPr marL="7477" marR="7477" marT="7477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fontAlgn="ctr"/>
                      <a:r>
                        <a:rPr lang="en-US" sz="16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dfs-0</a:t>
                      </a:r>
                    </a:p>
                  </a:txBody>
                  <a:tcPr marL="107671" marR="107671" marT="53835" marB="53835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fontAlgn="ctr"/>
                      <a:r>
                        <a:rPr lang="en-US" sz="16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dfs-1</a:t>
                      </a:r>
                    </a:p>
                  </a:txBody>
                  <a:tcPr marL="107671" marR="107671" marT="53835" marB="53835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fontAlgn="ctr"/>
                      <a:r>
                        <a:rPr lang="en-US" sz="16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dfs-2</a:t>
                      </a:r>
                    </a:p>
                  </a:txBody>
                  <a:tcPr marL="107671" marR="107671" marT="53835" marB="53835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6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bfs-0</a:t>
                      </a:r>
                    </a:p>
                  </a:txBody>
                  <a:tcPr marL="7477" marR="7477" marT="7477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62599664"/>
                  </a:ext>
                </a:extLst>
              </a:tr>
              <a:tr h="436664"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6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Time</a:t>
                      </a:r>
                    </a:p>
                  </a:txBody>
                  <a:tcPr marL="7477" marR="7477" marT="7477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6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Time</a:t>
                      </a:r>
                    </a:p>
                  </a:txBody>
                  <a:tcPr marL="7477" marR="7477" marT="7477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6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rec_cnt</a:t>
                      </a:r>
                    </a:p>
                  </a:txBody>
                  <a:tcPr marL="7477" marR="7477" marT="7477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6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Time</a:t>
                      </a:r>
                    </a:p>
                  </a:txBody>
                  <a:tcPr marL="7477" marR="7477" marT="7477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6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rec_cnt</a:t>
                      </a:r>
                    </a:p>
                  </a:txBody>
                  <a:tcPr marL="7477" marR="7477" marT="7477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6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Time</a:t>
                      </a:r>
                    </a:p>
                  </a:txBody>
                  <a:tcPr marL="7477" marR="7477" marT="7477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6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rec_cnt</a:t>
                      </a:r>
                    </a:p>
                  </a:txBody>
                  <a:tcPr marL="7477" marR="7477" marT="7477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6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Time</a:t>
                      </a:r>
                    </a:p>
                  </a:txBody>
                  <a:tcPr marL="7477" marR="7477" marT="7477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23089940"/>
                  </a:ext>
                </a:extLst>
              </a:tr>
              <a:tr h="436664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6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five5</a:t>
                      </a:r>
                    </a:p>
                  </a:txBody>
                  <a:tcPr marL="7477" marR="7477" marT="7477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zh-CN" sz="16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19</a:t>
                      </a:r>
                    </a:p>
                  </a:txBody>
                  <a:tcPr marL="7477" marR="7477" marT="7477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6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0</a:t>
                      </a:r>
                    </a:p>
                  </a:txBody>
                  <a:tcPr marL="7477" marR="7477" marT="7477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6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0</a:t>
                      </a:r>
                    </a:p>
                  </a:txBody>
                  <a:tcPr marL="7477" marR="7477" marT="7477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6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62</a:t>
                      </a:r>
                    </a:p>
                  </a:txBody>
                  <a:tcPr marL="7477" marR="7477" marT="7477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zh-CN" sz="16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0</a:t>
                      </a:r>
                    </a:p>
                  </a:txBody>
                  <a:tcPr marL="7477" marR="7477" marT="7477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zh-CN" sz="16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31</a:t>
                      </a:r>
                    </a:p>
                  </a:txBody>
                  <a:tcPr marL="7477" marR="7477" marT="7477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zh-CN" sz="16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0</a:t>
                      </a:r>
                    </a:p>
                  </a:txBody>
                  <a:tcPr marL="7477" marR="7477" marT="7477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zh-CN" sz="16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62</a:t>
                      </a:r>
                    </a:p>
                  </a:txBody>
                  <a:tcPr marL="7477" marR="7477" marT="7477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zh-CN" sz="16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0.33</a:t>
                      </a:r>
                    </a:p>
                  </a:txBody>
                  <a:tcPr marL="7477" marR="7477" marT="7477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09395377"/>
                  </a:ext>
                </a:extLst>
              </a:tr>
              <a:tr h="5099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6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p15</a:t>
                      </a:r>
                    </a:p>
                  </a:txBody>
                  <a:tcPr marL="7477" marR="7477" marT="7477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6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291</a:t>
                      </a:r>
                    </a:p>
                  </a:txBody>
                  <a:tcPr marL="7477" marR="7477" marT="7477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6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16</a:t>
                      </a:r>
                    </a:p>
                  </a:txBody>
                  <a:tcPr marL="7477" marR="7477" marT="7477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zh-CN" sz="16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8467.33</a:t>
                      </a:r>
                    </a:p>
                  </a:txBody>
                  <a:tcPr marL="7477" marR="7477" marT="7477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zh-CN" sz="16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364724160</a:t>
                      </a:r>
                    </a:p>
                  </a:txBody>
                  <a:tcPr marL="7477" marR="7477" marT="7477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zh-CN" sz="16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34</a:t>
                      </a:r>
                    </a:p>
                  </a:txBody>
                  <a:tcPr marL="7477" marR="7477" marT="7477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zh-CN" sz="16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1613542</a:t>
                      </a:r>
                    </a:p>
                  </a:txBody>
                  <a:tcPr marL="7477" marR="7477" marT="7477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zh-CN" sz="16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31786.33</a:t>
                      </a:r>
                    </a:p>
                  </a:txBody>
                  <a:tcPr marL="7477" marR="7477" marT="7477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zh-CN" sz="16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207713158</a:t>
                      </a:r>
                    </a:p>
                  </a:txBody>
                  <a:tcPr marL="7477" marR="7477" marT="7477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zh-CN" altLang="en-US" sz="16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7477" marR="7477" marT="7477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52102232"/>
                  </a:ext>
                </a:extLst>
              </a:tr>
              <a:tr h="50994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ulyssses16</a:t>
                      </a:r>
                    </a:p>
                  </a:txBody>
                  <a:tcPr marL="7477" marR="7477" marT="7477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6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71</a:t>
                      </a:r>
                    </a:p>
                  </a:txBody>
                  <a:tcPr marL="7477" marR="7477" marT="7477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6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33</a:t>
                      </a:r>
                    </a:p>
                  </a:txBody>
                  <a:tcPr marL="7477" marR="7477" marT="7477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zh-CN" altLang="en-US" sz="16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7477" marR="7477" marT="7477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zh-CN" altLang="en-US" sz="16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7477" marR="7477" marT="7477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6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302456</a:t>
                      </a:r>
                    </a:p>
                  </a:txBody>
                  <a:tcPr marL="7477" marR="7477" marT="7477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6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15887259562</a:t>
                      </a:r>
                    </a:p>
                  </a:txBody>
                  <a:tcPr marL="7477" marR="7477" marT="7477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zh-CN" altLang="en-US" sz="16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7477" marR="7477" marT="7477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zh-CN" altLang="en-US" sz="16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7477" marR="7477" marT="7477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zh-CN" altLang="en-US" sz="16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7477" marR="7477" marT="7477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46383214"/>
                  </a:ext>
                </a:extLst>
              </a:tr>
              <a:tr h="5099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6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gr17</a:t>
                      </a:r>
                    </a:p>
                  </a:txBody>
                  <a:tcPr marL="7477" marR="7477" marT="7477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6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2085</a:t>
                      </a:r>
                    </a:p>
                  </a:txBody>
                  <a:tcPr marL="7477" marR="7477" marT="7477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6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70</a:t>
                      </a:r>
                    </a:p>
                  </a:txBody>
                  <a:tcPr marL="7477" marR="7477" marT="7477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zh-CN" altLang="en-US" sz="16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7477" marR="7477" marT="7477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zh-CN" altLang="en-US" sz="16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7477" marR="7477" marT="7477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zh-CN" sz="16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211214.3</a:t>
                      </a:r>
                    </a:p>
                  </a:txBody>
                  <a:tcPr marL="7477" marR="7477" marT="7477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zh-CN" sz="16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12457317253</a:t>
                      </a:r>
                    </a:p>
                  </a:txBody>
                  <a:tcPr marL="7477" marR="7477" marT="7477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zh-CN" altLang="en-US" sz="16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7477" marR="7477" marT="7477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zh-CN" altLang="en-US" sz="16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7477" marR="7477" marT="7477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zh-CN" altLang="en-US" sz="1600" b="0" i="0" u="none" strike="noStrike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等线" panose="02010600030101010101" pitchFamily="2" charset="-122"/>
                        </a:rPr>
                        <a:t>　</a:t>
                      </a:r>
                    </a:p>
                  </a:txBody>
                  <a:tcPr marL="7477" marR="7477" marT="7477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2427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49224154"/>
                  </a:ext>
                </a:extLst>
              </a:tr>
            </a:tbl>
          </a:graphicData>
        </a:graphic>
      </p:graphicFrame>
      <p:sp>
        <p:nvSpPr>
          <p:cNvPr id="25" name="文本框 24">
            <a:extLst>
              <a:ext uri="{FF2B5EF4-FFF2-40B4-BE49-F238E27FC236}">
                <a16:creationId xmlns:a16="http://schemas.microsoft.com/office/drawing/2014/main" id="{6428B170-030D-36A8-8DFC-63D43F8EEA3D}"/>
              </a:ext>
            </a:extLst>
          </p:cNvPr>
          <p:cNvSpPr txBox="1"/>
          <p:nvPr/>
        </p:nvSpPr>
        <p:spPr>
          <a:xfrm>
            <a:off x="1380258" y="3995677"/>
            <a:ext cx="943148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400" i="1">
                <a:solidFill>
                  <a:srgbClr val="324273"/>
                </a:solidFill>
                <a:latin typeface="Consolas" panose="020B0609020204030204" pitchFamily="49" charset="0"/>
                <a:ea typeface="华文中宋" panose="02010600040101010101" pitchFamily="2" charset="-122"/>
              </a:rPr>
              <a:t>注：</a:t>
            </a:r>
            <a:r>
              <a:rPr lang="en-US" altLang="zh-CN" sz="1400" i="1">
                <a:solidFill>
                  <a:srgbClr val="324273"/>
                </a:solidFill>
                <a:latin typeface="Consolas" panose="020B0609020204030204" pitchFamily="49" charset="0"/>
                <a:ea typeface="华文中宋" panose="02010600040101010101" pitchFamily="2" charset="-122"/>
              </a:rPr>
              <a:t>DATASET</a:t>
            </a:r>
            <a:r>
              <a:rPr lang="zh-CN" altLang="en-US" sz="1400" i="1">
                <a:solidFill>
                  <a:srgbClr val="324273"/>
                </a:solidFill>
                <a:latin typeface="Consolas" panose="020B0609020204030204" pitchFamily="49" charset="0"/>
                <a:ea typeface="华文中宋" panose="02010600040101010101" pitchFamily="2" charset="-122"/>
              </a:rPr>
              <a:t>命名为名称</a:t>
            </a:r>
            <a:r>
              <a:rPr lang="en-US" altLang="zh-CN" sz="1400" i="1">
                <a:solidFill>
                  <a:srgbClr val="324273"/>
                </a:solidFill>
                <a:latin typeface="Consolas" panose="020B0609020204030204" pitchFamily="49" charset="0"/>
                <a:ea typeface="华文中宋" panose="02010600040101010101" pitchFamily="2" charset="-122"/>
              </a:rPr>
              <a:t>+</a:t>
            </a:r>
            <a:r>
              <a:rPr lang="zh-CN" altLang="en-US" sz="1400" i="1">
                <a:solidFill>
                  <a:srgbClr val="324273"/>
                </a:solidFill>
                <a:latin typeface="Consolas" panose="020B0609020204030204" pitchFamily="49" charset="0"/>
                <a:ea typeface="华文中宋" panose="02010600040101010101" pitchFamily="2" charset="-122"/>
              </a:rPr>
              <a:t>数据规模，运行时间以毫秒为单位，</a:t>
            </a:r>
            <a:r>
              <a:rPr lang="en-US" altLang="zh-CN" sz="1400" i="1">
                <a:solidFill>
                  <a:srgbClr val="324273"/>
                </a:solidFill>
                <a:latin typeface="Consolas" panose="020B0609020204030204" pitchFamily="49" charset="0"/>
                <a:ea typeface="华文中宋" panose="02010600040101010101" pitchFamily="2" charset="-122"/>
              </a:rPr>
              <a:t>rec_cnt</a:t>
            </a:r>
            <a:r>
              <a:rPr lang="zh-CN" altLang="en-US" sz="1400" i="1">
                <a:solidFill>
                  <a:srgbClr val="324273"/>
                </a:solidFill>
                <a:latin typeface="Consolas" panose="020B0609020204030204" pitchFamily="49" charset="0"/>
                <a:ea typeface="华文中宋" panose="02010600040101010101" pitchFamily="2" charset="-122"/>
              </a:rPr>
              <a:t>为函数递归次数</a:t>
            </a: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2E7BDFDB-A705-98D3-30BC-8548818BF034}"/>
              </a:ext>
            </a:extLst>
          </p:cNvPr>
          <p:cNvSpPr txBox="1"/>
          <p:nvPr/>
        </p:nvSpPr>
        <p:spPr>
          <a:xfrm>
            <a:off x="623453" y="4335146"/>
            <a:ext cx="10945091" cy="22477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defRPr>
                <a:solidFill>
                  <a:srgbClr val="324273"/>
                </a:solidFill>
                <a:latin typeface="Consolas" panose="020B0609020204030204" pitchFamily="49" charset="0"/>
                <a:ea typeface="华文中宋" panose="02010600040101010101" pitchFamily="2" charset="-122"/>
              </a:defRPr>
            </a:lvl1pPr>
          </a:lstStyle>
          <a:p>
            <a:pPr indent="457200" algn="just">
              <a:lnSpc>
                <a:spcPct val="150000"/>
              </a:lnSpc>
            </a:pPr>
            <a:r>
              <a:rPr lang="zh-CN" altLang="en-US" sz="2400"/>
              <a:t>由上表可看出，算法性能基本与前述一致。其中</a:t>
            </a:r>
            <a:r>
              <a:rPr lang="en-US" altLang="zh-CN" sz="2400"/>
              <a:t>dfs-1</a:t>
            </a:r>
            <a:r>
              <a:rPr lang="zh-CN" altLang="en-US" sz="2400"/>
              <a:t>基于</a:t>
            </a:r>
            <a:r>
              <a:rPr lang="en-US" altLang="zh-CN" sz="2400"/>
              <a:t>dfs-0</a:t>
            </a:r>
            <a:r>
              <a:rPr lang="zh-CN" altLang="en-US" sz="2400"/>
              <a:t>的优化最为明显，在同一数据集下，递归次数减少了</a:t>
            </a:r>
            <a:r>
              <a:rPr lang="en-US" altLang="zh-CN" sz="2400"/>
              <a:t>200</a:t>
            </a:r>
            <a:r>
              <a:rPr lang="zh-CN" altLang="en-US" sz="2400"/>
              <a:t>倍，而</a:t>
            </a:r>
            <a:r>
              <a:rPr lang="en-US" altLang="zh-CN" sz="2400"/>
              <a:t>dfs-2</a:t>
            </a:r>
            <a:r>
              <a:rPr lang="zh-CN" altLang="en-US" sz="2400"/>
              <a:t>的劣化也同样显著，较于</a:t>
            </a:r>
            <a:r>
              <a:rPr lang="en-US" altLang="zh-CN" sz="2400"/>
              <a:t>dfs-1</a:t>
            </a:r>
            <a:r>
              <a:rPr lang="zh-CN" altLang="en-US" sz="2400"/>
              <a:t>性能全面下降，较于</a:t>
            </a:r>
            <a:r>
              <a:rPr lang="en-US" altLang="zh-CN" sz="2400"/>
              <a:t>dfs-0</a:t>
            </a:r>
            <a:r>
              <a:rPr lang="zh-CN" altLang="en-US" sz="2400"/>
              <a:t>，虽然递归次数减少，但是由于大量的排序操作，运行时间明显提升。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58194738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094CE4-76D4-9D76-0526-F945A41A7F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组合 1">
            <a:extLst>
              <a:ext uri="{FF2B5EF4-FFF2-40B4-BE49-F238E27FC236}">
                <a16:creationId xmlns:a16="http://schemas.microsoft.com/office/drawing/2014/main" id="{9F40B0E2-0A84-5391-7546-44AE9835237E}"/>
              </a:ext>
            </a:extLst>
          </p:cNvPr>
          <p:cNvGrpSpPr/>
          <p:nvPr/>
        </p:nvGrpSpPr>
        <p:grpSpPr>
          <a:xfrm>
            <a:off x="-12700" y="-13335"/>
            <a:ext cx="5365991" cy="874395"/>
            <a:chOff x="-12700" y="-13335"/>
            <a:chExt cx="5365991" cy="874395"/>
          </a:xfrm>
        </p:grpSpPr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63453AC6-FEEE-D192-74EE-55545BB34BA3}"/>
                </a:ext>
              </a:extLst>
            </p:cNvPr>
            <p:cNvSpPr/>
            <p:nvPr/>
          </p:nvSpPr>
          <p:spPr>
            <a:xfrm>
              <a:off x="-12700" y="784860"/>
              <a:ext cx="5365991" cy="46137"/>
            </a:xfrm>
            <a:prstGeom prst="rect">
              <a:avLst/>
            </a:prstGeom>
            <a:solidFill>
              <a:schemeClr val="tx2">
                <a:lumMod val="75000"/>
                <a:lumOff val="2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" name="矩形 7">
              <a:extLst>
                <a:ext uri="{FF2B5EF4-FFF2-40B4-BE49-F238E27FC236}">
                  <a16:creationId xmlns:a16="http://schemas.microsoft.com/office/drawing/2014/main" id="{09E7EF7E-479D-CE27-B2CE-AD8D00A899E6}"/>
                </a:ext>
              </a:extLst>
            </p:cNvPr>
            <p:cNvSpPr/>
            <p:nvPr/>
          </p:nvSpPr>
          <p:spPr>
            <a:xfrm>
              <a:off x="-12700" y="-13335"/>
              <a:ext cx="874395" cy="874395"/>
            </a:xfrm>
            <a:prstGeom prst="rect">
              <a:avLst/>
            </a:prstGeom>
            <a:solidFill>
              <a:schemeClr val="tx2">
                <a:lumMod val="75000"/>
                <a:lumOff val="2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4800">
                  <a:latin typeface="微软雅黑" panose="020B0503020204020204" pitchFamily="34" charset="-122"/>
                  <a:ea typeface="微软雅黑" panose="020B0503020204020204" pitchFamily="34" charset="-122"/>
                </a:rPr>
                <a:t>4</a:t>
              </a:r>
            </a:p>
          </p:txBody>
        </p:sp>
        <p:sp>
          <p:nvSpPr>
            <p:cNvPr id="10" name="文本框 9">
              <a:extLst>
                <a:ext uri="{FF2B5EF4-FFF2-40B4-BE49-F238E27FC236}">
                  <a16:creationId xmlns:a16="http://schemas.microsoft.com/office/drawing/2014/main" id="{A2520692-8EEF-0AB9-8AC3-A6368E594BD9}"/>
                </a:ext>
              </a:extLst>
            </p:cNvPr>
            <p:cNvSpPr txBox="1"/>
            <p:nvPr/>
          </p:nvSpPr>
          <p:spPr>
            <a:xfrm>
              <a:off x="861695" y="0"/>
              <a:ext cx="4491596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4800" b="1">
                  <a:solidFill>
                    <a:schemeClr val="tx2">
                      <a:lumMod val="75000"/>
                      <a:lumOff val="25000"/>
                    </a:schemeClr>
                  </a:solidFill>
                  <a:latin typeface="华文中宋" panose="02010600040101010101" pitchFamily="2" charset="-122"/>
                  <a:ea typeface="华文中宋" panose="02010600040101010101" pitchFamily="2" charset="-122"/>
                </a:rPr>
                <a:t>实验结果与结论</a:t>
              </a:r>
            </a:p>
          </p:txBody>
        </p:sp>
      </p:grp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E3467C09-2BC2-909E-0053-4DE65ACC20D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24726471"/>
              </p:ext>
            </p:extLst>
          </p:nvPr>
        </p:nvGraphicFramePr>
        <p:xfrm>
          <a:off x="5425988" y="260904"/>
          <a:ext cx="6703664" cy="615012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837958">
                  <a:extLst>
                    <a:ext uri="{9D8B030D-6E8A-4147-A177-3AD203B41FA5}">
                      <a16:colId xmlns:a16="http://schemas.microsoft.com/office/drawing/2014/main" val="374577516"/>
                    </a:ext>
                  </a:extLst>
                </a:gridCol>
                <a:gridCol w="837958">
                  <a:extLst>
                    <a:ext uri="{9D8B030D-6E8A-4147-A177-3AD203B41FA5}">
                      <a16:colId xmlns:a16="http://schemas.microsoft.com/office/drawing/2014/main" val="2477894980"/>
                    </a:ext>
                  </a:extLst>
                </a:gridCol>
                <a:gridCol w="837958">
                  <a:extLst>
                    <a:ext uri="{9D8B030D-6E8A-4147-A177-3AD203B41FA5}">
                      <a16:colId xmlns:a16="http://schemas.microsoft.com/office/drawing/2014/main" val="3136627069"/>
                    </a:ext>
                  </a:extLst>
                </a:gridCol>
                <a:gridCol w="837958">
                  <a:extLst>
                    <a:ext uri="{9D8B030D-6E8A-4147-A177-3AD203B41FA5}">
                      <a16:colId xmlns:a16="http://schemas.microsoft.com/office/drawing/2014/main" val="2386008483"/>
                    </a:ext>
                  </a:extLst>
                </a:gridCol>
                <a:gridCol w="837958">
                  <a:extLst>
                    <a:ext uri="{9D8B030D-6E8A-4147-A177-3AD203B41FA5}">
                      <a16:colId xmlns:a16="http://schemas.microsoft.com/office/drawing/2014/main" val="1045130555"/>
                    </a:ext>
                  </a:extLst>
                </a:gridCol>
                <a:gridCol w="837958">
                  <a:extLst>
                    <a:ext uri="{9D8B030D-6E8A-4147-A177-3AD203B41FA5}">
                      <a16:colId xmlns:a16="http://schemas.microsoft.com/office/drawing/2014/main" val="177678242"/>
                    </a:ext>
                  </a:extLst>
                </a:gridCol>
                <a:gridCol w="837958">
                  <a:extLst>
                    <a:ext uri="{9D8B030D-6E8A-4147-A177-3AD203B41FA5}">
                      <a16:colId xmlns:a16="http://schemas.microsoft.com/office/drawing/2014/main" val="452382741"/>
                    </a:ext>
                  </a:extLst>
                </a:gridCol>
                <a:gridCol w="837958">
                  <a:extLst>
                    <a:ext uri="{9D8B030D-6E8A-4147-A177-3AD203B41FA5}">
                      <a16:colId xmlns:a16="http://schemas.microsoft.com/office/drawing/2014/main" val="352822285"/>
                    </a:ext>
                  </a:extLst>
                </a:gridCol>
              </a:tblGrid>
              <a:tr h="323691">
                <a:tc rowSpan="2"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sz="1100" b="0" i="0" u="none" strike="noStrike" kern="1200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华文中宋" panose="02010600040101010101" pitchFamily="2" charset="-122"/>
                          <a:cs typeface="+mn-cs"/>
                        </a:rPr>
                        <a:t>DATASET</a:t>
                      </a:r>
                    </a:p>
                  </a:txBody>
                  <a:tcPr marL="79814" marR="79814" marT="39907" marB="39907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324273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sz="1100" b="0" i="0" u="none" strike="noStrike" kern="1200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华文中宋" panose="02010600040101010101" pitchFamily="2" charset="-122"/>
                          <a:cs typeface="+mn-cs"/>
                        </a:rPr>
                        <a:t>MIN_COST</a:t>
                      </a:r>
                    </a:p>
                  </a:txBody>
                  <a:tcPr marL="79814" marR="79814" marT="39907" marB="39907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24273"/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华文中宋" panose="02010600040101010101" pitchFamily="2" charset="-122"/>
                        </a:rPr>
                        <a:t>greedy</a:t>
                      </a:r>
                    </a:p>
                  </a:txBody>
                  <a:tcPr marL="79814" marR="79814" marT="39907" marB="39907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24273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sz="1100" b="0" i="0" u="none" strike="noStrike" kern="1200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华文中宋" panose="02010600040101010101" pitchFamily="2" charset="-122"/>
                          <a:cs typeface="+mn-cs"/>
                        </a:rPr>
                        <a:t>MST</a:t>
                      </a:r>
                    </a:p>
                  </a:txBody>
                  <a:tcPr marL="79814" marR="79814" marT="39907" marB="39907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24273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87242206"/>
                  </a:ext>
                </a:extLst>
              </a:tr>
              <a:tr h="323691"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sz="1100" b="0" i="0" u="none" strike="noStrike" kern="1200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华文中宋" panose="02010600040101010101" pitchFamily="2" charset="-122"/>
                          <a:cs typeface="+mn-cs"/>
                        </a:rPr>
                        <a:t>Time</a:t>
                      </a:r>
                    </a:p>
                  </a:txBody>
                  <a:tcPr marL="5543" marR="5543" marT="5543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sz="1100" b="0" i="0" u="none" strike="noStrike" kern="1200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华文中宋" panose="02010600040101010101" pitchFamily="2" charset="-122"/>
                          <a:cs typeface="+mn-cs"/>
                        </a:rPr>
                        <a:t>min_cost</a:t>
                      </a:r>
                    </a:p>
                  </a:txBody>
                  <a:tcPr marL="5543" marR="5543" marT="5543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sz="1100" b="0" i="0" u="none" strike="noStrike" kern="1200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华文中宋" panose="02010600040101010101" pitchFamily="2" charset="-122"/>
                          <a:cs typeface="+mn-cs"/>
                        </a:rPr>
                        <a:t>ratio</a:t>
                      </a:r>
                    </a:p>
                  </a:txBody>
                  <a:tcPr marL="5543" marR="5543" marT="5543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sz="1100" b="0" i="0" u="none" strike="noStrike" kern="1200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华文中宋" panose="02010600040101010101" pitchFamily="2" charset="-122"/>
                          <a:cs typeface="+mn-cs"/>
                        </a:rPr>
                        <a:t>Time</a:t>
                      </a:r>
                    </a:p>
                  </a:txBody>
                  <a:tcPr marL="5543" marR="5543" marT="5543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sz="1100" b="0" i="0" u="none" strike="noStrike" kern="1200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华文中宋" panose="02010600040101010101" pitchFamily="2" charset="-122"/>
                          <a:cs typeface="+mn-cs"/>
                        </a:rPr>
                        <a:t>min_cost</a:t>
                      </a:r>
                    </a:p>
                  </a:txBody>
                  <a:tcPr marL="5543" marR="5543" marT="5543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sz="1100" b="0" i="0" u="none" strike="noStrike" kern="1200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华文中宋" panose="02010600040101010101" pitchFamily="2" charset="-122"/>
                          <a:cs typeface="+mn-cs"/>
                        </a:rPr>
                        <a:t>ratio</a:t>
                      </a:r>
                    </a:p>
                  </a:txBody>
                  <a:tcPr marL="5543" marR="5543" marT="5543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2427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01746539"/>
                  </a:ext>
                </a:extLst>
              </a:tr>
              <a:tr h="323691"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sz="1100" b="0" i="0" u="none" strike="noStrike" kern="1200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华文中宋" panose="02010600040101010101" pitchFamily="2" charset="-122"/>
                          <a:cs typeface="+mn-cs"/>
                        </a:rPr>
                        <a:t>five5</a:t>
                      </a:r>
                    </a:p>
                  </a:txBody>
                  <a:tcPr marL="5543" marR="5543" marT="5543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altLang="zh-CN" sz="1100" b="0" i="0" u="none" strike="noStrike" kern="1200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华文中宋" panose="02010600040101010101" pitchFamily="2" charset="-122"/>
                          <a:cs typeface="+mn-cs"/>
                        </a:rPr>
                        <a:t>19</a:t>
                      </a:r>
                    </a:p>
                  </a:txBody>
                  <a:tcPr marL="5543" marR="5543" marT="5543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altLang="zh-CN" sz="1100" b="0" i="0" u="none" strike="noStrike" kern="1200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华文中宋" panose="02010600040101010101" pitchFamily="2" charset="-122"/>
                          <a:cs typeface="+mn-cs"/>
                        </a:rPr>
                        <a:t>0</a:t>
                      </a:r>
                    </a:p>
                  </a:txBody>
                  <a:tcPr marL="5543" marR="5543" marT="5543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altLang="zh-CN" sz="1100" b="0" i="0" u="none" strike="noStrike" kern="1200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华文中宋" panose="02010600040101010101" pitchFamily="2" charset="-122"/>
                          <a:cs typeface="+mn-cs"/>
                        </a:rPr>
                        <a:t>21</a:t>
                      </a:r>
                    </a:p>
                  </a:txBody>
                  <a:tcPr marL="5543" marR="5543" marT="5543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altLang="zh-CN" sz="1100" b="0" i="0" u="none" strike="noStrike" kern="1200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华文中宋" panose="02010600040101010101" pitchFamily="2" charset="-122"/>
                          <a:cs typeface="+mn-cs"/>
                        </a:rPr>
                        <a:t>1.11 </a:t>
                      </a:r>
                    </a:p>
                  </a:txBody>
                  <a:tcPr marL="5543" marR="5543" marT="5543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altLang="zh-CN" sz="1100" b="0" i="0" u="none" strike="noStrike" kern="1200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华文中宋" panose="02010600040101010101" pitchFamily="2" charset="-122"/>
                          <a:cs typeface="+mn-cs"/>
                        </a:rPr>
                        <a:t>0</a:t>
                      </a:r>
                    </a:p>
                  </a:txBody>
                  <a:tcPr marL="5543" marR="5543" marT="5543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altLang="zh-CN" sz="1100" b="0" i="0" u="none" strike="noStrike" kern="1200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华文中宋" panose="02010600040101010101" pitchFamily="2" charset="-122"/>
                          <a:cs typeface="+mn-cs"/>
                        </a:rPr>
                        <a:t>21</a:t>
                      </a:r>
                    </a:p>
                  </a:txBody>
                  <a:tcPr marL="5543" marR="5543" marT="5543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altLang="zh-CN" sz="1100" b="0" i="0" u="none" strike="noStrike" kern="1200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华文中宋" panose="02010600040101010101" pitchFamily="2" charset="-122"/>
                          <a:cs typeface="+mn-cs"/>
                        </a:rPr>
                        <a:t>1.11 </a:t>
                      </a:r>
                    </a:p>
                  </a:txBody>
                  <a:tcPr marL="5543" marR="5543" marT="5543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2427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69340886"/>
                  </a:ext>
                </a:extLst>
              </a:tr>
              <a:tr h="323691"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sz="1100" b="0" i="0" u="none" strike="noStrike" kern="1200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华文中宋" panose="02010600040101010101" pitchFamily="2" charset="-122"/>
                          <a:cs typeface="+mn-cs"/>
                        </a:rPr>
                        <a:t>p15</a:t>
                      </a:r>
                    </a:p>
                  </a:txBody>
                  <a:tcPr marL="5543" marR="5543" marT="5543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altLang="zh-CN" sz="1100" b="0" i="0" u="none" strike="noStrike" kern="1200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华文中宋" panose="02010600040101010101" pitchFamily="2" charset="-122"/>
                          <a:cs typeface="+mn-cs"/>
                        </a:rPr>
                        <a:t>291</a:t>
                      </a:r>
                    </a:p>
                  </a:txBody>
                  <a:tcPr marL="5543" marR="5543" marT="5543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altLang="zh-CN" sz="1100" b="0" i="0" u="none" strike="noStrike" kern="1200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华文中宋" panose="02010600040101010101" pitchFamily="2" charset="-122"/>
                          <a:cs typeface="+mn-cs"/>
                        </a:rPr>
                        <a:t>0</a:t>
                      </a:r>
                    </a:p>
                  </a:txBody>
                  <a:tcPr marL="5543" marR="5543" marT="5543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altLang="zh-CN" sz="1100" b="0" i="0" u="none" strike="noStrike" kern="1200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华文中宋" panose="02010600040101010101" pitchFamily="2" charset="-122"/>
                          <a:cs typeface="+mn-cs"/>
                        </a:rPr>
                        <a:t>291</a:t>
                      </a:r>
                    </a:p>
                  </a:txBody>
                  <a:tcPr marL="5543" marR="5543" marT="5543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altLang="zh-CN" sz="1100" b="0" i="0" u="none" strike="noStrike" kern="1200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华文中宋" panose="02010600040101010101" pitchFamily="2" charset="-122"/>
                          <a:cs typeface="+mn-cs"/>
                        </a:rPr>
                        <a:t>1.00 </a:t>
                      </a:r>
                    </a:p>
                  </a:txBody>
                  <a:tcPr marL="5543" marR="5543" marT="5543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altLang="zh-CN" sz="1100" b="0" i="0" u="none" strike="noStrike" kern="1200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华文中宋" panose="02010600040101010101" pitchFamily="2" charset="-122"/>
                          <a:cs typeface="+mn-cs"/>
                        </a:rPr>
                        <a:t>0</a:t>
                      </a:r>
                    </a:p>
                  </a:txBody>
                  <a:tcPr marL="5543" marR="5543" marT="5543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altLang="zh-CN" sz="1100" b="0" i="0" u="none" strike="noStrike" kern="1200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华文中宋" panose="02010600040101010101" pitchFamily="2" charset="-122"/>
                          <a:cs typeface="+mn-cs"/>
                        </a:rPr>
                        <a:t>299</a:t>
                      </a:r>
                    </a:p>
                  </a:txBody>
                  <a:tcPr marL="5543" marR="5543" marT="5543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altLang="zh-CN" sz="1100" b="0" i="0" u="none" strike="noStrike" kern="1200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华文中宋" panose="02010600040101010101" pitchFamily="2" charset="-122"/>
                          <a:cs typeface="+mn-cs"/>
                        </a:rPr>
                        <a:t>1.03 </a:t>
                      </a:r>
                    </a:p>
                  </a:txBody>
                  <a:tcPr marL="5543" marR="5543" marT="5543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2427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83450804"/>
                  </a:ext>
                </a:extLst>
              </a:tr>
              <a:tr h="323691"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sz="1100" b="0" i="0" u="none" strike="noStrike" kern="1200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华文中宋" panose="02010600040101010101" pitchFamily="2" charset="-122"/>
                          <a:cs typeface="+mn-cs"/>
                        </a:rPr>
                        <a:t>ulysses22</a:t>
                      </a:r>
                    </a:p>
                  </a:txBody>
                  <a:tcPr marL="5543" marR="5543" marT="5543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altLang="zh-CN" sz="1100" b="0" i="0" u="none" strike="noStrike" kern="1200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华文中宋" panose="02010600040101010101" pitchFamily="2" charset="-122"/>
                          <a:cs typeface="+mn-cs"/>
                        </a:rPr>
                        <a:t>73</a:t>
                      </a:r>
                    </a:p>
                  </a:txBody>
                  <a:tcPr marL="5543" marR="5543" marT="5543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altLang="zh-CN" sz="1100" b="0" i="0" u="none" strike="noStrike" kern="1200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华文中宋" panose="02010600040101010101" pitchFamily="2" charset="-122"/>
                          <a:cs typeface="+mn-cs"/>
                        </a:rPr>
                        <a:t>0</a:t>
                      </a:r>
                    </a:p>
                  </a:txBody>
                  <a:tcPr marL="5543" marR="5543" marT="5543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altLang="zh-CN" sz="1100" b="0" i="0" u="none" strike="noStrike" kern="1200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华文中宋" panose="02010600040101010101" pitchFamily="2" charset="-122"/>
                          <a:cs typeface="+mn-cs"/>
                        </a:rPr>
                        <a:t>86</a:t>
                      </a:r>
                    </a:p>
                  </a:txBody>
                  <a:tcPr marL="5543" marR="5543" marT="5543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altLang="zh-CN" sz="1100" b="0" i="0" u="none" strike="noStrike" kern="1200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华文中宋" panose="02010600040101010101" pitchFamily="2" charset="-122"/>
                          <a:cs typeface="+mn-cs"/>
                        </a:rPr>
                        <a:t>1.18 </a:t>
                      </a:r>
                    </a:p>
                  </a:txBody>
                  <a:tcPr marL="5543" marR="5543" marT="5543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altLang="zh-CN" sz="1100" b="0" i="0" u="none" strike="noStrike" kern="1200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华文中宋" panose="02010600040101010101" pitchFamily="2" charset="-122"/>
                          <a:cs typeface="+mn-cs"/>
                        </a:rPr>
                        <a:t>2</a:t>
                      </a:r>
                    </a:p>
                  </a:txBody>
                  <a:tcPr marL="5543" marR="5543" marT="5543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altLang="zh-CN" sz="1100" b="0" i="0" u="none" strike="noStrike" kern="1200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华文中宋" panose="02010600040101010101" pitchFamily="2" charset="-122"/>
                          <a:cs typeface="+mn-cs"/>
                        </a:rPr>
                        <a:t>75</a:t>
                      </a:r>
                    </a:p>
                  </a:txBody>
                  <a:tcPr marL="5543" marR="5543" marT="5543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altLang="zh-CN" sz="1100" b="0" i="0" u="none" strike="noStrike" kern="1200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华文中宋" panose="02010600040101010101" pitchFamily="2" charset="-122"/>
                          <a:cs typeface="+mn-cs"/>
                        </a:rPr>
                        <a:t>1.03 </a:t>
                      </a:r>
                    </a:p>
                  </a:txBody>
                  <a:tcPr marL="5543" marR="5543" marT="5543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2427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5653574"/>
                  </a:ext>
                </a:extLst>
              </a:tr>
              <a:tr h="323691"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sz="1100" b="0" i="0" u="none" strike="noStrike" kern="1200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华文中宋" panose="02010600040101010101" pitchFamily="2" charset="-122"/>
                          <a:cs typeface="+mn-cs"/>
                        </a:rPr>
                        <a:t>fri26</a:t>
                      </a:r>
                    </a:p>
                  </a:txBody>
                  <a:tcPr marL="5543" marR="5543" marT="5543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altLang="zh-CN" sz="1100" b="0" i="0" u="none" strike="noStrike" kern="1200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华文中宋" panose="02010600040101010101" pitchFamily="2" charset="-122"/>
                          <a:cs typeface="+mn-cs"/>
                        </a:rPr>
                        <a:t>937</a:t>
                      </a:r>
                    </a:p>
                  </a:txBody>
                  <a:tcPr marL="5543" marR="5543" marT="5543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altLang="zh-CN" sz="1100" b="0" i="0" u="none" strike="noStrike" kern="1200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华文中宋" panose="02010600040101010101" pitchFamily="2" charset="-122"/>
                          <a:cs typeface="+mn-cs"/>
                        </a:rPr>
                        <a:t>0</a:t>
                      </a:r>
                    </a:p>
                  </a:txBody>
                  <a:tcPr marL="5543" marR="5543" marT="5543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altLang="zh-CN" sz="1100" b="0" i="0" u="none" strike="noStrike" kern="1200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华文中宋" panose="02010600040101010101" pitchFamily="2" charset="-122"/>
                          <a:cs typeface="+mn-cs"/>
                        </a:rPr>
                        <a:t>965</a:t>
                      </a:r>
                    </a:p>
                  </a:txBody>
                  <a:tcPr marL="5543" marR="5543" marT="5543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altLang="zh-CN" sz="1100" b="0" i="0" u="none" strike="noStrike" kern="1200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华文中宋" panose="02010600040101010101" pitchFamily="2" charset="-122"/>
                          <a:cs typeface="+mn-cs"/>
                        </a:rPr>
                        <a:t>1.03 </a:t>
                      </a:r>
                    </a:p>
                  </a:txBody>
                  <a:tcPr marL="5543" marR="5543" marT="5543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altLang="zh-CN" sz="1100" b="0" i="0" u="none" strike="noStrike" kern="1200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华文中宋" panose="02010600040101010101" pitchFamily="2" charset="-122"/>
                          <a:cs typeface="+mn-cs"/>
                        </a:rPr>
                        <a:t>0</a:t>
                      </a:r>
                    </a:p>
                  </a:txBody>
                  <a:tcPr marL="5543" marR="5543" marT="5543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altLang="zh-CN" sz="1100" b="0" i="0" u="none" strike="noStrike" kern="1200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华文中宋" panose="02010600040101010101" pitchFamily="2" charset="-122"/>
                          <a:cs typeface="+mn-cs"/>
                        </a:rPr>
                        <a:t>1102</a:t>
                      </a:r>
                    </a:p>
                  </a:txBody>
                  <a:tcPr marL="5543" marR="5543" marT="5543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altLang="zh-CN" sz="1100" b="0" i="0" u="none" strike="noStrike" kern="1200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华文中宋" panose="02010600040101010101" pitchFamily="2" charset="-122"/>
                          <a:cs typeface="+mn-cs"/>
                        </a:rPr>
                        <a:t>1.18 </a:t>
                      </a:r>
                    </a:p>
                  </a:txBody>
                  <a:tcPr marL="5543" marR="5543" marT="5543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2427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26716002"/>
                  </a:ext>
                </a:extLst>
              </a:tr>
              <a:tr h="323691"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sz="1100" b="0" i="0" u="none" strike="noStrike" kern="1200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华文中宋" panose="02010600040101010101" pitchFamily="2" charset="-122"/>
                          <a:cs typeface="+mn-cs"/>
                        </a:rPr>
                        <a:t>bays29</a:t>
                      </a:r>
                    </a:p>
                  </a:txBody>
                  <a:tcPr marL="5543" marR="5543" marT="5543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altLang="zh-CN" sz="1100" b="0" i="0" u="none" strike="noStrike" kern="1200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华文中宋" panose="02010600040101010101" pitchFamily="2" charset="-122"/>
                          <a:cs typeface="+mn-cs"/>
                        </a:rPr>
                        <a:t>9290</a:t>
                      </a:r>
                    </a:p>
                  </a:txBody>
                  <a:tcPr marL="5543" marR="5543" marT="5543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altLang="zh-CN" sz="1100" b="0" i="0" u="none" strike="noStrike" kern="1200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华文中宋" panose="02010600040101010101" pitchFamily="2" charset="-122"/>
                          <a:cs typeface="+mn-cs"/>
                        </a:rPr>
                        <a:t>0</a:t>
                      </a:r>
                    </a:p>
                  </a:txBody>
                  <a:tcPr marL="5543" marR="5543" marT="5543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altLang="zh-CN" sz="1100" b="0" i="0" u="none" strike="noStrike" kern="1200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华文中宋" panose="02010600040101010101" pitchFamily="2" charset="-122"/>
                          <a:cs typeface="+mn-cs"/>
                        </a:rPr>
                        <a:t>9962</a:t>
                      </a:r>
                    </a:p>
                  </a:txBody>
                  <a:tcPr marL="5543" marR="5543" marT="5543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altLang="zh-CN" sz="1100" b="0" i="0" u="none" strike="noStrike" kern="1200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华文中宋" panose="02010600040101010101" pitchFamily="2" charset="-122"/>
                          <a:cs typeface="+mn-cs"/>
                        </a:rPr>
                        <a:t>1.07 </a:t>
                      </a:r>
                    </a:p>
                  </a:txBody>
                  <a:tcPr marL="5543" marR="5543" marT="5543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altLang="zh-CN" sz="1100" b="0" i="0" u="none" strike="noStrike" kern="1200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华文中宋" panose="02010600040101010101" pitchFamily="2" charset="-122"/>
                          <a:cs typeface="+mn-cs"/>
                        </a:rPr>
                        <a:t>1</a:t>
                      </a:r>
                    </a:p>
                  </a:txBody>
                  <a:tcPr marL="5543" marR="5543" marT="5543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altLang="zh-CN" sz="1100" b="0" i="0" u="none" strike="noStrike" kern="1200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华文中宋" panose="02010600040101010101" pitchFamily="2" charset="-122"/>
                          <a:cs typeface="+mn-cs"/>
                        </a:rPr>
                        <a:t>10341</a:t>
                      </a:r>
                    </a:p>
                  </a:txBody>
                  <a:tcPr marL="5543" marR="5543" marT="5543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altLang="zh-CN" sz="1100" b="0" i="0" u="none" strike="noStrike" kern="1200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华文中宋" panose="02010600040101010101" pitchFamily="2" charset="-122"/>
                          <a:cs typeface="+mn-cs"/>
                        </a:rPr>
                        <a:t>1.11 </a:t>
                      </a:r>
                    </a:p>
                  </a:txBody>
                  <a:tcPr marL="5543" marR="5543" marT="5543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2427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73066091"/>
                  </a:ext>
                </a:extLst>
              </a:tr>
              <a:tr h="323691"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sz="1100" b="0" i="0" u="none" strike="noStrike" kern="1200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华文中宋" panose="02010600040101010101" pitchFamily="2" charset="-122"/>
                          <a:cs typeface="+mn-cs"/>
                        </a:rPr>
                        <a:t>att48</a:t>
                      </a:r>
                    </a:p>
                  </a:txBody>
                  <a:tcPr marL="5543" marR="5543" marT="5543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altLang="zh-CN" sz="1100" b="0" i="0" u="none" strike="noStrike" kern="1200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华文中宋" panose="02010600040101010101" pitchFamily="2" charset="-122"/>
                          <a:cs typeface="+mn-cs"/>
                        </a:rPr>
                        <a:t>33523</a:t>
                      </a:r>
                    </a:p>
                  </a:txBody>
                  <a:tcPr marL="5543" marR="5543" marT="5543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altLang="zh-CN" sz="1100" b="0" i="0" u="none" strike="noStrike" kern="1200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华文中宋" panose="02010600040101010101" pitchFamily="2" charset="-122"/>
                          <a:cs typeface="+mn-cs"/>
                        </a:rPr>
                        <a:t>0</a:t>
                      </a:r>
                    </a:p>
                  </a:txBody>
                  <a:tcPr marL="5543" marR="5543" marT="5543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altLang="zh-CN" sz="1100" b="0" i="0" u="none" strike="noStrike" kern="1200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华文中宋" panose="02010600040101010101" pitchFamily="2" charset="-122"/>
                          <a:cs typeface="+mn-cs"/>
                        </a:rPr>
                        <a:t>37928</a:t>
                      </a:r>
                    </a:p>
                  </a:txBody>
                  <a:tcPr marL="5543" marR="5543" marT="5543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altLang="zh-CN" sz="1100" b="0" i="0" u="none" strike="noStrike" kern="1200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华文中宋" panose="02010600040101010101" pitchFamily="2" charset="-122"/>
                          <a:cs typeface="+mn-cs"/>
                        </a:rPr>
                        <a:t>1.13 </a:t>
                      </a:r>
                    </a:p>
                  </a:txBody>
                  <a:tcPr marL="5543" marR="5543" marT="5543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altLang="zh-CN" sz="1100" b="0" i="0" u="none" strike="noStrike" kern="1200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华文中宋" panose="02010600040101010101" pitchFamily="2" charset="-122"/>
                          <a:cs typeface="+mn-cs"/>
                        </a:rPr>
                        <a:t>6</a:t>
                      </a:r>
                    </a:p>
                  </a:txBody>
                  <a:tcPr marL="5543" marR="5543" marT="5543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altLang="zh-CN" sz="1100" b="0" i="0" u="none" strike="noStrike" kern="1200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华文中宋" panose="02010600040101010101" pitchFamily="2" charset="-122"/>
                          <a:cs typeface="+mn-cs"/>
                        </a:rPr>
                        <a:t>41190</a:t>
                      </a:r>
                    </a:p>
                  </a:txBody>
                  <a:tcPr marL="5543" marR="5543" marT="5543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altLang="zh-CN" sz="1100" b="0" i="0" u="none" strike="noStrike" kern="1200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华文中宋" panose="02010600040101010101" pitchFamily="2" charset="-122"/>
                          <a:cs typeface="+mn-cs"/>
                        </a:rPr>
                        <a:t>1.23 </a:t>
                      </a:r>
                    </a:p>
                  </a:txBody>
                  <a:tcPr marL="5543" marR="5543" marT="5543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2427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73550849"/>
                  </a:ext>
                </a:extLst>
              </a:tr>
              <a:tr h="323691"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sz="1100" b="0" i="0" u="none" strike="noStrike" kern="1200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华文中宋" panose="02010600040101010101" pitchFamily="2" charset="-122"/>
                          <a:cs typeface="+mn-cs"/>
                        </a:rPr>
                        <a:t>st70</a:t>
                      </a:r>
                    </a:p>
                  </a:txBody>
                  <a:tcPr marL="5543" marR="5543" marT="5543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altLang="zh-CN" sz="1100" b="0" i="0" u="none" strike="noStrike" kern="1200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华文中宋" panose="02010600040101010101" pitchFamily="2" charset="-122"/>
                          <a:cs typeface="+mn-cs"/>
                        </a:rPr>
                        <a:t>675</a:t>
                      </a:r>
                    </a:p>
                  </a:txBody>
                  <a:tcPr marL="5543" marR="5543" marT="5543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altLang="zh-CN" sz="1100" b="0" i="0" u="none" strike="noStrike" kern="1200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华文中宋" panose="02010600040101010101" pitchFamily="2" charset="-122"/>
                          <a:cs typeface="+mn-cs"/>
                        </a:rPr>
                        <a:t>1</a:t>
                      </a:r>
                    </a:p>
                  </a:txBody>
                  <a:tcPr marL="5543" marR="5543" marT="5543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altLang="zh-CN" sz="1100" b="0" i="0" u="none" strike="noStrike" kern="1200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华文中宋" panose="02010600040101010101" pitchFamily="2" charset="-122"/>
                          <a:cs typeface="+mn-cs"/>
                        </a:rPr>
                        <a:t>796</a:t>
                      </a:r>
                    </a:p>
                  </a:txBody>
                  <a:tcPr marL="5543" marR="5543" marT="5543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altLang="zh-CN" sz="1100" b="0" i="0" u="none" strike="noStrike" kern="1200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华文中宋" panose="02010600040101010101" pitchFamily="2" charset="-122"/>
                          <a:cs typeface="+mn-cs"/>
                        </a:rPr>
                        <a:t>1.18 </a:t>
                      </a:r>
                    </a:p>
                  </a:txBody>
                  <a:tcPr marL="5543" marR="5543" marT="5543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altLang="zh-CN" sz="1100" b="0" i="0" u="none" strike="noStrike" kern="1200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华文中宋" panose="02010600040101010101" pitchFamily="2" charset="-122"/>
                          <a:cs typeface="+mn-cs"/>
                        </a:rPr>
                        <a:t>22</a:t>
                      </a:r>
                    </a:p>
                  </a:txBody>
                  <a:tcPr marL="5543" marR="5543" marT="5543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altLang="zh-CN" sz="1100" b="0" i="0" u="none" strike="noStrike" kern="1200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华文中宋" panose="02010600040101010101" pitchFamily="2" charset="-122"/>
                          <a:cs typeface="+mn-cs"/>
                        </a:rPr>
                        <a:t>862</a:t>
                      </a:r>
                    </a:p>
                  </a:txBody>
                  <a:tcPr marL="5543" marR="5543" marT="5543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altLang="zh-CN" sz="1100" b="0" i="0" u="none" strike="noStrike" kern="1200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华文中宋" panose="02010600040101010101" pitchFamily="2" charset="-122"/>
                          <a:cs typeface="+mn-cs"/>
                        </a:rPr>
                        <a:t>1.28 </a:t>
                      </a:r>
                    </a:p>
                  </a:txBody>
                  <a:tcPr marL="5543" marR="5543" marT="5543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2427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40563770"/>
                  </a:ext>
                </a:extLst>
              </a:tr>
              <a:tr h="323691"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sz="1100" b="0" i="0" u="none" strike="noStrike" kern="1200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华文中宋" panose="02010600040101010101" pitchFamily="2" charset="-122"/>
                          <a:cs typeface="+mn-cs"/>
                        </a:rPr>
                        <a:t>gr96</a:t>
                      </a:r>
                    </a:p>
                  </a:txBody>
                  <a:tcPr marL="5543" marR="5543" marT="5543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altLang="zh-CN" sz="1100" b="0" i="0" u="none" strike="noStrike" kern="1200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华文中宋" panose="02010600040101010101" pitchFamily="2" charset="-122"/>
                          <a:cs typeface="+mn-cs"/>
                        </a:rPr>
                        <a:t>502</a:t>
                      </a:r>
                    </a:p>
                  </a:txBody>
                  <a:tcPr marL="5543" marR="5543" marT="5543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altLang="zh-CN" sz="1100" b="0" i="0" u="none" strike="noStrike" kern="1200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华文中宋" panose="02010600040101010101" pitchFamily="2" charset="-122"/>
                          <a:cs typeface="+mn-cs"/>
                        </a:rPr>
                        <a:t>2</a:t>
                      </a:r>
                    </a:p>
                  </a:txBody>
                  <a:tcPr marL="5543" marR="5543" marT="5543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altLang="zh-CN" sz="1100" b="0" i="0" u="none" strike="noStrike" kern="1200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华文中宋" panose="02010600040101010101" pitchFamily="2" charset="-122"/>
                          <a:cs typeface="+mn-cs"/>
                        </a:rPr>
                        <a:t>583</a:t>
                      </a:r>
                    </a:p>
                  </a:txBody>
                  <a:tcPr marL="5543" marR="5543" marT="5543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altLang="zh-CN" sz="1100" b="0" i="0" u="none" strike="noStrike" kern="1200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华文中宋" panose="02010600040101010101" pitchFamily="2" charset="-122"/>
                          <a:cs typeface="+mn-cs"/>
                        </a:rPr>
                        <a:t>1.16 </a:t>
                      </a:r>
                    </a:p>
                  </a:txBody>
                  <a:tcPr marL="5543" marR="5543" marT="5543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altLang="zh-CN" sz="1100" b="0" i="0" u="none" strike="noStrike" kern="1200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华文中宋" panose="02010600040101010101" pitchFamily="2" charset="-122"/>
                          <a:cs typeface="+mn-cs"/>
                        </a:rPr>
                        <a:t>69</a:t>
                      </a:r>
                    </a:p>
                  </a:txBody>
                  <a:tcPr marL="5543" marR="5543" marT="5543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altLang="zh-CN" sz="1100" b="0" i="0" u="none" strike="noStrike" kern="1200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华文中宋" panose="02010600040101010101" pitchFamily="2" charset="-122"/>
                          <a:cs typeface="+mn-cs"/>
                        </a:rPr>
                        <a:t>634</a:t>
                      </a:r>
                    </a:p>
                  </a:txBody>
                  <a:tcPr marL="5543" marR="5543" marT="5543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altLang="zh-CN" sz="1100" b="0" i="0" u="none" strike="noStrike" kern="1200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华文中宋" panose="02010600040101010101" pitchFamily="2" charset="-122"/>
                          <a:cs typeface="+mn-cs"/>
                        </a:rPr>
                        <a:t>1.26 </a:t>
                      </a:r>
                    </a:p>
                  </a:txBody>
                  <a:tcPr marL="5543" marR="5543" marT="5543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2427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47593990"/>
                  </a:ext>
                </a:extLst>
              </a:tr>
              <a:tr h="323691"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sz="1100" b="0" i="0" u="none" strike="noStrike" kern="1200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华文中宋" panose="02010600040101010101" pitchFamily="2" charset="-122"/>
                          <a:cs typeface="+mn-cs"/>
                        </a:rPr>
                        <a:t>kroA100</a:t>
                      </a:r>
                    </a:p>
                  </a:txBody>
                  <a:tcPr marL="5543" marR="5543" marT="5543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altLang="zh-CN" sz="1100" b="0" i="0" u="none" strike="noStrike" kern="1200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华文中宋" panose="02010600040101010101" pitchFamily="2" charset="-122"/>
                          <a:cs typeface="+mn-cs"/>
                        </a:rPr>
                        <a:t>21282</a:t>
                      </a:r>
                    </a:p>
                  </a:txBody>
                  <a:tcPr marL="5543" marR="5543" marT="5543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altLang="zh-CN" sz="1100" b="0" i="0" u="none" strike="noStrike" kern="1200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华文中宋" panose="02010600040101010101" pitchFamily="2" charset="-122"/>
                          <a:cs typeface="+mn-cs"/>
                        </a:rPr>
                        <a:t>2</a:t>
                      </a:r>
                    </a:p>
                  </a:txBody>
                  <a:tcPr marL="5543" marR="5543" marT="5543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altLang="zh-CN" sz="1100" b="0" i="0" u="none" strike="noStrike" kern="1200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华文中宋" panose="02010600040101010101" pitchFamily="2" charset="-122"/>
                          <a:cs typeface="+mn-cs"/>
                        </a:rPr>
                        <a:t>24698</a:t>
                      </a:r>
                    </a:p>
                  </a:txBody>
                  <a:tcPr marL="5543" marR="5543" marT="5543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altLang="zh-CN" sz="1100" b="0" i="0" u="none" strike="noStrike" kern="1200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华文中宋" panose="02010600040101010101" pitchFamily="2" charset="-122"/>
                          <a:cs typeface="+mn-cs"/>
                        </a:rPr>
                        <a:t>1.16 </a:t>
                      </a:r>
                    </a:p>
                  </a:txBody>
                  <a:tcPr marL="5543" marR="5543" marT="5543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altLang="zh-CN" sz="1100" b="0" i="0" u="none" strike="noStrike" kern="1200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华文中宋" panose="02010600040101010101" pitchFamily="2" charset="-122"/>
                          <a:cs typeface="+mn-cs"/>
                        </a:rPr>
                        <a:t>84</a:t>
                      </a:r>
                    </a:p>
                  </a:txBody>
                  <a:tcPr marL="5543" marR="5543" marT="5543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altLang="zh-CN" sz="1100" b="0" i="0" u="none" strike="noStrike" kern="1200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华文中宋" panose="02010600040101010101" pitchFamily="2" charset="-122"/>
                          <a:cs typeface="+mn-cs"/>
                        </a:rPr>
                        <a:t>26442</a:t>
                      </a:r>
                    </a:p>
                  </a:txBody>
                  <a:tcPr marL="5543" marR="5543" marT="5543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altLang="zh-CN" sz="1100" b="0" i="0" u="none" strike="noStrike" kern="1200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华文中宋" panose="02010600040101010101" pitchFamily="2" charset="-122"/>
                          <a:cs typeface="+mn-cs"/>
                        </a:rPr>
                        <a:t>1.24 </a:t>
                      </a:r>
                    </a:p>
                  </a:txBody>
                  <a:tcPr marL="5543" marR="5543" marT="5543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2427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6343432"/>
                  </a:ext>
                </a:extLst>
              </a:tr>
              <a:tr h="32369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华文中宋" panose="02010600040101010101" pitchFamily="2" charset="-122"/>
                        </a:rPr>
                        <a:t>gr120</a:t>
                      </a:r>
                    </a:p>
                  </a:txBody>
                  <a:tcPr marL="5543" marR="5543" marT="5543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100" b="0" i="0" u="none" strike="noStrike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华文中宋" panose="02010600040101010101" pitchFamily="2" charset="-122"/>
                        </a:rPr>
                        <a:t>1667</a:t>
                      </a:r>
                    </a:p>
                  </a:txBody>
                  <a:tcPr marL="5543" marR="5543" marT="5543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100" b="0" i="0" u="none" strike="noStrike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华文中宋" panose="02010600040101010101" pitchFamily="2" charset="-122"/>
                        </a:rPr>
                        <a:t>4</a:t>
                      </a:r>
                    </a:p>
                  </a:txBody>
                  <a:tcPr marL="5543" marR="5543" marT="5543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100" b="0" i="0" u="none" strike="noStrike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华文中宋" panose="02010600040101010101" pitchFamily="2" charset="-122"/>
                        </a:rPr>
                        <a:t>1836</a:t>
                      </a:r>
                    </a:p>
                  </a:txBody>
                  <a:tcPr marL="5543" marR="5543" marT="5543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100" b="0" i="0" u="none" strike="noStrike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华文中宋" panose="02010600040101010101" pitchFamily="2" charset="-122"/>
                        </a:rPr>
                        <a:t>1.10 </a:t>
                      </a:r>
                    </a:p>
                  </a:txBody>
                  <a:tcPr marL="5543" marR="5543" marT="5543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100" b="0" i="0" u="none" strike="noStrike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华文中宋" panose="02010600040101010101" pitchFamily="2" charset="-122"/>
                        </a:rPr>
                        <a:t>169</a:t>
                      </a:r>
                    </a:p>
                  </a:txBody>
                  <a:tcPr marL="5543" marR="5543" marT="5543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altLang="zh-CN" sz="1100" b="0" i="0" u="none" strike="noStrike" kern="1200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华文中宋" panose="02010600040101010101" pitchFamily="2" charset="-122"/>
                          <a:cs typeface="+mn-cs"/>
                        </a:rPr>
                        <a:t>2101</a:t>
                      </a:r>
                    </a:p>
                  </a:txBody>
                  <a:tcPr marL="5543" marR="5543" marT="5543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100" b="0" i="0" u="none" strike="noStrike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华文中宋" panose="02010600040101010101" pitchFamily="2" charset="-122"/>
                        </a:rPr>
                        <a:t>1.26 </a:t>
                      </a:r>
                    </a:p>
                  </a:txBody>
                  <a:tcPr marL="5543" marR="5543" marT="5543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2427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9028486"/>
                  </a:ext>
                </a:extLst>
              </a:tr>
              <a:tr h="32369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华文中宋" panose="02010600040101010101" pitchFamily="2" charset="-122"/>
                        </a:rPr>
                        <a:t>ch150</a:t>
                      </a:r>
                    </a:p>
                  </a:txBody>
                  <a:tcPr marL="5543" marR="5543" marT="5543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100" b="0" i="0" u="none" strike="noStrike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华文中宋" panose="02010600040101010101" pitchFamily="2" charset="-122"/>
                        </a:rPr>
                        <a:t>6527</a:t>
                      </a:r>
                    </a:p>
                  </a:txBody>
                  <a:tcPr marL="5543" marR="5543" marT="5543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100" b="0" i="0" u="none" strike="noStrike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华文中宋" panose="02010600040101010101" pitchFamily="2" charset="-122"/>
                        </a:rPr>
                        <a:t>9</a:t>
                      </a:r>
                    </a:p>
                  </a:txBody>
                  <a:tcPr marL="5543" marR="5543" marT="5543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100" b="0" i="0" u="none" strike="noStrike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华文中宋" panose="02010600040101010101" pitchFamily="2" charset="-122"/>
                        </a:rPr>
                        <a:t>7213</a:t>
                      </a:r>
                    </a:p>
                  </a:txBody>
                  <a:tcPr marL="5543" marR="5543" marT="5543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100" b="0" i="0" u="none" strike="noStrike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华文中宋" panose="02010600040101010101" pitchFamily="2" charset="-122"/>
                        </a:rPr>
                        <a:t>1.11 </a:t>
                      </a:r>
                    </a:p>
                  </a:txBody>
                  <a:tcPr marL="5543" marR="5543" marT="5543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100" b="0" i="0" u="none" strike="noStrike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华文中宋" panose="02010600040101010101" pitchFamily="2" charset="-122"/>
                        </a:rPr>
                        <a:t>416</a:t>
                      </a:r>
                    </a:p>
                  </a:txBody>
                  <a:tcPr marL="5543" marR="5543" marT="5543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altLang="zh-CN" sz="1100" b="0" i="0" u="none" strike="noStrike" kern="1200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华文中宋" panose="02010600040101010101" pitchFamily="2" charset="-122"/>
                          <a:cs typeface="+mn-cs"/>
                        </a:rPr>
                        <a:t>8140</a:t>
                      </a:r>
                    </a:p>
                  </a:txBody>
                  <a:tcPr marL="5543" marR="5543" marT="5543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100" b="0" i="0" u="none" strike="noStrike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华文中宋" panose="02010600040101010101" pitchFamily="2" charset="-122"/>
                        </a:rPr>
                        <a:t>1.25 </a:t>
                      </a:r>
                    </a:p>
                  </a:txBody>
                  <a:tcPr marL="5543" marR="5543" marT="5543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2427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30000830"/>
                  </a:ext>
                </a:extLst>
              </a:tr>
              <a:tr h="32369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华文中宋" panose="02010600040101010101" pitchFamily="2" charset="-122"/>
                        </a:rPr>
                        <a:t>gr202</a:t>
                      </a:r>
                    </a:p>
                  </a:txBody>
                  <a:tcPr marL="5543" marR="5543" marT="5543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100" b="0" i="0" u="none" strike="noStrike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华文中宋" panose="02010600040101010101" pitchFamily="2" charset="-122"/>
                        </a:rPr>
                        <a:t>533</a:t>
                      </a:r>
                    </a:p>
                  </a:txBody>
                  <a:tcPr marL="5543" marR="5543" marT="5543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100" b="0" i="0" u="none" strike="noStrike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华文中宋" panose="02010600040101010101" pitchFamily="2" charset="-122"/>
                        </a:rPr>
                        <a:t>13</a:t>
                      </a:r>
                    </a:p>
                  </a:txBody>
                  <a:tcPr marL="5543" marR="5543" marT="5543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100" b="0" i="0" u="none" strike="noStrike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华文中宋" panose="02010600040101010101" pitchFamily="2" charset="-122"/>
                        </a:rPr>
                        <a:t>547</a:t>
                      </a:r>
                    </a:p>
                  </a:txBody>
                  <a:tcPr marL="5543" marR="5543" marT="5543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100" b="0" i="0" u="none" strike="noStrike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华文中宋" panose="02010600040101010101" pitchFamily="2" charset="-122"/>
                        </a:rPr>
                        <a:t>1.03 </a:t>
                      </a:r>
                    </a:p>
                  </a:txBody>
                  <a:tcPr marL="5543" marR="5543" marT="5543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100" b="0" i="0" u="none" strike="noStrike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华文中宋" panose="02010600040101010101" pitchFamily="2" charset="-122"/>
                        </a:rPr>
                        <a:t>1306</a:t>
                      </a:r>
                    </a:p>
                  </a:txBody>
                  <a:tcPr marL="5543" marR="5543" marT="5543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altLang="zh-CN" sz="1100" b="0" i="0" u="none" strike="noStrike" kern="1200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华文中宋" panose="02010600040101010101" pitchFamily="2" charset="-122"/>
                          <a:cs typeface="+mn-cs"/>
                        </a:rPr>
                        <a:t>588</a:t>
                      </a:r>
                    </a:p>
                  </a:txBody>
                  <a:tcPr marL="5543" marR="5543" marT="5543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100" b="0" i="0" u="none" strike="noStrike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华文中宋" panose="02010600040101010101" pitchFamily="2" charset="-122"/>
                        </a:rPr>
                        <a:t>1.10 </a:t>
                      </a:r>
                    </a:p>
                  </a:txBody>
                  <a:tcPr marL="5543" marR="5543" marT="5543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2427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2337279"/>
                  </a:ext>
                </a:extLst>
              </a:tr>
              <a:tr h="32369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华文中宋" panose="02010600040101010101" pitchFamily="2" charset="-122"/>
                        </a:rPr>
                        <a:t>a280</a:t>
                      </a:r>
                    </a:p>
                  </a:txBody>
                  <a:tcPr marL="5543" marR="5543" marT="5543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100" b="0" i="0" u="none" strike="noStrike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华文中宋" panose="02010600040101010101" pitchFamily="2" charset="-122"/>
                        </a:rPr>
                        <a:t>2579</a:t>
                      </a:r>
                    </a:p>
                  </a:txBody>
                  <a:tcPr marL="5543" marR="5543" marT="5543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100" b="0" i="0" u="none" strike="noStrike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华文中宋" panose="02010600040101010101" pitchFamily="2" charset="-122"/>
                        </a:rPr>
                        <a:t>31</a:t>
                      </a:r>
                    </a:p>
                  </a:txBody>
                  <a:tcPr marL="5543" marR="5543" marT="5543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100" b="0" i="0" u="none" strike="noStrike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华文中宋" panose="02010600040101010101" pitchFamily="2" charset="-122"/>
                        </a:rPr>
                        <a:t>2975</a:t>
                      </a:r>
                    </a:p>
                  </a:txBody>
                  <a:tcPr marL="5543" marR="5543" marT="5543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100" b="0" i="0" u="none" strike="noStrike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华文中宋" panose="02010600040101010101" pitchFamily="2" charset="-122"/>
                        </a:rPr>
                        <a:t>1.15 </a:t>
                      </a:r>
                    </a:p>
                  </a:txBody>
                  <a:tcPr marL="5543" marR="5543" marT="5543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100" b="0" i="0" u="none" strike="noStrike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华文中宋" panose="02010600040101010101" pitchFamily="2" charset="-122"/>
                        </a:rPr>
                        <a:t>4514</a:t>
                      </a:r>
                    </a:p>
                  </a:txBody>
                  <a:tcPr marL="5543" marR="5543" marT="5543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altLang="zh-CN" sz="1100" b="0" i="0" u="none" strike="noStrike" kern="1200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华文中宋" panose="02010600040101010101" pitchFamily="2" charset="-122"/>
                          <a:cs typeface="+mn-cs"/>
                        </a:rPr>
                        <a:t>3313</a:t>
                      </a:r>
                    </a:p>
                  </a:txBody>
                  <a:tcPr marL="5543" marR="5543" marT="5543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100" b="0" i="0" u="none" strike="noStrike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华文中宋" panose="02010600040101010101" pitchFamily="2" charset="-122"/>
                        </a:rPr>
                        <a:t>1.28 </a:t>
                      </a:r>
                    </a:p>
                  </a:txBody>
                  <a:tcPr marL="5543" marR="5543" marT="5543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2427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74194534"/>
                  </a:ext>
                </a:extLst>
              </a:tr>
              <a:tr h="32369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华文中宋" panose="02010600040101010101" pitchFamily="2" charset="-122"/>
                        </a:rPr>
                        <a:t>pcb442</a:t>
                      </a:r>
                    </a:p>
                  </a:txBody>
                  <a:tcPr marL="5543" marR="5543" marT="5543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100" b="0" i="0" u="none" strike="noStrike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华文中宋" panose="02010600040101010101" pitchFamily="2" charset="-122"/>
                        </a:rPr>
                        <a:t>50778</a:t>
                      </a:r>
                    </a:p>
                  </a:txBody>
                  <a:tcPr marL="5543" marR="5543" marT="5543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100" b="0" i="0" u="none" strike="noStrike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华文中宋" panose="02010600040101010101" pitchFamily="2" charset="-122"/>
                        </a:rPr>
                        <a:t>132</a:t>
                      </a:r>
                    </a:p>
                  </a:txBody>
                  <a:tcPr marL="5543" marR="5543" marT="5543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100" b="0" i="0" u="none" strike="noStrike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华文中宋" panose="02010600040101010101" pitchFamily="2" charset="-122"/>
                        </a:rPr>
                        <a:t>58950</a:t>
                      </a:r>
                    </a:p>
                  </a:txBody>
                  <a:tcPr marL="5543" marR="5543" marT="5543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100" b="0" i="0" u="none" strike="noStrike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华文中宋" panose="02010600040101010101" pitchFamily="2" charset="-122"/>
                        </a:rPr>
                        <a:t>1.16 </a:t>
                      </a:r>
                    </a:p>
                  </a:txBody>
                  <a:tcPr marL="5543" marR="5543" marT="5543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100" b="0" i="0" u="none" strike="noStrike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华文中宋" panose="02010600040101010101" pitchFamily="2" charset="-122"/>
                        </a:rPr>
                        <a:t>29490</a:t>
                      </a:r>
                    </a:p>
                  </a:txBody>
                  <a:tcPr marL="5543" marR="5543" marT="5543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altLang="zh-CN" sz="1100" b="0" i="0" u="none" strike="noStrike" kern="1200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华文中宋" panose="02010600040101010101" pitchFamily="2" charset="-122"/>
                          <a:cs typeface="+mn-cs"/>
                        </a:rPr>
                        <a:t>68397</a:t>
                      </a:r>
                    </a:p>
                  </a:txBody>
                  <a:tcPr marL="5543" marR="5543" marT="5543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100" b="0" i="0" u="none" strike="noStrike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华文中宋" panose="02010600040101010101" pitchFamily="2" charset="-122"/>
                        </a:rPr>
                        <a:t>1.35 </a:t>
                      </a:r>
                    </a:p>
                  </a:txBody>
                  <a:tcPr marL="5543" marR="5543" marT="5543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2427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47608036"/>
                  </a:ext>
                </a:extLst>
              </a:tr>
              <a:tr h="32369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华文中宋" panose="02010600040101010101" pitchFamily="2" charset="-122"/>
                        </a:rPr>
                        <a:t>pr1002</a:t>
                      </a:r>
                    </a:p>
                  </a:txBody>
                  <a:tcPr marL="5543" marR="5543" marT="5543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100" b="0" i="0" u="none" strike="noStrike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华文中宋" panose="02010600040101010101" pitchFamily="2" charset="-122"/>
                        </a:rPr>
                        <a:t>259045</a:t>
                      </a:r>
                    </a:p>
                  </a:txBody>
                  <a:tcPr marL="5543" marR="5543" marT="5543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100" b="0" i="0" u="none" strike="noStrike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华文中宋" panose="02010600040101010101" pitchFamily="2" charset="-122"/>
                        </a:rPr>
                        <a:t>1196</a:t>
                      </a:r>
                    </a:p>
                  </a:txBody>
                  <a:tcPr marL="5543" marR="5543" marT="5543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100" b="0" i="0" u="none" strike="noStrike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华文中宋" panose="02010600040101010101" pitchFamily="2" charset="-122"/>
                        </a:rPr>
                        <a:t>313745</a:t>
                      </a:r>
                    </a:p>
                  </a:txBody>
                  <a:tcPr marL="5543" marR="5543" marT="5543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100" b="0" i="0" u="none" strike="noStrike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华文中宋" panose="02010600040101010101" pitchFamily="2" charset="-122"/>
                        </a:rPr>
                        <a:t>1.21 </a:t>
                      </a:r>
                    </a:p>
                  </a:txBody>
                  <a:tcPr marL="5543" marR="5543" marT="5543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100" b="0" i="0" u="none" strike="noStrike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华文中宋" panose="02010600040101010101" pitchFamily="2" charset="-122"/>
                        </a:rPr>
                        <a:t>502354</a:t>
                      </a:r>
                    </a:p>
                  </a:txBody>
                  <a:tcPr marL="5543" marR="5543" marT="5543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altLang="zh-CN" sz="1100" b="0" i="0" u="none" strike="noStrike" kern="1200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华文中宋" panose="02010600040101010101" pitchFamily="2" charset="-122"/>
                          <a:cs typeface="+mn-cs"/>
                        </a:rPr>
                        <a:t>347246</a:t>
                      </a:r>
                    </a:p>
                  </a:txBody>
                  <a:tcPr marL="5543" marR="5543" marT="5543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100" b="0" i="0" u="none" strike="noStrike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华文中宋" panose="02010600040101010101" pitchFamily="2" charset="-122"/>
                        </a:rPr>
                        <a:t>1.34 </a:t>
                      </a:r>
                    </a:p>
                  </a:txBody>
                  <a:tcPr marL="5543" marR="5543" marT="5543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2427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4189184"/>
                  </a:ext>
                </a:extLst>
              </a:tr>
              <a:tr h="323691">
                <a:tc rowSpan="2"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华文中宋" panose="02010600040101010101" pitchFamily="2" charset="-122"/>
                        </a:rPr>
                        <a:t>Average</a:t>
                      </a:r>
                    </a:p>
                  </a:txBody>
                  <a:tcPr marL="79814" marR="79814" marT="39907" marB="39907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324273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华文中宋" panose="02010600040101010101" pitchFamily="2" charset="-122"/>
                        </a:rPr>
                        <a:t>Time</a:t>
                      </a:r>
                    </a:p>
                  </a:txBody>
                  <a:tcPr marL="5543" marR="5543" marT="5543" marB="0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24273"/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fontAlgn="ctr"/>
                      <a:r>
                        <a:rPr lang="en-US" altLang="zh-CN" sz="1100" b="0" i="0" u="none" strike="noStrike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华文中宋" panose="02010600040101010101" pitchFamily="2" charset="-122"/>
                        </a:rPr>
                        <a:t>92.67</a:t>
                      </a:r>
                    </a:p>
                  </a:txBody>
                  <a:tcPr marL="79814" marR="79814" marT="39907" marB="39907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24273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altLang="zh-CN" sz="1100" b="0" i="0" u="none" strike="noStrike" kern="1200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华文中宋" panose="02010600040101010101" pitchFamily="2" charset="-122"/>
                          <a:cs typeface="+mn-cs"/>
                        </a:rPr>
                        <a:t>35922.87</a:t>
                      </a:r>
                    </a:p>
                  </a:txBody>
                  <a:tcPr marL="79814" marR="79814" marT="39907" marB="39907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24273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77861759"/>
                  </a:ext>
                </a:extLst>
              </a:tr>
              <a:tr h="323691"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华文中宋" panose="02010600040101010101" pitchFamily="2" charset="-122"/>
                        </a:rPr>
                        <a:t>Ratio</a:t>
                      </a:r>
                    </a:p>
                  </a:txBody>
                  <a:tcPr marL="5543" marR="5543" marT="5543" marB="0" anchor="ctr"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24273"/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fontAlgn="ctr"/>
                      <a:r>
                        <a:rPr lang="en-US" altLang="zh-CN" sz="1100" b="0" i="0" u="none" strike="noStrike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华文中宋" panose="02010600040101010101" pitchFamily="2" charset="-122"/>
                        </a:rPr>
                        <a:t>1.12</a:t>
                      </a:r>
                    </a:p>
                  </a:txBody>
                  <a:tcPr marL="79814" marR="79814" marT="39907" marB="39907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24273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altLang="zh-CN" sz="1100" b="0" i="0" u="none" strike="noStrike" kern="1200" baseline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华文中宋" panose="02010600040101010101" pitchFamily="2" charset="-122"/>
                          <a:cs typeface="+mn-cs"/>
                        </a:rPr>
                        <a:t>1.26 </a:t>
                      </a:r>
                    </a:p>
                  </a:txBody>
                  <a:tcPr marL="79814" marR="79814" marT="39907" marB="39907" anchor="ctr">
                    <a:lnL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24273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40358159"/>
                  </a:ext>
                </a:extLst>
              </a:tr>
            </a:tbl>
          </a:graphicData>
        </a:graphic>
      </p:graphicFrame>
      <p:sp>
        <p:nvSpPr>
          <p:cNvPr id="4" name="文本框 3">
            <a:extLst>
              <a:ext uri="{FF2B5EF4-FFF2-40B4-BE49-F238E27FC236}">
                <a16:creationId xmlns:a16="http://schemas.microsoft.com/office/drawing/2014/main" id="{8ECA534C-C284-6BB2-EDDA-31BA85DF7639}"/>
              </a:ext>
            </a:extLst>
          </p:cNvPr>
          <p:cNvSpPr txBox="1"/>
          <p:nvPr/>
        </p:nvSpPr>
        <p:spPr>
          <a:xfrm>
            <a:off x="6106540" y="6411033"/>
            <a:ext cx="53425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400" i="1">
                <a:solidFill>
                  <a:srgbClr val="324273"/>
                </a:solidFill>
                <a:latin typeface="Consolas" panose="020B0609020204030204" pitchFamily="49" charset="0"/>
                <a:ea typeface="华文中宋" panose="02010600040101010101" pitchFamily="2" charset="-122"/>
              </a:rPr>
              <a:t>注：此表为节选，</a:t>
            </a:r>
            <a:r>
              <a:rPr lang="en-US" altLang="zh-CN" sz="1400" i="1">
                <a:solidFill>
                  <a:srgbClr val="324273"/>
                </a:solidFill>
                <a:latin typeface="Consolas" panose="020B0609020204030204" pitchFamily="49" charset="0"/>
                <a:ea typeface="华文中宋" panose="02010600040101010101" pitchFamily="2" charset="-122"/>
              </a:rPr>
              <a:t>ratio</a:t>
            </a:r>
            <a:r>
              <a:rPr lang="zh-CN" altLang="en-US" sz="1400" i="1">
                <a:solidFill>
                  <a:srgbClr val="324273"/>
                </a:solidFill>
                <a:latin typeface="Consolas" panose="020B0609020204030204" pitchFamily="49" charset="0"/>
                <a:ea typeface="华文中宋" panose="02010600040101010101" pitchFamily="2" charset="-122"/>
              </a:rPr>
              <a:t>为近似比，即 </a:t>
            </a:r>
            <a:r>
              <a:rPr lang="en-US" altLang="zh-CN" sz="1400" i="1">
                <a:solidFill>
                  <a:srgbClr val="324273"/>
                </a:solidFill>
                <a:latin typeface="Consolas" panose="020B0609020204030204" pitchFamily="49" charset="0"/>
                <a:ea typeface="华文中宋" panose="02010600040101010101" pitchFamily="2" charset="-122"/>
              </a:rPr>
              <a:t>min_cost/MIN_COST</a:t>
            </a:r>
            <a:endParaRPr lang="zh-CN" altLang="en-US" sz="1400" i="1">
              <a:solidFill>
                <a:srgbClr val="324273"/>
              </a:solidFill>
              <a:latin typeface="Consolas" panose="020B0609020204030204" pitchFamily="49" charset="0"/>
              <a:ea typeface="华文中宋" panose="02010600040101010101" pitchFamily="2" charset="-122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4E78495D-B67E-5EE8-90E4-F8CB04C4F078}"/>
              </a:ext>
            </a:extLst>
          </p:cNvPr>
          <p:cNvSpPr txBox="1"/>
          <p:nvPr/>
        </p:nvSpPr>
        <p:spPr>
          <a:xfrm>
            <a:off x="251315" y="1750495"/>
            <a:ext cx="4837960" cy="39097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defRPr>
                <a:solidFill>
                  <a:srgbClr val="324273"/>
                </a:solidFill>
                <a:latin typeface="Consolas" panose="020B0609020204030204" pitchFamily="49" charset="0"/>
                <a:ea typeface="华文中宋" panose="02010600040101010101" pitchFamily="2" charset="-122"/>
              </a:defRPr>
            </a:lvl1pPr>
          </a:lstStyle>
          <a:p>
            <a:pPr indent="457200" algn="just">
              <a:lnSpc>
                <a:spcPct val="150000"/>
              </a:lnSpc>
            </a:pPr>
            <a:r>
              <a:rPr lang="zh-CN" altLang="en-US" sz="2400"/>
              <a:t>出人意料的是，基础的贪心算法竟然在运行时间和近似比上都胜过了最小生成树法，运行时间更是后者的约四百分之一。</a:t>
            </a:r>
            <a:endParaRPr lang="en-US" altLang="zh-CN" sz="2400"/>
          </a:p>
          <a:p>
            <a:pPr indent="457200" algn="just">
              <a:lnSpc>
                <a:spcPct val="150000"/>
              </a:lnSpc>
            </a:pPr>
            <a:r>
              <a:rPr lang="zh-CN" altLang="en-US" sz="2400"/>
              <a:t>两种求近似解的算法的近似比都不错，并且能求解达到了一定规模的问题。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686536857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F4F2B0-C6D4-D7C8-E8FB-FDE0128124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组合 1">
            <a:extLst>
              <a:ext uri="{FF2B5EF4-FFF2-40B4-BE49-F238E27FC236}">
                <a16:creationId xmlns:a16="http://schemas.microsoft.com/office/drawing/2014/main" id="{F5EF0711-530D-ACA0-BFB5-5A389015FC30}"/>
              </a:ext>
            </a:extLst>
          </p:cNvPr>
          <p:cNvGrpSpPr/>
          <p:nvPr/>
        </p:nvGrpSpPr>
        <p:grpSpPr>
          <a:xfrm>
            <a:off x="-12700" y="-13335"/>
            <a:ext cx="5365991" cy="874395"/>
            <a:chOff x="-12700" y="-13335"/>
            <a:chExt cx="5365991" cy="874395"/>
          </a:xfrm>
        </p:grpSpPr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B559E4B0-44F0-2B5E-04BA-BE4B5CB2B7CA}"/>
                </a:ext>
              </a:extLst>
            </p:cNvPr>
            <p:cNvSpPr/>
            <p:nvPr/>
          </p:nvSpPr>
          <p:spPr>
            <a:xfrm>
              <a:off x="-12700" y="784860"/>
              <a:ext cx="5365991" cy="46137"/>
            </a:xfrm>
            <a:prstGeom prst="rect">
              <a:avLst/>
            </a:prstGeom>
            <a:solidFill>
              <a:schemeClr val="tx2">
                <a:lumMod val="75000"/>
                <a:lumOff val="2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" name="矩形 7">
              <a:extLst>
                <a:ext uri="{FF2B5EF4-FFF2-40B4-BE49-F238E27FC236}">
                  <a16:creationId xmlns:a16="http://schemas.microsoft.com/office/drawing/2014/main" id="{D7243E51-D324-4047-DC23-8D9697B9F1CB}"/>
                </a:ext>
              </a:extLst>
            </p:cNvPr>
            <p:cNvSpPr/>
            <p:nvPr/>
          </p:nvSpPr>
          <p:spPr>
            <a:xfrm>
              <a:off x="-12700" y="-13335"/>
              <a:ext cx="874395" cy="874395"/>
            </a:xfrm>
            <a:prstGeom prst="rect">
              <a:avLst/>
            </a:prstGeom>
            <a:solidFill>
              <a:schemeClr val="tx2">
                <a:lumMod val="75000"/>
                <a:lumOff val="2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4800">
                  <a:latin typeface="微软雅黑" panose="020B0503020204020204" pitchFamily="34" charset="-122"/>
                  <a:ea typeface="微软雅黑" panose="020B0503020204020204" pitchFamily="34" charset="-122"/>
                </a:rPr>
                <a:t>4</a:t>
              </a:r>
            </a:p>
          </p:txBody>
        </p:sp>
        <p:sp>
          <p:nvSpPr>
            <p:cNvPr id="10" name="文本框 9">
              <a:extLst>
                <a:ext uri="{FF2B5EF4-FFF2-40B4-BE49-F238E27FC236}">
                  <a16:creationId xmlns:a16="http://schemas.microsoft.com/office/drawing/2014/main" id="{3D99B3D9-451D-F588-C7D7-BEA7EB1E377C}"/>
                </a:ext>
              </a:extLst>
            </p:cNvPr>
            <p:cNvSpPr txBox="1"/>
            <p:nvPr/>
          </p:nvSpPr>
          <p:spPr>
            <a:xfrm>
              <a:off x="861695" y="0"/>
              <a:ext cx="4491596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4800" b="1">
                  <a:solidFill>
                    <a:schemeClr val="tx2">
                      <a:lumMod val="75000"/>
                      <a:lumOff val="25000"/>
                    </a:schemeClr>
                  </a:solidFill>
                  <a:latin typeface="华文中宋" panose="02010600040101010101" pitchFamily="2" charset="-122"/>
                  <a:ea typeface="华文中宋" panose="02010600040101010101" pitchFamily="2" charset="-122"/>
                </a:rPr>
                <a:t>实验结果与结论</a:t>
              </a:r>
            </a:p>
          </p:txBody>
        </p:sp>
      </p:grpSp>
      <p:grpSp>
        <p:nvGrpSpPr>
          <p:cNvPr id="3" name="组合 2">
            <a:extLst>
              <a:ext uri="{FF2B5EF4-FFF2-40B4-BE49-F238E27FC236}">
                <a16:creationId xmlns:a16="http://schemas.microsoft.com/office/drawing/2014/main" id="{A3681E76-412A-C384-0704-E30B14461EE9}"/>
              </a:ext>
            </a:extLst>
          </p:cNvPr>
          <p:cNvGrpSpPr/>
          <p:nvPr/>
        </p:nvGrpSpPr>
        <p:grpSpPr>
          <a:xfrm>
            <a:off x="927592" y="1473018"/>
            <a:ext cx="10336812" cy="5084038"/>
            <a:chOff x="921804" y="1806466"/>
            <a:chExt cx="10336812" cy="5084038"/>
          </a:xfrm>
        </p:grpSpPr>
        <p:grpSp>
          <p:nvGrpSpPr>
            <p:cNvPr id="4" name="组合 3">
              <a:extLst>
                <a:ext uri="{FF2B5EF4-FFF2-40B4-BE49-F238E27FC236}">
                  <a16:creationId xmlns:a16="http://schemas.microsoft.com/office/drawing/2014/main" id="{176C82B6-E62F-08F4-6687-96C1BC9E9C86}"/>
                </a:ext>
              </a:extLst>
            </p:cNvPr>
            <p:cNvGrpSpPr/>
            <p:nvPr/>
          </p:nvGrpSpPr>
          <p:grpSpPr>
            <a:xfrm>
              <a:off x="921804" y="2196745"/>
              <a:ext cx="10336812" cy="4693759"/>
              <a:chOff x="545627" y="2017338"/>
              <a:chExt cx="10336812" cy="4693759"/>
            </a:xfrm>
          </p:grpSpPr>
          <p:sp>
            <p:nvSpPr>
              <p:cNvPr id="12" name="矩形: 圆角 11">
                <a:extLst>
                  <a:ext uri="{FF2B5EF4-FFF2-40B4-BE49-F238E27FC236}">
                    <a16:creationId xmlns:a16="http://schemas.microsoft.com/office/drawing/2014/main" id="{AA46B232-5B23-5585-85C3-CB8330B39F8F}"/>
                  </a:ext>
                </a:extLst>
              </p:cNvPr>
              <p:cNvSpPr/>
              <p:nvPr/>
            </p:nvSpPr>
            <p:spPr>
              <a:xfrm>
                <a:off x="545627" y="2017338"/>
                <a:ext cx="10336812" cy="4693759"/>
              </a:xfrm>
              <a:prstGeom prst="roundRect">
                <a:avLst/>
              </a:prstGeom>
              <a:solidFill>
                <a:srgbClr val="D9D9D9"/>
              </a:solidFill>
              <a:ln w="19050">
                <a:solidFill>
                  <a:srgbClr val="324273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" name="文本框 12">
                <a:extLst>
                  <a:ext uri="{FF2B5EF4-FFF2-40B4-BE49-F238E27FC236}">
                    <a16:creationId xmlns:a16="http://schemas.microsoft.com/office/drawing/2014/main" id="{402D75D3-6733-1691-CAB9-F99AB841324C}"/>
                  </a:ext>
                </a:extLst>
              </p:cNvPr>
              <p:cNvSpPr txBox="1"/>
              <p:nvPr/>
            </p:nvSpPr>
            <p:spPr>
              <a:xfrm>
                <a:off x="1052985" y="3991668"/>
                <a:ext cx="2505395" cy="50456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>
                <a:defPPr>
                  <a:defRPr lang="zh-CN"/>
                </a:defPPr>
                <a:lvl1pPr algn="ctr">
                  <a:defRPr sz="2800" b="1">
                    <a:solidFill>
                      <a:srgbClr val="324273"/>
                    </a:solidFill>
                    <a:latin typeface="Consolas" panose="020B0609020204030204" pitchFamily="49" charset="0"/>
                    <a:ea typeface="华文中宋" panose="02010600040101010101" pitchFamily="2" charset="-122"/>
                  </a:defRPr>
                </a:lvl1pPr>
              </a:lstStyle>
              <a:p>
                <a:pPr algn="just">
                  <a:lnSpc>
                    <a:spcPct val="150000"/>
                  </a:lnSpc>
                </a:pPr>
                <a:endParaRPr lang="zh-CN" altLang="en-US" sz="2000" b="0"/>
              </a:p>
            </p:txBody>
          </p:sp>
        </p:grpSp>
        <p:grpSp>
          <p:nvGrpSpPr>
            <p:cNvPr id="7" name="组合 6">
              <a:extLst>
                <a:ext uri="{FF2B5EF4-FFF2-40B4-BE49-F238E27FC236}">
                  <a16:creationId xmlns:a16="http://schemas.microsoft.com/office/drawing/2014/main" id="{83F18AAE-9B5B-4D42-EFE8-060D552B0CA8}"/>
                </a:ext>
              </a:extLst>
            </p:cNvPr>
            <p:cNvGrpSpPr/>
            <p:nvPr/>
          </p:nvGrpSpPr>
          <p:grpSpPr>
            <a:xfrm>
              <a:off x="5025159" y="1806466"/>
              <a:ext cx="2130105" cy="780559"/>
              <a:chOff x="1611021" y="1579536"/>
              <a:chExt cx="2130105" cy="780559"/>
            </a:xfrm>
          </p:grpSpPr>
          <p:sp>
            <p:nvSpPr>
              <p:cNvPr id="9" name="矩形: 圆角 8">
                <a:extLst>
                  <a:ext uri="{FF2B5EF4-FFF2-40B4-BE49-F238E27FC236}">
                    <a16:creationId xmlns:a16="http://schemas.microsoft.com/office/drawing/2014/main" id="{B47C1EF0-2E15-CE36-4868-C6D889BC7616}"/>
                  </a:ext>
                </a:extLst>
              </p:cNvPr>
              <p:cNvSpPr/>
              <p:nvPr/>
            </p:nvSpPr>
            <p:spPr>
              <a:xfrm>
                <a:off x="1611021" y="1579536"/>
                <a:ext cx="2130105" cy="780559"/>
              </a:xfrm>
              <a:prstGeom prst="roundRect">
                <a:avLst/>
              </a:prstGeom>
              <a:solidFill>
                <a:srgbClr val="324273"/>
              </a:solidFill>
              <a:ln w="19050">
                <a:solidFill>
                  <a:srgbClr val="324273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" name="文本框 10">
                <a:extLst>
                  <a:ext uri="{FF2B5EF4-FFF2-40B4-BE49-F238E27FC236}">
                    <a16:creationId xmlns:a16="http://schemas.microsoft.com/office/drawing/2014/main" id="{A08B0E33-18FB-DFCF-F896-EDF5C2A8D4DA}"/>
                  </a:ext>
                </a:extLst>
              </p:cNvPr>
              <p:cNvSpPr txBox="1"/>
              <p:nvPr/>
            </p:nvSpPr>
            <p:spPr>
              <a:xfrm>
                <a:off x="1611021" y="1722375"/>
                <a:ext cx="2130105" cy="461665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zh-CN" altLang="en-US" sz="2400">
                    <a:solidFill>
                      <a:schemeClr val="bg1"/>
                    </a:solidFill>
                    <a:latin typeface="Consolas" panose="020B0609020204030204" pitchFamily="49" charset="0"/>
                    <a:ea typeface="华文中宋" panose="02010600040101010101" pitchFamily="2" charset="-122"/>
                  </a:rPr>
                  <a:t>复杂度分析</a:t>
                </a:r>
              </a:p>
            </p:txBody>
          </p:sp>
        </p:grpSp>
      </p:grpSp>
      <p:graphicFrame>
        <p:nvGraphicFramePr>
          <p:cNvPr id="14" name="表格 13">
            <a:extLst>
              <a:ext uri="{FF2B5EF4-FFF2-40B4-BE49-F238E27FC236}">
                <a16:creationId xmlns:a16="http://schemas.microsoft.com/office/drawing/2014/main" id="{E758FE0C-B5E9-D5DA-723D-2F7D8BD6562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74660679"/>
              </p:ext>
            </p:extLst>
          </p:nvPr>
        </p:nvGraphicFramePr>
        <p:xfrm>
          <a:off x="1314543" y="2763252"/>
          <a:ext cx="9562909" cy="1841172"/>
        </p:xfrm>
        <a:graphic>
          <a:graphicData uri="http://schemas.openxmlformats.org/drawingml/2006/table">
            <a:tbl>
              <a:tblPr bandRow="1">
                <a:tableStyleId>{69CF1AB2-1976-4502-BF36-3FF5EA218861}</a:tableStyleId>
              </a:tblPr>
              <a:tblGrid>
                <a:gridCol w="1965171">
                  <a:extLst>
                    <a:ext uri="{9D8B030D-6E8A-4147-A177-3AD203B41FA5}">
                      <a16:colId xmlns:a16="http://schemas.microsoft.com/office/drawing/2014/main" val="71793056"/>
                    </a:ext>
                  </a:extLst>
                </a:gridCol>
                <a:gridCol w="1222466">
                  <a:extLst>
                    <a:ext uri="{9D8B030D-6E8A-4147-A177-3AD203B41FA5}">
                      <a16:colId xmlns:a16="http://schemas.microsoft.com/office/drawing/2014/main" val="394926860"/>
                    </a:ext>
                  </a:extLst>
                </a:gridCol>
                <a:gridCol w="1593818">
                  <a:extLst>
                    <a:ext uri="{9D8B030D-6E8A-4147-A177-3AD203B41FA5}">
                      <a16:colId xmlns:a16="http://schemas.microsoft.com/office/drawing/2014/main" val="295355810"/>
                    </a:ext>
                  </a:extLst>
                </a:gridCol>
                <a:gridCol w="1593818">
                  <a:extLst>
                    <a:ext uri="{9D8B030D-6E8A-4147-A177-3AD203B41FA5}">
                      <a16:colId xmlns:a16="http://schemas.microsoft.com/office/drawing/2014/main" val="3226184861"/>
                    </a:ext>
                  </a:extLst>
                </a:gridCol>
                <a:gridCol w="1593818">
                  <a:extLst>
                    <a:ext uri="{9D8B030D-6E8A-4147-A177-3AD203B41FA5}">
                      <a16:colId xmlns:a16="http://schemas.microsoft.com/office/drawing/2014/main" val="1483907307"/>
                    </a:ext>
                  </a:extLst>
                </a:gridCol>
                <a:gridCol w="1593818">
                  <a:extLst>
                    <a:ext uri="{9D8B030D-6E8A-4147-A177-3AD203B41FA5}">
                      <a16:colId xmlns:a16="http://schemas.microsoft.com/office/drawing/2014/main" val="3831667883"/>
                    </a:ext>
                  </a:extLst>
                </a:gridCol>
              </a:tblGrid>
              <a:tr h="613724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 baseline="0">
                          <a:latin typeface="Consolas" panose="020B0609020204030204" pitchFamily="49" charset="0"/>
                          <a:ea typeface="华文中宋" panose="02010600040101010101" pitchFamily="2" charset="-122"/>
                        </a:rPr>
                        <a:t>算法</a:t>
                      </a:r>
                    </a:p>
                  </a:txBody>
                  <a:tcPr marL="116924" marR="116924" marT="58462" marB="5846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400" baseline="0">
                          <a:latin typeface="Consolas" panose="020B0609020204030204" pitchFamily="49" charset="0"/>
                          <a:ea typeface="华文中宋" panose="02010600040101010101" pitchFamily="2" charset="-122"/>
                        </a:rPr>
                        <a:t>DFS</a:t>
                      </a:r>
                      <a:endParaRPr lang="zh-CN" altLang="en-US" sz="2400" baseline="0">
                        <a:latin typeface="Consolas" panose="020B0609020204030204" pitchFamily="49" charset="0"/>
                        <a:ea typeface="华文中宋" panose="02010600040101010101" pitchFamily="2" charset="-122"/>
                      </a:endParaRPr>
                    </a:p>
                  </a:txBody>
                  <a:tcPr marL="116924" marR="116924" marT="58462" marB="5846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400" baseline="0">
                          <a:latin typeface="Consolas" panose="020B0609020204030204" pitchFamily="49" charset="0"/>
                          <a:ea typeface="华文中宋" panose="02010600040101010101" pitchFamily="2" charset="-122"/>
                        </a:rPr>
                        <a:t>BFS</a:t>
                      </a:r>
                      <a:endParaRPr lang="zh-CN" altLang="en-US" sz="2400" baseline="0">
                        <a:latin typeface="Consolas" panose="020B0609020204030204" pitchFamily="49" charset="0"/>
                        <a:ea typeface="华文中宋" panose="02010600040101010101" pitchFamily="2" charset="-122"/>
                      </a:endParaRPr>
                    </a:p>
                  </a:txBody>
                  <a:tcPr marL="116924" marR="116924" marT="58462" marB="5846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400" baseline="0">
                          <a:latin typeface="Consolas" panose="020B0609020204030204" pitchFamily="49" charset="0"/>
                          <a:ea typeface="华文中宋" panose="02010600040101010101" pitchFamily="2" charset="-122"/>
                        </a:rPr>
                        <a:t>DP</a:t>
                      </a:r>
                      <a:endParaRPr lang="zh-CN" altLang="en-US" sz="2400" baseline="0">
                        <a:latin typeface="Consolas" panose="020B0609020204030204" pitchFamily="49" charset="0"/>
                        <a:ea typeface="华文中宋" panose="02010600040101010101" pitchFamily="2" charset="-122"/>
                      </a:endParaRPr>
                    </a:p>
                  </a:txBody>
                  <a:tcPr marL="116924" marR="116924" marT="58462" marB="5846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400" baseline="0">
                          <a:latin typeface="Consolas" panose="020B0609020204030204" pitchFamily="49" charset="0"/>
                          <a:ea typeface="华文中宋" panose="02010600040101010101" pitchFamily="2" charset="-122"/>
                        </a:rPr>
                        <a:t>GREEDY</a:t>
                      </a:r>
                      <a:endParaRPr lang="zh-CN" altLang="en-US" sz="2400" baseline="0">
                        <a:latin typeface="Consolas" panose="020B0609020204030204" pitchFamily="49" charset="0"/>
                        <a:ea typeface="华文中宋" panose="02010600040101010101" pitchFamily="2" charset="-122"/>
                      </a:endParaRPr>
                    </a:p>
                  </a:txBody>
                  <a:tcPr marL="116924" marR="116924" marT="58462" marB="5846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400" baseline="0">
                          <a:latin typeface="Consolas" panose="020B0609020204030204" pitchFamily="49" charset="0"/>
                          <a:ea typeface="华文中宋" panose="02010600040101010101" pitchFamily="2" charset="-122"/>
                        </a:rPr>
                        <a:t>MST</a:t>
                      </a:r>
                      <a:endParaRPr lang="zh-CN" altLang="en-US" sz="2400" baseline="0">
                        <a:latin typeface="Consolas" panose="020B0609020204030204" pitchFamily="49" charset="0"/>
                        <a:ea typeface="华文中宋" panose="02010600040101010101" pitchFamily="2" charset="-122"/>
                      </a:endParaRPr>
                    </a:p>
                  </a:txBody>
                  <a:tcPr marL="116924" marR="116924" marT="58462" marB="58462" anchor="ctr"/>
                </a:tc>
                <a:extLst>
                  <a:ext uri="{0D108BD9-81ED-4DB2-BD59-A6C34878D82A}">
                    <a16:rowId xmlns:a16="http://schemas.microsoft.com/office/drawing/2014/main" val="2677014450"/>
                  </a:ext>
                </a:extLst>
              </a:tr>
              <a:tr h="613724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 baseline="0">
                          <a:latin typeface="Consolas" panose="020B0609020204030204" pitchFamily="49" charset="0"/>
                          <a:ea typeface="华文中宋" panose="02010600040101010101" pitchFamily="2" charset="-122"/>
                        </a:rPr>
                        <a:t>时间复杂度</a:t>
                      </a:r>
                      <a:endParaRPr lang="en-US" altLang="zh-CN" sz="2400" baseline="0">
                        <a:latin typeface="Consolas" panose="020B0609020204030204" pitchFamily="49" charset="0"/>
                        <a:ea typeface="华文中宋" panose="02010600040101010101" pitchFamily="2" charset="-122"/>
                      </a:endParaRPr>
                    </a:p>
                  </a:txBody>
                  <a:tcPr marL="116924" marR="116924" marT="58462" marB="5846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400" baseline="0">
                          <a:latin typeface="Consolas" panose="020B0609020204030204" pitchFamily="49" charset="0"/>
                          <a:ea typeface="华文中宋" panose="02010600040101010101" pitchFamily="2" charset="-122"/>
                        </a:rPr>
                        <a:t>n!</a:t>
                      </a:r>
                      <a:endParaRPr lang="zh-CN" altLang="en-US" sz="2400" baseline="0">
                        <a:latin typeface="Consolas" panose="020B0609020204030204" pitchFamily="49" charset="0"/>
                        <a:ea typeface="华文中宋" panose="02010600040101010101" pitchFamily="2" charset="-122"/>
                      </a:endParaRPr>
                    </a:p>
                  </a:txBody>
                  <a:tcPr marL="116924" marR="116924" marT="58462" marB="5846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400" baseline="0">
                          <a:latin typeface="Consolas" panose="020B0609020204030204" pitchFamily="49" charset="0"/>
                          <a:ea typeface="华文中宋" panose="02010600040101010101" pitchFamily="2" charset="-122"/>
                        </a:rPr>
                        <a:t>n!</a:t>
                      </a:r>
                      <a:endParaRPr lang="zh-CN" altLang="en-US" sz="2400" baseline="0">
                        <a:latin typeface="Consolas" panose="020B0609020204030204" pitchFamily="49" charset="0"/>
                        <a:ea typeface="华文中宋" panose="02010600040101010101" pitchFamily="2" charset="-122"/>
                      </a:endParaRPr>
                    </a:p>
                  </a:txBody>
                  <a:tcPr marL="116924" marR="116924" marT="58462" marB="5846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400" baseline="0">
                          <a:latin typeface="Consolas" panose="020B0609020204030204" pitchFamily="49" charset="0"/>
                          <a:ea typeface="华文中宋" panose="02010600040101010101" pitchFamily="2" charset="-122"/>
                        </a:rPr>
                        <a:t>2</a:t>
                      </a:r>
                      <a:r>
                        <a:rPr lang="en-US" altLang="zh-CN" sz="2400" baseline="30000">
                          <a:latin typeface="Consolas" panose="020B0609020204030204" pitchFamily="49" charset="0"/>
                          <a:ea typeface="华文中宋" panose="02010600040101010101" pitchFamily="2" charset="-122"/>
                        </a:rPr>
                        <a:t>n</a:t>
                      </a:r>
                      <a:r>
                        <a:rPr lang="en-US" altLang="zh-CN" sz="2400" baseline="0">
                          <a:latin typeface="Consolas" panose="020B0609020204030204" pitchFamily="49" charset="0"/>
                          <a:ea typeface="华文中宋" panose="02010600040101010101" pitchFamily="2" charset="-122"/>
                        </a:rPr>
                        <a:t>*n</a:t>
                      </a:r>
                      <a:r>
                        <a:rPr lang="en-US" altLang="zh-CN" sz="2400" baseline="30000">
                          <a:latin typeface="Consolas" panose="020B0609020204030204" pitchFamily="49" charset="0"/>
                          <a:ea typeface="华文中宋" panose="02010600040101010101" pitchFamily="2" charset="-122"/>
                        </a:rPr>
                        <a:t>2</a:t>
                      </a:r>
                      <a:endParaRPr lang="zh-CN" altLang="en-US" sz="2400" baseline="0">
                        <a:latin typeface="Consolas" panose="020B0609020204030204" pitchFamily="49" charset="0"/>
                        <a:ea typeface="华文中宋" panose="02010600040101010101" pitchFamily="2" charset="-122"/>
                      </a:endParaRPr>
                    </a:p>
                  </a:txBody>
                  <a:tcPr marL="116924" marR="116924" marT="58462" marB="5846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400" baseline="0">
                          <a:latin typeface="Consolas" panose="020B0609020204030204" pitchFamily="49" charset="0"/>
                          <a:ea typeface="华文中宋" panose="02010600040101010101" pitchFamily="2" charset="-122"/>
                        </a:rPr>
                        <a:t>n</a:t>
                      </a:r>
                      <a:r>
                        <a:rPr lang="en-US" altLang="zh-CN" sz="2400" baseline="30000">
                          <a:latin typeface="Consolas" panose="020B0609020204030204" pitchFamily="49" charset="0"/>
                          <a:ea typeface="华文中宋" panose="02010600040101010101" pitchFamily="2" charset="-122"/>
                        </a:rPr>
                        <a:t>2</a:t>
                      </a:r>
                      <a:endParaRPr lang="zh-CN" altLang="en-US" sz="2400" baseline="0">
                        <a:latin typeface="Consolas" panose="020B0609020204030204" pitchFamily="49" charset="0"/>
                        <a:ea typeface="华文中宋" panose="02010600040101010101" pitchFamily="2" charset="-122"/>
                      </a:endParaRPr>
                    </a:p>
                  </a:txBody>
                  <a:tcPr marL="116924" marR="116924" marT="58462" marB="5846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400" baseline="0">
                          <a:latin typeface="Consolas" panose="020B0609020204030204" pitchFamily="49" charset="0"/>
                          <a:ea typeface="华文中宋" panose="02010600040101010101" pitchFamily="2" charset="-122"/>
                        </a:rPr>
                        <a:t>n</a:t>
                      </a:r>
                      <a:r>
                        <a:rPr lang="en-US" altLang="zh-CN" sz="2400" baseline="30000">
                          <a:latin typeface="Consolas" panose="020B0609020204030204" pitchFamily="49" charset="0"/>
                          <a:ea typeface="华文中宋" panose="02010600040101010101" pitchFamily="2" charset="-122"/>
                        </a:rPr>
                        <a:t>3</a:t>
                      </a:r>
                      <a:endParaRPr lang="zh-CN" altLang="en-US" sz="2400" baseline="0">
                        <a:latin typeface="Consolas" panose="020B0609020204030204" pitchFamily="49" charset="0"/>
                        <a:ea typeface="华文中宋" panose="02010600040101010101" pitchFamily="2" charset="-122"/>
                      </a:endParaRPr>
                    </a:p>
                  </a:txBody>
                  <a:tcPr marL="116924" marR="116924" marT="58462" marB="58462" anchor="ctr"/>
                </a:tc>
                <a:extLst>
                  <a:ext uri="{0D108BD9-81ED-4DB2-BD59-A6C34878D82A}">
                    <a16:rowId xmlns:a16="http://schemas.microsoft.com/office/drawing/2014/main" val="1330184763"/>
                  </a:ext>
                </a:extLst>
              </a:tr>
              <a:tr h="613724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 baseline="0">
                          <a:latin typeface="Consolas" panose="020B0609020204030204" pitchFamily="49" charset="0"/>
                          <a:ea typeface="华文中宋" panose="02010600040101010101" pitchFamily="2" charset="-122"/>
                        </a:rPr>
                        <a:t>空间复杂度</a:t>
                      </a:r>
                      <a:endParaRPr lang="en-US" altLang="zh-CN" sz="2400" baseline="0">
                        <a:latin typeface="Consolas" panose="020B0609020204030204" pitchFamily="49" charset="0"/>
                        <a:ea typeface="华文中宋" panose="02010600040101010101" pitchFamily="2" charset="-122"/>
                      </a:endParaRPr>
                    </a:p>
                  </a:txBody>
                  <a:tcPr marL="116924" marR="116924" marT="58462" marB="5846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400" baseline="0">
                          <a:latin typeface="Consolas" panose="020B0609020204030204" pitchFamily="49" charset="0"/>
                          <a:ea typeface="华文中宋" panose="02010600040101010101" pitchFamily="2" charset="-122"/>
                        </a:rPr>
                        <a:t>n</a:t>
                      </a:r>
                      <a:endParaRPr lang="zh-CN" altLang="en-US" sz="2400" baseline="0">
                        <a:latin typeface="Consolas" panose="020B0609020204030204" pitchFamily="49" charset="0"/>
                        <a:ea typeface="华文中宋" panose="02010600040101010101" pitchFamily="2" charset="-122"/>
                      </a:endParaRPr>
                    </a:p>
                  </a:txBody>
                  <a:tcPr marL="116924" marR="116924" marT="58462" marB="5846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400" baseline="0">
                          <a:latin typeface="Consolas" panose="020B0609020204030204" pitchFamily="49" charset="0"/>
                          <a:ea typeface="华文中宋" panose="02010600040101010101" pitchFamily="2" charset="-122"/>
                        </a:rPr>
                        <a:t>&lt;n!</a:t>
                      </a:r>
                      <a:endParaRPr lang="zh-CN" altLang="en-US" sz="2400" baseline="0">
                        <a:latin typeface="Consolas" panose="020B0609020204030204" pitchFamily="49" charset="0"/>
                        <a:ea typeface="华文中宋" panose="02010600040101010101" pitchFamily="2" charset="-122"/>
                      </a:endParaRPr>
                    </a:p>
                  </a:txBody>
                  <a:tcPr marL="116924" marR="116924" marT="58462" marB="5846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400" baseline="0">
                          <a:latin typeface="Consolas" panose="020B0609020204030204" pitchFamily="49" charset="0"/>
                          <a:ea typeface="华文中宋" panose="02010600040101010101" pitchFamily="2" charset="-122"/>
                        </a:rPr>
                        <a:t>2</a:t>
                      </a:r>
                      <a:r>
                        <a:rPr lang="en-US" altLang="zh-CN" sz="2400" baseline="30000">
                          <a:latin typeface="Consolas" panose="020B0609020204030204" pitchFamily="49" charset="0"/>
                          <a:ea typeface="华文中宋" panose="02010600040101010101" pitchFamily="2" charset="-122"/>
                        </a:rPr>
                        <a:t>n</a:t>
                      </a:r>
                      <a:endParaRPr lang="zh-CN" altLang="en-US" sz="2400" baseline="0">
                        <a:latin typeface="Consolas" panose="020B0609020204030204" pitchFamily="49" charset="0"/>
                        <a:ea typeface="华文中宋" panose="02010600040101010101" pitchFamily="2" charset="-122"/>
                      </a:endParaRPr>
                    </a:p>
                  </a:txBody>
                  <a:tcPr marL="116924" marR="116924" marT="58462" marB="5846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400" baseline="0">
                          <a:latin typeface="Consolas" panose="020B0609020204030204" pitchFamily="49" charset="0"/>
                          <a:ea typeface="华文中宋" panose="02010600040101010101" pitchFamily="2" charset="-122"/>
                        </a:rPr>
                        <a:t>n</a:t>
                      </a:r>
                      <a:endParaRPr lang="zh-CN" altLang="en-US" sz="2400" baseline="0">
                        <a:latin typeface="Consolas" panose="020B0609020204030204" pitchFamily="49" charset="0"/>
                        <a:ea typeface="华文中宋" panose="02010600040101010101" pitchFamily="2" charset="-122"/>
                      </a:endParaRPr>
                    </a:p>
                  </a:txBody>
                  <a:tcPr marL="116924" marR="116924" marT="58462" marB="5846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400" baseline="0">
                          <a:latin typeface="Consolas" panose="020B0609020204030204" pitchFamily="49" charset="0"/>
                          <a:ea typeface="华文中宋" panose="02010600040101010101" pitchFamily="2" charset="-122"/>
                        </a:rPr>
                        <a:t>n</a:t>
                      </a:r>
                      <a:endParaRPr lang="zh-CN" altLang="en-US" sz="2400" baseline="0">
                        <a:latin typeface="Consolas" panose="020B0609020204030204" pitchFamily="49" charset="0"/>
                        <a:ea typeface="华文中宋" panose="02010600040101010101" pitchFamily="2" charset="-122"/>
                      </a:endParaRPr>
                    </a:p>
                  </a:txBody>
                  <a:tcPr marL="116924" marR="116924" marT="58462" marB="58462" anchor="ctr"/>
                </a:tc>
                <a:extLst>
                  <a:ext uri="{0D108BD9-81ED-4DB2-BD59-A6C34878D82A}">
                    <a16:rowId xmlns:a16="http://schemas.microsoft.com/office/drawing/2014/main" val="3131425372"/>
                  </a:ext>
                </a:extLst>
              </a:tr>
            </a:tbl>
          </a:graphicData>
        </a:graphic>
      </p:graphicFrame>
      <p:sp>
        <p:nvSpPr>
          <p:cNvPr id="15" name="文本框 14">
            <a:extLst>
              <a:ext uri="{FF2B5EF4-FFF2-40B4-BE49-F238E27FC236}">
                <a16:creationId xmlns:a16="http://schemas.microsoft.com/office/drawing/2014/main" id="{370DE1EE-198F-5F55-215B-224D2DB19EEB}"/>
              </a:ext>
            </a:extLst>
          </p:cNvPr>
          <p:cNvSpPr txBox="1"/>
          <p:nvPr/>
        </p:nvSpPr>
        <p:spPr>
          <a:xfrm>
            <a:off x="1665189" y="4851864"/>
            <a:ext cx="886161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b="1">
                <a:solidFill>
                  <a:srgbClr val="324273"/>
                </a:solidFill>
                <a:latin typeface="Consolas" panose="020B0609020204030204" pitchFamily="49" charset="0"/>
                <a:ea typeface="华文中宋" panose="02010600040101010101" pitchFamily="2" charset="-122"/>
              </a:rPr>
              <a:t>解释：</a:t>
            </a:r>
            <a:endParaRPr lang="en-US" altLang="zh-CN" sz="2400" b="1">
              <a:solidFill>
                <a:srgbClr val="324273"/>
              </a:solidFill>
              <a:latin typeface="Consolas" panose="020B0609020204030204" pitchFamily="49" charset="0"/>
              <a:ea typeface="华文中宋" panose="02010600040101010101" pitchFamily="2" charset="-122"/>
            </a:endParaRPr>
          </a:p>
          <a:p>
            <a:r>
              <a:rPr lang="zh-CN" altLang="en-US" sz="2400">
                <a:solidFill>
                  <a:srgbClr val="324273"/>
                </a:solidFill>
                <a:latin typeface="Consolas" panose="020B0609020204030204" pitchFamily="49" charset="0"/>
                <a:ea typeface="华文中宋" panose="02010600040101010101" pitchFamily="2" charset="-122"/>
              </a:rPr>
              <a:t>当我们说</a:t>
            </a:r>
            <a:r>
              <a:rPr lang="en-US" altLang="zh-CN" sz="2400">
                <a:solidFill>
                  <a:srgbClr val="324273"/>
                </a:solidFill>
                <a:latin typeface="Consolas" panose="020B0609020204030204" pitchFamily="49" charset="0"/>
                <a:ea typeface="华文中宋" panose="02010600040101010101" pitchFamily="2" charset="-122"/>
              </a:rPr>
              <a:t>DFS</a:t>
            </a:r>
            <a:r>
              <a:rPr lang="zh-CN" altLang="en-US" sz="2400">
                <a:solidFill>
                  <a:srgbClr val="324273"/>
                </a:solidFill>
                <a:latin typeface="Consolas" panose="020B0609020204030204" pitchFamily="49" charset="0"/>
                <a:ea typeface="华文中宋" panose="02010600040101010101" pitchFamily="2" charset="-122"/>
              </a:rPr>
              <a:t>无法求解某问题时，是指它的求解时间过长；</a:t>
            </a:r>
            <a:endParaRPr lang="en-US" altLang="zh-CN" sz="2400">
              <a:solidFill>
                <a:srgbClr val="324273"/>
              </a:solidFill>
              <a:latin typeface="Consolas" panose="020B0609020204030204" pitchFamily="49" charset="0"/>
              <a:ea typeface="华文中宋" panose="02010600040101010101" pitchFamily="2" charset="-122"/>
            </a:endParaRPr>
          </a:p>
          <a:p>
            <a:r>
              <a:rPr lang="zh-CN" altLang="en-US" sz="2400">
                <a:solidFill>
                  <a:srgbClr val="324273"/>
                </a:solidFill>
                <a:latin typeface="Consolas" panose="020B0609020204030204" pitchFamily="49" charset="0"/>
                <a:ea typeface="华文中宋" panose="02010600040101010101" pitchFamily="2" charset="-122"/>
              </a:rPr>
              <a:t>当我们说</a:t>
            </a:r>
            <a:r>
              <a:rPr lang="en-US" altLang="zh-CN" sz="2400">
                <a:solidFill>
                  <a:srgbClr val="324273"/>
                </a:solidFill>
                <a:latin typeface="Consolas" panose="020B0609020204030204" pitchFamily="49" charset="0"/>
                <a:ea typeface="华文中宋" panose="02010600040101010101" pitchFamily="2" charset="-122"/>
              </a:rPr>
              <a:t>BFS</a:t>
            </a:r>
            <a:r>
              <a:rPr lang="zh-CN" altLang="en-US" sz="2400">
                <a:solidFill>
                  <a:srgbClr val="324273"/>
                </a:solidFill>
                <a:latin typeface="Consolas" panose="020B0609020204030204" pitchFamily="49" charset="0"/>
                <a:ea typeface="华文中宋" panose="02010600040101010101" pitchFamily="2" charset="-122"/>
              </a:rPr>
              <a:t>和</a:t>
            </a:r>
            <a:r>
              <a:rPr lang="en-US" altLang="zh-CN" sz="2400">
                <a:solidFill>
                  <a:srgbClr val="324273"/>
                </a:solidFill>
                <a:latin typeface="Consolas" panose="020B0609020204030204" pitchFamily="49" charset="0"/>
                <a:ea typeface="华文中宋" panose="02010600040101010101" pitchFamily="2" charset="-122"/>
              </a:rPr>
              <a:t>DP</a:t>
            </a:r>
            <a:r>
              <a:rPr lang="zh-CN" altLang="en-US" sz="2400">
                <a:solidFill>
                  <a:srgbClr val="324273"/>
                </a:solidFill>
                <a:latin typeface="Consolas" panose="020B0609020204030204" pitchFamily="49" charset="0"/>
                <a:ea typeface="华文中宋" panose="02010600040101010101" pitchFamily="2" charset="-122"/>
              </a:rPr>
              <a:t>无法求解某问题时，是指系统无法分配内存。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93683412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B68714-57B7-2984-E3A9-FEE01A43CD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64DC4617-0632-1B5B-7CA6-7B151A8C76DD}"/>
              </a:ext>
            </a:extLst>
          </p:cNvPr>
          <p:cNvSpPr/>
          <p:nvPr/>
        </p:nvSpPr>
        <p:spPr>
          <a:xfrm>
            <a:off x="1933575" y="3660775"/>
            <a:ext cx="8324215" cy="427990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E1D5371B-778B-C510-01BC-53F4F7F35B88}"/>
              </a:ext>
            </a:extLst>
          </p:cNvPr>
          <p:cNvSpPr/>
          <p:nvPr/>
        </p:nvSpPr>
        <p:spPr>
          <a:xfrm>
            <a:off x="3903713" y="2679383"/>
            <a:ext cx="874395" cy="874395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4800">
                <a:latin typeface="微软雅黑" panose="020B0503020204020204" pitchFamily="34" charset="-122"/>
                <a:ea typeface="微软雅黑" panose="020B0503020204020204" pitchFamily="34" charset="-122"/>
              </a:rPr>
              <a:t>5</a:t>
            </a: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532D57BF-61D7-23CD-BD59-C03361283987}"/>
              </a:ext>
            </a:extLst>
          </p:cNvPr>
          <p:cNvSpPr txBox="1"/>
          <p:nvPr/>
        </p:nvSpPr>
        <p:spPr>
          <a:xfrm>
            <a:off x="4778108" y="2596177"/>
            <a:ext cx="3916680" cy="92333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zh-CN" altLang="en-US" sz="5400" b="1">
                <a:solidFill>
                  <a:schemeClr val="tx2">
                    <a:lumMod val="75000"/>
                    <a:lumOff val="25000"/>
                  </a:schemeClr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小组分工</a:t>
            </a:r>
          </a:p>
        </p:txBody>
      </p:sp>
      <p:cxnSp>
        <p:nvCxnSpPr>
          <p:cNvPr id="32" name="直接连接符 31">
            <a:extLst>
              <a:ext uri="{FF2B5EF4-FFF2-40B4-BE49-F238E27FC236}">
                <a16:creationId xmlns:a16="http://schemas.microsoft.com/office/drawing/2014/main" id="{CD597479-C386-0447-C2AD-06100BE1938E}"/>
              </a:ext>
            </a:extLst>
          </p:cNvPr>
          <p:cNvCxnSpPr/>
          <p:nvPr/>
        </p:nvCxnSpPr>
        <p:spPr>
          <a:xfrm>
            <a:off x="2157095" y="3874770"/>
            <a:ext cx="787781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" name="组合 3">
            <a:extLst>
              <a:ext uri="{FF2B5EF4-FFF2-40B4-BE49-F238E27FC236}">
                <a16:creationId xmlns:a16="http://schemas.microsoft.com/office/drawing/2014/main" id="{3D2A1CF4-D4C2-EBE0-D45B-FDD0DE19520C}"/>
              </a:ext>
            </a:extLst>
          </p:cNvPr>
          <p:cNvGrpSpPr/>
          <p:nvPr/>
        </p:nvGrpSpPr>
        <p:grpSpPr>
          <a:xfrm>
            <a:off x="0" y="-17780"/>
            <a:ext cx="1593850" cy="6095365"/>
            <a:chOff x="0" y="-17780"/>
            <a:chExt cx="1593850" cy="6095365"/>
          </a:xfrm>
        </p:grpSpPr>
        <p:sp>
          <p:nvSpPr>
            <p:cNvPr id="24" name="等腰三角形 23">
              <a:extLst>
                <a:ext uri="{FF2B5EF4-FFF2-40B4-BE49-F238E27FC236}">
                  <a16:creationId xmlns:a16="http://schemas.microsoft.com/office/drawing/2014/main" id="{0E821FAF-CA88-FFB8-6EF6-B6838E7F2AFB}"/>
                </a:ext>
              </a:extLst>
            </p:cNvPr>
            <p:cNvSpPr/>
            <p:nvPr/>
          </p:nvSpPr>
          <p:spPr>
            <a:xfrm rot="10800000">
              <a:off x="0" y="-17780"/>
              <a:ext cx="1593850" cy="1210945"/>
            </a:xfrm>
            <a:prstGeom prst="triangle">
              <a:avLst/>
            </a:prstGeom>
            <a:solidFill>
              <a:schemeClr val="tx2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33" name="直接连接符 32">
              <a:extLst>
                <a:ext uri="{FF2B5EF4-FFF2-40B4-BE49-F238E27FC236}">
                  <a16:creationId xmlns:a16="http://schemas.microsoft.com/office/drawing/2014/main" id="{2A65AC81-AB4D-F92F-52FB-D46D163DBDA1}"/>
                </a:ext>
              </a:extLst>
            </p:cNvPr>
            <p:cNvCxnSpPr/>
            <p:nvPr/>
          </p:nvCxnSpPr>
          <p:spPr>
            <a:xfrm>
              <a:off x="200025" y="2540"/>
              <a:ext cx="0" cy="6075045"/>
            </a:xfrm>
            <a:prstGeom prst="line">
              <a:avLst/>
            </a:prstGeom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直接连接符 33">
              <a:extLst>
                <a:ext uri="{FF2B5EF4-FFF2-40B4-BE49-F238E27FC236}">
                  <a16:creationId xmlns:a16="http://schemas.microsoft.com/office/drawing/2014/main" id="{CB12682F-1B45-E84F-788A-16C71AF092C3}"/>
                </a:ext>
              </a:extLst>
            </p:cNvPr>
            <p:cNvCxnSpPr/>
            <p:nvPr/>
          </p:nvCxnSpPr>
          <p:spPr>
            <a:xfrm>
              <a:off x="409575" y="348615"/>
              <a:ext cx="0" cy="4763135"/>
            </a:xfrm>
            <a:prstGeom prst="line">
              <a:avLst/>
            </a:prstGeom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直接连接符 36">
              <a:extLst>
                <a:ext uri="{FF2B5EF4-FFF2-40B4-BE49-F238E27FC236}">
                  <a16:creationId xmlns:a16="http://schemas.microsoft.com/office/drawing/2014/main" id="{951C68F1-067C-FCE5-0699-49B764CDBC68}"/>
                </a:ext>
              </a:extLst>
            </p:cNvPr>
            <p:cNvCxnSpPr/>
            <p:nvPr/>
          </p:nvCxnSpPr>
          <p:spPr>
            <a:xfrm>
              <a:off x="628015" y="576580"/>
              <a:ext cx="0" cy="3105150"/>
            </a:xfrm>
            <a:prstGeom prst="line">
              <a:avLst/>
            </a:prstGeom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" name="组合 4">
            <a:extLst>
              <a:ext uri="{FF2B5EF4-FFF2-40B4-BE49-F238E27FC236}">
                <a16:creationId xmlns:a16="http://schemas.microsoft.com/office/drawing/2014/main" id="{45E217B4-2B81-F26C-E383-A009995C52B4}"/>
              </a:ext>
            </a:extLst>
          </p:cNvPr>
          <p:cNvGrpSpPr/>
          <p:nvPr/>
        </p:nvGrpSpPr>
        <p:grpSpPr>
          <a:xfrm flipH="1">
            <a:off x="10598150" y="0"/>
            <a:ext cx="1593850" cy="6095365"/>
            <a:chOff x="0" y="-17780"/>
            <a:chExt cx="1593850" cy="6095365"/>
          </a:xfrm>
        </p:grpSpPr>
        <p:sp>
          <p:nvSpPr>
            <p:cNvPr id="6" name="等腰三角形 5">
              <a:extLst>
                <a:ext uri="{FF2B5EF4-FFF2-40B4-BE49-F238E27FC236}">
                  <a16:creationId xmlns:a16="http://schemas.microsoft.com/office/drawing/2014/main" id="{58961870-BAB5-336F-FBF6-987439C279F8}"/>
                </a:ext>
              </a:extLst>
            </p:cNvPr>
            <p:cNvSpPr/>
            <p:nvPr/>
          </p:nvSpPr>
          <p:spPr>
            <a:xfrm rot="10800000">
              <a:off x="0" y="-17780"/>
              <a:ext cx="1593850" cy="1210945"/>
            </a:xfrm>
            <a:prstGeom prst="triangle">
              <a:avLst/>
            </a:prstGeom>
            <a:solidFill>
              <a:schemeClr val="tx2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7" name="直接连接符 6">
              <a:extLst>
                <a:ext uri="{FF2B5EF4-FFF2-40B4-BE49-F238E27FC236}">
                  <a16:creationId xmlns:a16="http://schemas.microsoft.com/office/drawing/2014/main" id="{470B7823-8666-B924-9F8A-A36D66F56B07}"/>
                </a:ext>
              </a:extLst>
            </p:cNvPr>
            <p:cNvCxnSpPr/>
            <p:nvPr/>
          </p:nvCxnSpPr>
          <p:spPr>
            <a:xfrm>
              <a:off x="200025" y="2540"/>
              <a:ext cx="0" cy="6075045"/>
            </a:xfrm>
            <a:prstGeom prst="line">
              <a:avLst/>
            </a:prstGeom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直接连接符 7">
              <a:extLst>
                <a:ext uri="{FF2B5EF4-FFF2-40B4-BE49-F238E27FC236}">
                  <a16:creationId xmlns:a16="http://schemas.microsoft.com/office/drawing/2014/main" id="{14B67B9D-EC9E-1ED1-BCAC-5E109731AF3A}"/>
                </a:ext>
              </a:extLst>
            </p:cNvPr>
            <p:cNvCxnSpPr/>
            <p:nvPr/>
          </p:nvCxnSpPr>
          <p:spPr>
            <a:xfrm>
              <a:off x="409575" y="348615"/>
              <a:ext cx="0" cy="4763135"/>
            </a:xfrm>
            <a:prstGeom prst="line">
              <a:avLst/>
            </a:prstGeom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直接连接符 8">
              <a:extLst>
                <a:ext uri="{FF2B5EF4-FFF2-40B4-BE49-F238E27FC236}">
                  <a16:creationId xmlns:a16="http://schemas.microsoft.com/office/drawing/2014/main" id="{3C39D7B2-007E-B164-9E3B-253B5A48F0C9}"/>
                </a:ext>
              </a:extLst>
            </p:cNvPr>
            <p:cNvCxnSpPr/>
            <p:nvPr/>
          </p:nvCxnSpPr>
          <p:spPr>
            <a:xfrm>
              <a:off x="628015" y="576580"/>
              <a:ext cx="0" cy="3105150"/>
            </a:xfrm>
            <a:prstGeom prst="line">
              <a:avLst/>
            </a:prstGeom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custDataLst>
      <p:tags r:id="rId1"/>
    </p:custDataLst>
    <p:extLst>
      <p:ext uri="{BB962C8B-B14F-4D97-AF65-F5344CB8AC3E}">
        <p14:creationId xmlns:p14="http://schemas.microsoft.com/office/powerpoint/2010/main" val="339961477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4A7752-E5F9-26C9-0385-C470BB1289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组合 1">
            <a:extLst>
              <a:ext uri="{FF2B5EF4-FFF2-40B4-BE49-F238E27FC236}">
                <a16:creationId xmlns:a16="http://schemas.microsoft.com/office/drawing/2014/main" id="{04DB3843-DC6F-76CB-D33F-512CB66A9BBF}"/>
              </a:ext>
            </a:extLst>
          </p:cNvPr>
          <p:cNvGrpSpPr/>
          <p:nvPr/>
        </p:nvGrpSpPr>
        <p:grpSpPr>
          <a:xfrm>
            <a:off x="-12700" y="-13335"/>
            <a:ext cx="3607955" cy="874395"/>
            <a:chOff x="-12700" y="-13335"/>
            <a:chExt cx="3607955" cy="874395"/>
          </a:xfrm>
        </p:grpSpPr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25CCD595-0A85-38CD-793B-603E25E4B7C1}"/>
                </a:ext>
              </a:extLst>
            </p:cNvPr>
            <p:cNvSpPr/>
            <p:nvPr/>
          </p:nvSpPr>
          <p:spPr>
            <a:xfrm>
              <a:off x="-12700" y="784860"/>
              <a:ext cx="3607955" cy="45719"/>
            </a:xfrm>
            <a:prstGeom prst="rect">
              <a:avLst/>
            </a:prstGeom>
            <a:solidFill>
              <a:schemeClr val="tx2">
                <a:lumMod val="75000"/>
                <a:lumOff val="2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" name="矩形 7">
              <a:extLst>
                <a:ext uri="{FF2B5EF4-FFF2-40B4-BE49-F238E27FC236}">
                  <a16:creationId xmlns:a16="http://schemas.microsoft.com/office/drawing/2014/main" id="{46485ED3-0B03-EB5C-FD7B-A07E1BF7516D}"/>
                </a:ext>
              </a:extLst>
            </p:cNvPr>
            <p:cNvSpPr/>
            <p:nvPr/>
          </p:nvSpPr>
          <p:spPr>
            <a:xfrm>
              <a:off x="-12700" y="-13335"/>
              <a:ext cx="874395" cy="874395"/>
            </a:xfrm>
            <a:prstGeom prst="rect">
              <a:avLst/>
            </a:prstGeom>
            <a:solidFill>
              <a:schemeClr val="tx2">
                <a:lumMod val="75000"/>
                <a:lumOff val="2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4800">
                  <a:latin typeface="微软雅黑" panose="020B0503020204020204" pitchFamily="34" charset="-122"/>
                  <a:ea typeface="微软雅黑" panose="020B0503020204020204" pitchFamily="34" charset="-122"/>
                </a:rPr>
                <a:t>5</a:t>
              </a:r>
            </a:p>
          </p:txBody>
        </p:sp>
        <p:sp>
          <p:nvSpPr>
            <p:cNvPr id="10" name="文本框 9">
              <a:extLst>
                <a:ext uri="{FF2B5EF4-FFF2-40B4-BE49-F238E27FC236}">
                  <a16:creationId xmlns:a16="http://schemas.microsoft.com/office/drawing/2014/main" id="{62DCE38A-595D-8E3A-40C0-917FD17DE6F7}"/>
                </a:ext>
              </a:extLst>
            </p:cNvPr>
            <p:cNvSpPr txBox="1"/>
            <p:nvPr/>
          </p:nvSpPr>
          <p:spPr>
            <a:xfrm>
              <a:off x="861695" y="0"/>
              <a:ext cx="2733560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4800" b="1">
                  <a:solidFill>
                    <a:schemeClr val="tx2">
                      <a:lumMod val="75000"/>
                      <a:lumOff val="25000"/>
                    </a:schemeClr>
                  </a:solidFill>
                  <a:latin typeface="华文中宋" panose="02010600040101010101" pitchFamily="2" charset="-122"/>
                  <a:ea typeface="华文中宋" panose="02010600040101010101" pitchFamily="2" charset="-122"/>
                </a:rPr>
                <a:t>小组分工</a:t>
              </a:r>
            </a:p>
          </p:txBody>
        </p:sp>
      </p:grpSp>
      <p:grpSp>
        <p:nvGrpSpPr>
          <p:cNvPr id="5" name="组合 4">
            <a:extLst>
              <a:ext uri="{FF2B5EF4-FFF2-40B4-BE49-F238E27FC236}">
                <a16:creationId xmlns:a16="http://schemas.microsoft.com/office/drawing/2014/main" id="{C353EAF8-F4AB-A17C-EE11-F6D60DF509FB}"/>
              </a:ext>
            </a:extLst>
          </p:cNvPr>
          <p:cNvGrpSpPr/>
          <p:nvPr/>
        </p:nvGrpSpPr>
        <p:grpSpPr>
          <a:xfrm>
            <a:off x="861695" y="1495734"/>
            <a:ext cx="3170758" cy="5054395"/>
            <a:chOff x="424497" y="1495734"/>
            <a:chExt cx="3170758" cy="5054395"/>
          </a:xfrm>
        </p:grpSpPr>
        <p:grpSp>
          <p:nvGrpSpPr>
            <p:cNvPr id="3" name="组合 2">
              <a:extLst>
                <a:ext uri="{FF2B5EF4-FFF2-40B4-BE49-F238E27FC236}">
                  <a16:creationId xmlns:a16="http://schemas.microsoft.com/office/drawing/2014/main" id="{5703818D-FEC9-2327-D95E-0BBF4FEBFE77}"/>
                </a:ext>
              </a:extLst>
            </p:cNvPr>
            <p:cNvGrpSpPr/>
            <p:nvPr/>
          </p:nvGrpSpPr>
          <p:grpSpPr>
            <a:xfrm>
              <a:off x="424497" y="1495734"/>
              <a:ext cx="3170758" cy="5054395"/>
              <a:chOff x="921804" y="1836109"/>
              <a:chExt cx="3170758" cy="5054395"/>
            </a:xfrm>
          </p:grpSpPr>
          <p:grpSp>
            <p:nvGrpSpPr>
              <p:cNvPr id="4" name="组合 3">
                <a:extLst>
                  <a:ext uri="{FF2B5EF4-FFF2-40B4-BE49-F238E27FC236}">
                    <a16:creationId xmlns:a16="http://schemas.microsoft.com/office/drawing/2014/main" id="{258850A2-DD5A-E184-F2D7-DDAED7922455}"/>
                  </a:ext>
                </a:extLst>
              </p:cNvPr>
              <p:cNvGrpSpPr/>
              <p:nvPr/>
            </p:nvGrpSpPr>
            <p:grpSpPr>
              <a:xfrm>
                <a:off x="921804" y="2196745"/>
                <a:ext cx="3170758" cy="4693759"/>
                <a:chOff x="545627" y="2017338"/>
                <a:chExt cx="3170758" cy="4693759"/>
              </a:xfrm>
            </p:grpSpPr>
            <p:sp>
              <p:nvSpPr>
                <p:cNvPr id="12" name="矩形: 圆角 11">
                  <a:extLst>
                    <a:ext uri="{FF2B5EF4-FFF2-40B4-BE49-F238E27FC236}">
                      <a16:creationId xmlns:a16="http://schemas.microsoft.com/office/drawing/2014/main" id="{D01ED9BD-8746-DC4B-4F71-F7CD18EE9B03}"/>
                    </a:ext>
                  </a:extLst>
                </p:cNvPr>
                <p:cNvSpPr/>
                <p:nvPr/>
              </p:nvSpPr>
              <p:spPr>
                <a:xfrm>
                  <a:off x="545627" y="2017338"/>
                  <a:ext cx="3170758" cy="4693759"/>
                </a:xfrm>
                <a:prstGeom prst="roundRect">
                  <a:avLst>
                    <a:gd name="adj" fmla="val 7517"/>
                  </a:avLst>
                </a:prstGeom>
                <a:solidFill>
                  <a:srgbClr val="D9D9D9"/>
                </a:solidFill>
                <a:ln w="19050">
                  <a:solidFill>
                    <a:srgbClr val="324273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13" name="文本框 12">
                  <a:extLst>
                    <a:ext uri="{FF2B5EF4-FFF2-40B4-BE49-F238E27FC236}">
                      <a16:creationId xmlns:a16="http://schemas.microsoft.com/office/drawing/2014/main" id="{CC39E615-5B9C-BE30-6E34-8C0B2F4AEA12}"/>
                    </a:ext>
                  </a:extLst>
                </p:cNvPr>
                <p:cNvSpPr txBox="1"/>
                <p:nvPr/>
              </p:nvSpPr>
              <p:spPr>
                <a:xfrm>
                  <a:off x="1052985" y="3991668"/>
                  <a:ext cx="2505395" cy="504562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>
                  <a:defPPr>
                    <a:defRPr lang="zh-CN"/>
                  </a:defPPr>
                  <a:lvl1pPr algn="ctr">
                    <a:defRPr sz="2800" b="1">
                      <a:solidFill>
                        <a:srgbClr val="324273"/>
                      </a:solidFill>
                      <a:latin typeface="Consolas" panose="020B0609020204030204" pitchFamily="49" charset="0"/>
                      <a:ea typeface="华文中宋" panose="02010600040101010101" pitchFamily="2" charset="-122"/>
                    </a:defRPr>
                  </a:lvl1pPr>
                </a:lstStyle>
                <a:p>
                  <a:pPr algn="just">
                    <a:lnSpc>
                      <a:spcPct val="150000"/>
                    </a:lnSpc>
                  </a:pPr>
                  <a:endParaRPr lang="zh-CN" altLang="en-US" sz="2000" b="0"/>
                </a:p>
              </p:txBody>
            </p:sp>
          </p:grpSp>
          <p:grpSp>
            <p:nvGrpSpPr>
              <p:cNvPr id="7" name="组合 6">
                <a:extLst>
                  <a:ext uri="{FF2B5EF4-FFF2-40B4-BE49-F238E27FC236}">
                    <a16:creationId xmlns:a16="http://schemas.microsoft.com/office/drawing/2014/main" id="{97802201-2AA4-FA7F-F3F1-0602E81AB75E}"/>
                  </a:ext>
                </a:extLst>
              </p:cNvPr>
              <p:cNvGrpSpPr/>
              <p:nvPr/>
            </p:nvGrpSpPr>
            <p:grpSpPr>
              <a:xfrm>
                <a:off x="1442130" y="1836109"/>
                <a:ext cx="2130105" cy="780559"/>
                <a:chOff x="-1972008" y="1609179"/>
                <a:chExt cx="2130105" cy="780559"/>
              </a:xfrm>
            </p:grpSpPr>
            <p:sp>
              <p:nvSpPr>
                <p:cNvPr id="9" name="矩形: 圆角 8">
                  <a:extLst>
                    <a:ext uri="{FF2B5EF4-FFF2-40B4-BE49-F238E27FC236}">
                      <a16:creationId xmlns:a16="http://schemas.microsoft.com/office/drawing/2014/main" id="{90AECAA9-2C2F-E222-B9C0-FA02E701AA17}"/>
                    </a:ext>
                  </a:extLst>
                </p:cNvPr>
                <p:cNvSpPr/>
                <p:nvPr/>
              </p:nvSpPr>
              <p:spPr>
                <a:xfrm>
                  <a:off x="-1972008" y="1609179"/>
                  <a:ext cx="2130105" cy="780559"/>
                </a:xfrm>
                <a:prstGeom prst="roundRect">
                  <a:avLst/>
                </a:prstGeom>
                <a:solidFill>
                  <a:srgbClr val="324273"/>
                </a:solidFill>
                <a:ln w="19050">
                  <a:solidFill>
                    <a:srgbClr val="324273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11" name="文本框 10">
                  <a:extLst>
                    <a:ext uri="{FF2B5EF4-FFF2-40B4-BE49-F238E27FC236}">
                      <a16:creationId xmlns:a16="http://schemas.microsoft.com/office/drawing/2014/main" id="{59C4E6D0-EBC3-963F-2523-2B586F56DEB3}"/>
                    </a:ext>
                  </a:extLst>
                </p:cNvPr>
                <p:cNvSpPr txBox="1"/>
                <p:nvPr/>
              </p:nvSpPr>
              <p:spPr>
                <a:xfrm>
                  <a:off x="-1972008" y="1645935"/>
                  <a:ext cx="2130105" cy="707886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:r>
                    <a:rPr lang="zh-CN" altLang="en-US" sz="2400">
                      <a:solidFill>
                        <a:schemeClr val="bg1"/>
                      </a:solidFill>
                      <a:latin typeface="Consolas" panose="020B0609020204030204" pitchFamily="49" charset="0"/>
                      <a:ea typeface="华文中宋" panose="02010600040101010101" pitchFamily="2" charset="-122"/>
                    </a:rPr>
                    <a:t>谢雨航</a:t>
                  </a:r>
                  <a:endParaRPr lang="en-US" altLang="zh-CN" sz="2400">
                    <a:solidFill>
                      <a:schemeClr val="bg1"/>
                    </a:solidFill>
                    <a:latin typeface="Consolas" panose="020B0609020204030204" pitchFamily="49" charset="0"/>
                    <a:ea typeface="华文中宋" panose="02010600040101010101" pitchFamily="2" charset="-122"/>
                  </a:endParaRPr>
                </a:p>
                <a:p>
                  <a:pPr algn="ctr"/>
                  <a:r>
                    <a:rPr lang="zh-CN" altLang="en-US" sz="1600">
                      <a:solidFill>
                        <a:schemeClr val="bg1"/>
                      </a:solidFill>
                      <a:latin typeface="Consolas" panose="020B0609020204030204" pitchFamily="49" charset="0"/>
                      <a:ea typeface="华文中宋" panose="02010600040101010101" pitchFamily="2" charset="-122"/>
                    </a:rPr>
                    <a:t>学号：</a:t>
                  </a:r>
                  <a:r>
                    <a:rPr lang="en-US" altLang="zh-CN" sz="1600">
                      <a:solidFill>
                        <a:schemeClr val="bg1"/>
                      </a:solidFill>
                      <a:latin typeface="Consolas" panose="020B0609020204030204" pitchFamily="49" charset="0"/>
                      <a:ea typeface="华文中宋" panose="02010600040101010101" pitchFamily="2" charset="-122"/>
                    </a:rPr>
                    <a:t>3023244222</a:t>
                  </a:r>
                  <a:endParaRPr lang="zh-CN" altLang="en-US" sz="1600">
                    <a:solidFill>
                      <a:schemeClr val="bg1"/>
                    </a:solidFill>
                    <a:latin typeface="Consolas" panose="020B0609020204030204" pitchFamily="49" charset="0"/>
                    <a:ea typeface="华文中宋" panose="02010600040101010101" pitchFamily="2" charset="-122"/>
                  </a:endParaRPr>
                </a:p>
              </p:txBody>
            </p:sp>
          </p:grpSp>
        </p:grpSp>
        <p:sp>
          <p:nvSpPr>
            <p:cNvPr id="15" name="文本框 14">
              <a:extLst>
                <a:ext uri="{FF2B5EF4-FFF2-40B4-BE49-F238E27FC236}">
                  <a16:creationId xmlns:a16="http://schemas.microsoft.com/office/drawing/2014/main" id="{2D57FE67-316B-2E24-7AE8-A709D9613FAF}"/>
                </a:ext>
              </a:extLst>
            </p:cNvPr>
            <p:cNvSpPr txBox="1"/>
            <p:nvPr/>
          </p:nvSpPr>
          <p:spPr>
            <a:xfrm>
              <a:off x="533400" y="2698532"/>
              <a:ext cx="2903850" cy="327346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342900" indent="-342900" algn="just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zh-CN" altLang="en-US" sz="2000">
                  <a:solidFill>
                    <a:srgbClr val="324273"/>
                  </a:solidFill>
                  <a:latin typeface="Consolas" panose="020B0609020204030204" pitchFamily="49" charset="0"/>
                  <a:ea typeface="华文中宋" panose="02010600040101010101" pitchFamily="2" charset="-122"/>
                </a:rPr>
                <a:t>组长，负责项目的基础框架、工作分配与时间规划。</a:t>
              </a:r>
              <a:endParaRPr lang="en-US" altLang="zh-CN" sz="2000">
                <a:solidFill>
                  <a:srgbClr val="324273"/>
                </a:solidFill>
                <a:latin typeface="Consolas" panose="020B0609020204030204" pitchFamily="49" charset="0"/>
                <a:ea typeface="华文中宋" panose="02010600040101010101" pitchFamily="2" charset="-122"/>
              </a:endParaRPr>
            </a:p>
            <a:p>
              <a:pPr marL="342900" indent="-342900" algn="just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zh-CN" altLang="en-US" sz="2000">
                  <a:solidFill>
                    <a:srgbClr val="324273"/>
                  </a:solidFill>
                  <a:latin typeface="Consolas" panose="020B0609020204030204" pitchFamily="49" charset="0"/>
                  <a:ea typeface="华文中宋" panose="02010600040101010101" pitchFamily="2" charset="-122"/>
                </a:rPr>
                <a:t>整理了一部分数据集。</a:t>
              </a:r>
              <a:endParaRPr lang="en-US" altLang="zh-CN" sz="2000">
                <a:solidFill>
                  <a:srgbClr val="324273"/>
                </a:solidFill>
                <a:latin typeface="Consolas" panose="020B0609020204030204" pitchFamily="49" charset="0"/>
                <a:ea typeface="华文中宋" panose="02010600040101010101" pitchFamily="2" charset="-122"/>
              </a:endParaRPr>
            </a:p>
            <a:p>
              <a:pPr marL="342900" indent="-342900" algn="just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zh-CN" altLang="en-US" sz="2000">
                  <a:solidFill>
                    <a:srgbClr val="324273"/>
                  </a:solidFill>
                  <a:latin typeface="Consolas" panose="020B0609020204030204" pitchFamily="49" charset="0"/>
                  <a:ea typeface="华文中宋" panose="02010600040101010101" pitchFamily="2" charset="-122"/>
                </a:rPr>
                <a:t>编写了全部算法代码。</a:t>
              </a:r>
              <a:endParaRPr lang="en-US" altLang="zh-CN" sz="2000">
                <a:solidFill>
                  <a:srgbClr val="324273"/>
                </a:solidFill>
                <a:latin typeface="Consolas" panose="020B0609020204030204" pitchFamily="49" charset="0"/>
                <a:ea typeface="华文中宋" panose="02010600040101010101" pitchFamily="2" charset="-122"/>
              </a:endParaRPr>
            </a:p>
            <a:p>
              <a:pPr marL="342900" indent="-342900" algn="just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zh-CN" altLang="en-US" sz="2000">
                  <a:solidFill>
                    <a:srgbClr val="324273"/>
                  </a:solidFill>
                  <a:latin typeface="Consolas" panose="020B0609020204030204" pitchFamily="49" charset="0"/>
                  <a:ea typeface="华文中宋" panose="02010600040101010101" pitchFamily="2" charset="-122"/>
                </a:rPr>
                <a:t>编写了</a:t>
              </a:r>
              <a:r>
                <a:rPr lang="en-US" altLang="zh-CN" sz="2000">
                  <a:solidFill>
                    <a:srgbClr val="324273"/>
                  </a:solidFill>
                  <a:latin typeface="Consolas" panose="020B0609020204030204" pitchFamily="49" charset="0"/>
                  <a:ea typeface="华文中宋" panose="02010600040101010101" pitchFamily="2" charset="-122"/>
                </a:rPr>
                <a:t>shell</a:t>
              </a:r>
              <a:r>
                <a:rPr lang="zh-CN" altLang="en-US" sz="2000">
                  <a:solidFill>
                    <a:srgbClr val="324273"/>
                  </a:solidFill>
                  <a:latin typeface="Consolas" panose="020B0609020204030204" pitchFamily="49" charset="0"/>
                  <a:ea typeface="华文中宋" panose="02010600040101010101" pitchFamily="2" charset="-122"/>
                </a:rPr>
                <a:t>脚本。</a:t>
              </a:r>
              <a:endParaRPr lang="en-US" altLang="zh-CN" sz="2000">
                <a:solidFill>
                  <a:srgbClr val="324273"/>
                </a:solidFill>
                <a:latin typeface="Consolas" panose="020B0609020204030204" pitchFamily="49" charset="0"/>
                <a:ea typeface="华文中宋" panose="02010600040101010101" pitchFamily="2" charset="-122"/>
              </a:endParaRPr>
            </a:p>
            <a:p>
              <a:pPr marL="342900" indent="-342900" algn="just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US" altLang="zh-CN" sz="2000">
                  <a:solidFill>
                    <a:srgbClr val="324273"/>
                  </a:solidFill>
                  <a:latin typeface="Consolas" panose="020B0609020204030204" pitchFamily="49" charset="0"/>
                  <a:ea typeface="华文中宋" panose="02010600040101010101" pitchFamily="2" charset="-122"/>
                </a:rPr>
                <a:t>PPT</a:t>
              </a:r>
              <a:r>
                <a:rPr lang="zh-CN" altLang="en-US" sz="2000">
                  <a:solidFill>
                    <a:srgbClr val="324273"/>
                  </a:solidFill>
                  <a:latin typeface="Consolas" panose="020B0609020204030204" pitchFamily="49" charset="0"/>
                  <a:ea typeface="华文中宋" panose="02010600040101010101" pitchFamily="2" charset="-122"/>
                </a:rPr>
                <a:t>制作与视频录制。</a:t>
              </a:r>
            </a:p>
          </p:txBody>
        </p:sp>
      </p:grpSp>
      <p:grpSp>
        <p:nvGrpSpPr>
          <p:cNvPr id="16" name="组合 15">
            <a:extLst>
              <a:ext uri="{FF2B5EF4-FFF2-40B4-BE49-F238E27FC236}">
                <a16:creationId xmlns:a16="http://schemas.microsoft.com/office/drawing/2014/main" id="{69124827-17A8-4150-3684-327DD0511E94}"/>
              </a:ext>
            </a:extLst>
          </p:cNvPr>
          <p:cNvGrpSpPr/>
          <p:nvPr/>
        </p:nvGrpSpPr>
        <p:grpSpPr>
          <a:xfrm>
            <a:off x="4510621" y="1495734"/>
            <a:ext cx="3170758" cy="5054395"/>
            <a:chOff x="424497" y="1495734"/>
            <a:chExt cx="3170758" cy="5054395"/>
          </a:xfrm>
        </p:grpSpPr>
        <p:grpSp>
          <p:nvGrpSpPr>
            <p:cNvPr id="17" name="组合 16">
              <a:extLst>
                <a:ext uri="{FF2B5EF4-FFF2-40B4-BE49-F238E27FC236}">
                  <a16:creationId xmlns:a16="http://schemas.microsoft.com/office/drawing/2014/main" id="{4828136F-419C-DC7D-0FC5-71FDAA8EC76B}"/>
                </a:ext>
              </a:extLst>
            </p:cNvPr>
            <p:cNvGrpSpPr/>
            <p:nvPr/>
          </p:nvGrpSpPr>
          <p:grpSpPr>
            <a:xfrm>
              <a:off x="424497" y="1495734"/>
              <a:ext cx="3170758" cy="5054395"/>
              <a:chOff x="921804" y="1836109"/>
              <a:chExt cx="3170758" cy="5054395"/>
            </a:xfrm>
          </p:grpSpPr>
          <p:grpSp>
            <p:nvGrpSpPr>
              <p:cNvPr id="19" name="组合 18">
                <a:extLst>
                  <a:ext uri="{FF2B5EF4-FFF2-40B4-BE49-F238E27FC236}">
                    <a16:creationId xmlns:a16="http://schemas.microsoft.com/office/drawing/2014/main" id="{17A0E047-98F0-4FE4-1596-9535E9CDE6DB}"/>
                  </a:ext>
                </a:extLst>
              </p:cNvPr>
              <p:cNvGrpSpPr/>
              <p:nvPr/>
            </p:nvGrpSpPr>
            <p:grpSpPr>
              <a:xfrm>
                <a:off x="921804" y="2196745"/>
                <a:ext cx="3170758" cy="4693759"/>
                <a:chOff x="545627" y="2017338"/>
                <a:chExt cx="3170758" cy="4693759"/>
              </a:xfrm>
            </p:grpSpPr>
            <p:sp>
              <p:nvSpPr>
                <p:cNvPr id="23" name="矩形: 圆角 22">
                  <a:extLst>
                    <a:ext uri="{FF2B5EF4-FFF2-40B4-BE49-F238E27FC236}">
                      <a16:creationId xmlns:a16="http://schemas.microsoft.com/office/drawing/2014/main" id="{C6912C9C-1E92-B14C-C7A5-1DD4B0EE720E}"/>
                    </a:ext>
                  </a:extLst>
                </p:cNvPr>
                <p:cNvSpPr/>
                <p:nvPr/>
              </p:nvSpPr>
              <p:spPr>
                <a:xfrm>
                  <a:off x="545627" y="2017338"/>
                  <a:ext cx="3170758" cy="4693759"/>
                </a:xfrm>
                <a:prstGeom prst="roundRect">
                  <a:avLst>
                    <a:gd name="adj" fmla="val 7517"/>
                  </a:avLst>
                </a:prstGeom>
                <a:solidFill>
                  <a:srgbClr val="D9D9D9"/>
                </a:solidFill>
                <a:ln w="19050">
                  <a:solidFill>
                    <a:srgbClr val="324273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24" name="文本框 23">
                  <a:extLst>
                    <a:ext uri="{FF2B5EF4-FFF2-40B4-BE49-F238E27FC236}">
                      <a16:creationId xmlns:a16="http://schemas.microsoft.com/office/drawing/2014/main" id="{B4463FB9-9EFF-0AB3-EE3B-AC51A1B17E6E}"/>
                    </a:ext>
                  </a:extLst>
                </p:cNvPr>
                <p:cNvSpPr txBox="1"/>
                <p:nvPr/>
              </p:nvSpPr>
              <p:spPr>
                <a:xfrm>
                  <a:off x="1052985" y="3991668"/>
                  <a:ext cx="2505395" cy="504562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>
                  <a:defPPr>
                    <a:defRPr lang="zh-CN"/>
                  </a:defPPr>
                  <a:lvl1pPr algn="ctr">
                    <a:defRPr sz="2800" b="1">
                      <a:solidFill>
                        <a:srgbClr val="324273"/>
                      </a:solidFill>
                      <a:latin typeface="Consolas" panose="020B0609020204030204" pitchFamily="49" charset="0"/>
                      <a:ea typeface="华文中宋" panose="02010600040101010101" pitchFamily="2" charset="-122"/>
                    </a:defRPr>
                  </a:lvl1pPr>
                </a:lstStyle>
                <a:p>
                  <a:pPr algn="just">
                    <a:lnSpc>
                      <a:spcPct val="150000"/>
                    </a:lnSpc>
                  </a:pPr>
                  <a:endParaRPr lang="zh-CN" altLang="en-US" sz="2000" b="0"/>
                </a:p>
              </p:txBody>
            </p:sp>
          </p:grpSp>
          <p:grpSp>
            <p:nvGrpSpPr>
              <p:cNvPr id="20" name="组合 19">
                <a:extLst>
                  <a:ext uri="{FF2B5EF4-FFF2-40B4-BE49-F238E27FC236}">
                    <a16:creationId xmlns:a16="http://schemas.microsoft.com/office/drawing/2014/main" id="{FA9DE3C3-ED55-DED2-3BC2-1C2B0A5591F0}"/>
                  </a:ext>
                </a:extLst>
              </p:cNvPr>
              <p:cNvGrpSpPr/>
              <p:nvPr/>
            </p:nvGrpSpPr>
            <p:grpSpPr>
              <a:xfrm>
                <a:off x="1442130" y="1836109"/>
                <a:ext cx="2130105" cy="780559"/>
                <a:chOff x="-1972008" y="1609179"/>
                <a:chExt cx="2130105" cy="780559"/>
              </a:xfrm>
            </p:grpSpPr>
            <p:sp>
              <p:nvSpPr>
                <p:cNvPr id="21" name="矩形: 圆角 20">
                  <a:extLst>
                    <a:ext uri="{FF2B5EF4-FFF2-40B4-BE49-F238E27FC236}">
                      <a16:creationId xmlns:a16="http://schemas.microsoft.com/office/drawing/2014/main" id="{AF1819B5-9DFF-F68E-D53A-536D593303AF}"/>
                    </a:ext>
                  </a:extLst>
                </p:cNvPr>
                <p:cNvSpPr/>
                <p:nvPr/>
              </p:nvSpPr>
              <p:spPr>
                <a:xfrm>
                  <a:off x="-1972008" y="1609179"/>
                  <a:ext cx="2130105" cy="780559"/>
                </a:xfrm>
                <a:prstGeom prst="roundRect">
                  <a:avLst/>
                </a:prstGeom>
                <a:solidFill>
                  <a:srgbClr val="324273"/>
                </a:solidFill>
                <a:ln w="19050">
                  <a:solidFill>
                    <a:srgbClr val="324273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22" name="文本框 21">
                  <a:extLst>
                    <a:ext uri="{FF2B5EF4-FFF2-40B4-BE49-F238E27FC236}">
                      <a16:creationId xmlns:a16="http://schemas.microsoft.com/office/drawing/2014/main" id="{CA26595C-6A30-E6D2-752E-AAE7F37A80F0}"/>
                    </a:ext>
                  </a:extLst>
                </p:cNvPr>
                <p:cNvSpPr txBox="1"/>
                <p:nvPr/>
              </p:nvSpPr>
              <p:spPr>
                <a:xfrm>
                  <a:off x="-1972008" y="1645935"/>
                  <a:ext cx="2130105" cy="707886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:r>
                    <a:rPr lang="zh-CN" altLang="en-US" sz="2400">
                      <a:solidFill>
                        <a:schemeClr val="bg1"/>
                      </a:solidFill>
                      <a:latin typeface="Consolas" panose="020B0609020204030204" pitchFamily="49" charset="0"/>
                      <a:ea typeface="华文中宋" panose="02010600040101010101" pitchFamily="2" charset="-122"/>
                    </a:rPr>
                    <a:t>陈添硕</a:t>
                  </a:r>
                  <a:endParaRPr lang="en-US" altLang="zh-CN" sz="2400">
                    <a:solidFill>
                      <a:schemeClr val="bg1"/>
                    </a:solidFill>
                    <a:latin typeface="Consolas" panose="020B0609020204030204" pitchFamily="49" charset="0"/>
                    <a:ea typeface="华文中宋" panose="02010600040101010101" pitchFamily="2" charset="-122"/>
                  </a:endParaRPr>
                </a:p>
                <a:p>
                  <a:pPr algn="ctr"/>
                  <a:r>
                    <a:rPr lang="zh-CN" altLang="en-US" sz="1600">
                      <a:solidFill>
                        <a:schemeClr val="bg1"/>
                      </a:solidFill>
                      <a:latin typeface="Consolas" panose="020B0609020204030204" pitchFamily="49" charset="0"/>
                      <a:ea typeface="华文中宋" panose="02010600040101010101" pitchFamily="2" charset="-122"/>
                    </a:rPr>
                    <a:t>学号：</a:t>
                  </a:r>
                  <a:r>
                    <a:rPr lang="en-US" altLang="zh-CN" sz="1600">
                      <a:solidFill>
                        <a:schemeClr val="bg1"/>
                      </a:solidFill>
                      <a:latin typeface="Consolas" panose="020B0609020204030204" pitchFamily="49" charset="0"/>
                      <a:ea typeface="华文中宋" panose="02010600040101010101" pitchFamily="2" charset="-122"/>
                    </a:rPr>
                    <a:t>3023244225</a:t>
                  </a:r>
                  <a:endParaRPr lang="zh-CN" altLang="en-US" sz="1600">
                    <a:solidFill>
                      <a:schemeClr val="bg1"/>
                    </a:solidFill>
                    <a:latin typeface="Consolas" panose="020B0609020204030204" pitchFamily="49" charset="0"/>
                    <a:ea typeface="华文中宋" panose="02010600040101010101" pitchFamily="2" charset="-122"/>
                  </a:endParaRPr>
                </a:p>
              </p:txBody>
            </p:sp>
          </p:grpSp>
        </p:grpSp>
        <p:sp>
          <p:nvSpPr>
            <p:cNvPr id="18" name="文本框 17">
              <a:extLst>
                <a:ext uri="{FF2B5EF4-FFF2-40B4-BE49-F238E27FC236}">
                  <a16:creationId xmlns:a16="http://schemas.microsoft.com/office/drawing/2014/main" id="{E1BA1A08-88D2-D5FC-20A3-8E5060FEC2A3}"/>
                </a:ext>
              </a:extLst>
            </p:cNvPr>
            <p:cNvSpPr txBox="1"/>
            <p:nvPr/>
          </p:nvSpPr>
          <p:spPr>
            <a:xfrm>
              <a:off x="543533" y="2698532"/>
              <a:ext cx="2932684" cy="188846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342900" indent="-342900" algn="just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zh-CN" altLang="en-US" sz="2000">
                  <a:solidFill>
                    <a:srgbClr val="324273"/>
                  </a:solidFill>
                  <a:latin typeface="Consolas" panose="020B0609020204030204" pitchFamily="49" charset="0"/>
                  <a:ea typeface="华文中宋" panose="02010600040101010101" pitchFamily="2" charset="-122"/>
                </a:rPr>
                <a:t>整理了大部分数据集。</a:t>
              </a:r>
              <a:endParaRPr lang="en-US" altLang="zh-CN" sz="2000">
                <a:solidFill>
                  <a:srgbClr val="324273"/>
                </a:solidFill>
                <a:latin typeface="Consolas" panose="020B0609020204030204" pitchFamily="49" charset="0"/>
                <a:ea typeface="华文中宋" panose="02010600040101010101" pitchFamily="2" charset="-122"/>
              </a:endParaRPr>
            </a:p>
            <a:p>
              <a:pPr marL="342900" indent="-342900" algn="just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zh-CN" altLang="en-US" sz="2000">
                  <a:solidFill>
                    <a:srgbClr val="324273"/>
                  </a:solidFill>
                  <a:latin typeface="Consolas" panose="020B0609020204030204" pitchFamily="49" charset="0"/>
                  <a:ea typeface="华文中宋" panose="02010600040101010101" pitchFamily="2" charset="-122"/>
                </a:rPr>
                <a:t>项目提交文件的格式化整理。</a:t>
              </a:r>
              <a:endParaRPr lang="en-US" altLang="zh-CN" sz="2000">
                <a:solidFill>
                  <a:srgbClr val="324273"/>
                </a:solidFill>
                <a:latin typeface="Consolas" panose="020B0609020204030204" pitchFamily="49" charset="0"/>
                <a:ea typeface="华文中宋" panose="02010600040101010101" pitchFamily="2" charset="-122"/>
              </a:endParaRPr>
            </a:p>
            <a:p>
              <a:pPr marL="342900" indent="-342900" algn="just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zh-CN" altLang="en-US" sz="2000">
                  <a:solidFill>
                    <a:srgbClr val="324273"/>
                  </a:solidFill>
                  <a:latin typeface="Consolas" panose="020B0609020204030204" pitchFamily="49" charset="0"/>
                  <a:ea typeface="华文中宋" panose="02010600040101010101" pitchFamily="2" charset="-122"/>
                </a:rPr>
                <a:t>实验报告的撰写。</a:t>
              </a:r>
            </a:p>
          </p:txBody>
        </p:sp>
      </p:grpSp>
      <p:grpSp>
        <p:nvGrpSpPr>
          <p:cNvPr id="25" name="组合 24">
            <a:extLst>
              <a:ext uri="{FF2B5EF4-FFF2-40B4-BE49-F238E27FC236}">
                <a16:creationId xmlns:a16="http://schemas.microsoft.com/office/drawing/2014/main" id="{C0FB713A-D236-B47E-94F3-2AF957F7B7A8}"/>
              </a:ext>
            </a:extLst>
          </p:cNvPr>
          <p:cNvGrpSpPr/>
          <p:nvPr/>
        </p:nvGrpSpPr>
        <p:grpSpPr>
          <a:xfrm>
            <a:off x="8159547" y="1483674"/>
            <a:ext cx="3170758" cy="5054395"/>
            <a:chOff x="424497" y="1495734"/>
            <a:chExt cx="3170758" cy="5054395"/>
          </a:xfrm>
        </p:grpSpPr>
        <p:grpSp>
          <p:nvGrpSpPr>
            <p:cNvPr id="26" name="组合 25">
              <a:extLst>
                <a:ext uri="{FF2B5EF4-FFF2-40B4-BE49-F238E27FC236}">
                  <a16:creationId xmlns:a16="http://schemas.microsoft.com/office/drawing/2014/main" id="{2595FB8C-67B1-2DC8-7DE5-4538A9AEAFE6}"/>
                </a:ext>
              </a:extLst>
            </p:cNvPr>
            <p:cNvGrpSpPr/>
            <p:nvPr/>
          </p:nvGrpSpPr>
          <p:grpSpPr>
            <a:xfrm>
              <a:off x="424497" y="1495734"/>
              <a:ext cx="3170758" cy="5054395"/>
              <a:chOff x="921804" y="1836109"/>
              <a:chExt cx="3170758" cy="5054395"/>
            </a:xfrm>
          </p:grpSpPr>
          <p:grpSp>
            <p:nvGrpSpPr>
              <p:cNvPr id="28" name="组合 27">
                <a:extLst>
                  <a:ext uri="{FF2B5EF4-FFF2-40B4-BE49-F238E27FC236}">
                    <a16:creationId xmlns:a16="http://schemas.microsoft.com/office/drawing/2014/main" id="{6DF19ADD-6261-68AA-BEA5-996B23E4649D}"/>
                  </a:ext>
                </a:extLst>
              </p:cNvPr>
              <p:cNvGrpSpPr/>
              <p:nvPr/>
            </p:nvGrpSpPr>
            <p:grpSpPr>
              <a:xfrm>
                <a:off x="921804" y="2196745"/>
                <a:ext cx="3170758" cy="4693759"/>
                <a:chOff x="545627" y="2017338"/>
                <a:chExt cx="3170758" cy="4693759"/>
              </a:xfrm>
            </p:grpSpPr>
            <p:sp>
              <p:nvSpPr>
                <p:cNvPr id="32" name="矩形: 圆角 31">
                  <a:extLst>
                    <a:ext uri="{FF2B5EF4-FFF2-40B4-BE49-F238E27FC236}">
                      <a16:creationId xmlns:a16="http://schemas.microsoft.com/office/drawing/2014/main" id="{22D4CCFE-18F9-3623-A810-B8DFA4C71BFD}"/>
                    </a:ext>
                  </a:extLst>
                </p:cNvPr>
                <p:cNvSpPr/>
                <p:nvPr/>
              </p:nvSpPr>
              <p:spPr>
                <a:xfrm>
                  <a:off x="545627" y="2017338"/>
                  <a:ext cx="3170758" cy="4693759"/>
                </a:xfrm>
                <a:prstGeom prst="roundRect">
                  <a:avLst>
                    <a:gd name="adj" fmla="val 7517"/>
                  </a:avLst>
                </a:prstGeom>
                <a:solidFill>
                  <a:srgbClr val="D9D9D9"/>
                </a:solidFill>
                <a:ln w="19050">
                  <a:solidFill>
                    <a:srgbClr val="324273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33" name="文本框 32">
                  <a:extLst>
                    <a:ext uri="{FF2B5EF4-FFF2-40B4-BE49-F238E27FC236}">
                      <a16:creationId xmlns:a16="http://schemas.microsoft.com/office/drawing/2014/main" id="{DF5D30AF-9F3D-7AA3-9D23-E19255C94EE8}"/>
                    </a:ext>
                  </a:extLst>
                </p:cNvPr>
                <p:cNvSpPr txBox="1"/>
                <p:nvPr/>
              </p:nvSpPr>
              <p:spPr>
                <a:xfrm>
                  <a:off x="1052985" y="3991668"/>
                  <a:ext cx="2505395" cy="504562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>
                  <a:defPPr>
                    <a:defRPr lang="zh-CN"/>
                  </a:defPPr>
                  <a:lvl1pPr algn="ctr">
                    <a:defRPr sz="2800" b="1">
                      <a:solidFill>
                        <a:srgbClr val="324273"/>
                      </a:solidFill>
                      <a:latin typeface="Consolas" panose="020B0609020204030204" pitchFamily="49" charset="0"/>
                      <a:ea typeface="华文中宋" panose="02010600040101010101" pitchFamily="2" charset="-122"/>
                    </a:defRPr>
                  </a:lvl1pPr>
                </a:lstStyle>
                <a:p>
                  <a:pPr algn="just">
                    <a:lnSpc>
                      <a:spcPct val="150000"/>
                    </a:lnSpc>
                  </a:pPr>
                  <a:endParaRPr lang="zh-CN" altLang="en-US" sz="2000" b="0"/>
                </a:p>
              </p:txBody>
            </p:sp>
          </p:grpSp>
          <p:grpSp>
            <p:nvGrpSpPr>
              <p:cNvPr id="29" name="组合 28">
                <a:extLst>
                  <a:ext uri="{FF2B5EF4-FFF2-40B4-BE49-F238E27FC236}">
                    <a16:creationId xmlns:a16="http://schemas.microsoft.com/office/drawing/2014/main" id="{226290D6-BDF4-4072-C0BD-AC3FEF039336}"/>
                  </a:ext>
                </a:extLst>
              </p:cNvPr>
              <p:cNvGrpSpPr/>
              <p:nvPr/>
            </p:nvGrpSpPr>
            <p:grpSpPr>
              <a:xfrm>
                <a:off x="1442130" y="1836109"/>
                <a:ext cx="2130105" cy="780559"/>
                <a:chOff x="-1972008" y="1609179"/>
                <a:chExt cx="2130105" cy="780559"/>
              </a:xfrm>
            </p:grpSpPr>
            <p:sp>
              <p:nvSpPr>
                <p:cNvPr id="30" name="矩形: 圆角 29">
                  <a:extLst>
                    <a:ext uri="{FF2B5EF4-FFF2-40B4-BE49-F238E27FC236}">
                      <a16:creationId xmlns:a16="http://schemas.microsoft.com/office/drawing/2014/main" id="{76A29987-B543-7DB3-F3C5-9745820AA2DA}"/>
                    </a:ext>
                  </a:extLst>
                </p:cNvPr>
                <p:cNvSpPr/>
                <p:nvPr/>
              </p:nvSpPr>
              <p:spPr>
                <a:xfrm>
                  <a:off x="-1972008" y="1609179"/>
                  <a:ext cx="2130105" cy="780559"/>
                </a:xfrm>
                <a:prstGeom prst="roundRect">
                  <a:avLst/>
                </a:prstGeom>
                <a:solidFill>
                  <a:srgbClr val="324273"/>
                </a:solidFill>
                <a:ln w="19050">
                  <a:solidFill>
                    <a:srgbClr val="324273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31" name="文本框 30">
                  <a:extLst>
                    <a:ext uri="{FF2B5EF4-FFF2-40B4-BE49-F238E27FC236}">
                      <a16:creationId xmlns:a16="http://schemas.microsoft.com/office/drawing/2014/main" id="{4A80270E-74DB-4683-BC8C-1A4479734764}"/>
                    </a:ext>
                  </a:extLst>
                </p:cNvPr>
                <p:cNvSpPr txBox="1"/>
                <p:nvPr/>
              </p:nvSpPr>
              <p:spPr>
                <a:xfrm>
                  <a:off x="-1972008" y="1645935"/>
                  <a:ext cx="2130105" cy="707886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:r>
                    <a:rPr lang="zh-CN" altLang="en-US" sz="2400">
                      <a:solidFill>
                        <a:schemeClr val="bg1"/>
                      </a:solidFill>
                      <a:latin typeface="Consolas" panose="020B0609020204030204" pitchFamily="49" charset="0"/>
                      <a:ea typeface="华文中宋" panose="02010600040101010101" pitchFamily="2" charset="-122"/>
                    </a:rPr>
                    <a:t>许英帅</a:t>
                  </a:r>
                  <a:endParaRPr lang="en-US" altLang="zh-CN" sz="2400">
                    <a:solidFill>
                      <a:schemeClr val="bg1"/>
                    </a:solidFill>
                    <a:latin typeface="Consolas" panose="020B0609020204030204" pitchFamily="49" charset="0"/>
                    <a:ea typeface="华文中宋" panose="02010600040101010101" pitchFamily="2" charset="-122"/>
                  </a:endParaRPr>
                </a:p>
                <a:p>
                  <a:pPr algn="ctr"/>
                  <a:r>
                    <a:rPr lang="zh-CN" altLang="en-US" sz="1600">
                      <a:solidFill>
                        <a:schemeClr val="bg1"/>
                      </a:solidFill>
                      <a:latin typeface="Consolas" panose="020B0609020204030204" pitchFamily="49" charset="0"/>
                      <a:ea typeface="华文中宋" panose="02010600040101010101" pitchFamily="2" charset="-122"/>
                    </a:rPr>
                    <a:t>学号：</a:t>
                  </a:r>
                  <a:r>
                    <a:rPr lang="en-US" altLang="zh-CN" sz="1600">
                      <a:solidFill>
                        <a:schemeClr val="bg1"/>
                      </a:solidFill>
                      <a:latin typeface="Consolas" panose="020B0609020204030204" pitchFamily="49" charset="0"/>
                      <a:ea typeface="华文中宋" panose="02010600040101010101" pitchFamily="2" charset="-122"/>
                    </a:rPr>
                    <a:t>3023244221</a:t>
                  </a:r>
                  <a:endParaRPr lang="zh-CN" altLang="en-US" sz="1600">
                    <a:solidFill>
                      <a:schemeClr val="bg1"/>
                    </a:solidFill>
                    <a:latin typeface="Consolas" panose="020B0609020204030204" pitchFamily="49" charset="0"/>
                    <a:ea typeface="华文中宋" panose="02010600040101010101" pitchFamily="2" charset="-122"/>
                  </a:endParaRPr>
                </a:p>
              </p:txBody>
            </p:sp>
          </p:grpSp>
        </p:grpSp>
        <p:sp>
          <p:nvSpPr>
            <p:cNvPr id="27" name="文本框 26">
              <a:extLst>
                <a:ext uri="{FF2B5EF4-FFF2-40B4-BE49-F238E27FC236}">
                  <a16:creationId xmlns:a16="http://schemas.microsoft.com/office/drawing/2014/main" id="{B32A5B0C-C011-D9B8-5766-4D6246D4CD9B}"/>
                </a:ext>
              </a:extLst>
            </p:cNvPr>
            <p:cNvSpPr txBox="1"/>
            <p:nvPr/>
          </p:nvSpPr>
          <p:spPr>
            <a:xfrm>
              <a:off x="541682" y="2710592"/>
              <a:ext cx="2936385" cy="188846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342900" indent="-342900" algn="just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zh-CN" altLang="en-US" sz="2000">
                  <a:solidFill>
                    <a:srgbClr val="324273"/>
                  </a:solidFill>
                  <a:latin typeface="Consolas" panose="020B0609020204030204" pitchFamily="49" charset="0"/>
                  <a:ea typeface="华文中宋" panose="02010600040101010101" pitchFamily="2" charset="-122"/>
                </a:rPr>
                <a:t>整理了一部分数据集。</a:t>
              </a:r>
              <a:endParaRPr lang="en-US" altLang="zh-CN" sz="2000">
                <a:solidFill>
                  <a:srgbClr val="324273"/>
                </a:solidFill>
                <a:latin typeface="Consolas" panose="020B0609020204030204" pitchFamily="49" charset="0"/>
                <a:ea typeface="华文中宋" panose="02010600040101010101" pitchFamily="2" charset="-122"/>
              </a:endParaRPr>
            </a:p>
            <a:p>
              <a:pPr marL="342900" indent="-342900" algn="just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zh-CN" altLang="en-US" sz="2000">
                  <a:solidFill>
                    <a:srgbClr val="324273"/>
                  </a:solidFill>
                  <a:latin typeface="Consolas" panose="020B0609020204030204" pitchFamily="49" charset="0"/>
                  <a:ea typeface="华文中宋" panose="02010600040101010101" pitchFamily="2" charset="-122"/>
                </a:rPr>
                <a:t>记录输出文件，比较分析不同算法的性能差异。</a:t>
              </a:r>
            </a:p>
          </p:txBody>
        </p:sp>
      </p:grpSp>
    </p:spTree>
    <p:custDataLst>
      <p:tags r:id="rId1"/>
    </p:custDataLst>
    <p:extLst>
      <p:ext uri="{BB962C8B-B14F-4D97-AF65-F5344CB8AC3E}">
        <p14:creationId xmlns:p14="http://schemas.microsoft.com/office/powerpoint/2010/main" val="653720336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等腰三角形 27"/>
          <p:cNvSpPr/>
          <p:nvPr/>
        </p:nvSpPr>
        <p:spPr>
          <a:xfrm rot="8220000">
            <a:off x="1287780" y="1140460"/>
            <a:ext cx="548005" cy="428625"/>
          </a:xfrm>
          <a:prstGeom prst="triangle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等腰三角形 19"/>
          <p:cNvSpPr/>
          <p:nvPr/>
        </p:nvSpPr>
        <p:spPr>
          <a:xfrm rot="11520000">
            <a:off x="151765" y="1094105"/>
            <a:ext cx="548005" cy="344805"/>
          </a:xfrm>
          <a:prstGeom prst="triangle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矩形 4"/>
          <p:cNvSpPr/>
          <p:nvPr/>
        </p:nvSpPr>
        <p:spPr>
          <a:xfrm>
            <a:off x="2238467" y="5841427"/>
            <a:ext cx="8642708" cy="182245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矩形 5"/>
          <p:cNvSpPr/>
          <p:nvPr/>
        </p:nvSpPr>
        <p:spPr>
          <a:xfrm>
            <a:off x="2916802" y="2537779"/>
            <a:ext cx="6419591" cy="2943745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文本框 6"/>
          <p:cNvSpPr txBox="1"/>
          <p:nvPr/>
        </p:nvSpPr>
        <p:spPr>
          <a:xfrm>
            <a:off x="2680120" y="3032147"/>
            <a:ext cx="6885594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6000" b="1">
                <a:solidFill>
                  <a:schemeClr val="bg1"/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感谢观看</a:t>
            </a:r>
            <a:endParaRPr lang="en-US" altLang="zh-CN" sz="6000" b="1">
              <a:solidFill>
                <a:schemeClr val="bg1"/>
              </a:solidFill>
              <a:latin typeface="华文中宋" panose="02010600040101010101" pitchFamily="2" charset="-122"/>
              <a:ea typeface="华文中宋" panose="02010600040101010101" pitchFamily="2" charset="-122"/>
            </a:endParaRPr>
          </a:p>
          <a:p>
            <a:pPr algn="ctr"/>
            <a:r>
              <a:rPr lang="zh-CN" altLang="en-US" sz="6000" b="1">
                <a:solidFill>
                  <a:schemeClr val="bg1"/>
                </a:solidFill>
                <a:latin typeface="华文中宋" panose="02010600040101010101" pitchFamily="2" charset="-122"/>
                <a:ea typeface="华文中宋" panose="02010600040101010101" pitchFamily="2" charset="-122"/>
              </a:rPr>
              <a:t>敬请老师批评指正</a:t>
            </a:r>
          </a:p>
        </p:txBody>
      </p:sp>
      <p:sp>
        <p:nvSpPr>
          <p:cNvPr id="8" name="矩形 7"/>
          <p:cNvSpPr/>
          <p:nvPr/>
        </p:nvSpPr>
        <p:spPr>
          <a:xfrm>
            <a:off x="-191770" y="0"/>
            <a:ext cx="13449935" cy="339725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等腰三角形 8"/>
          <p:cNvSpPr/>
          <p:nvPr/>
        </p:nvSpPr>
        <p:spPr>
          <a:xfrm rot="780000">
            <a:off x="295275" y="26035"/>
            <a:ext cx="1268095" cy="1176655"/>
          </a:xfrm>
          <a:prstGeom prst="triangle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" name="矩形 12"/>
          <p:cNvSpPr/>
          <p:nvPr/>
        </p:nvSpPr>
        <p:spPr>
          <a:xfrm>
            <a:off x="1834240" y="1979616"/>
            <a:ext cx="8153316" cy="182244"/>
          </a:xfrm>
          <a:prstGeom prst="rect">
            <a:avLst/>
          </a:prstGeom>
          <a:solidFill>
            <a:schemeClr val="bg1">
              <a:alpha val="8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6" name="直接连接符 15"/>
          <p:cNvCxnSpPr/>
          <p:nvPr/>
        </p:nvCxnSpPr>
        <p:spPr>
          <a:xfrm flipH="1">
            <a:off x="-366395" y="-129540"/>
            <a:ext cx="1074420" cy="1024255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接连接符 16"/>
          <p:cNvCxnSpPr/>
          <p:nvPr/>
        </p:nvCxnSpPr>
        <p:spPr>
          <a:xfrm flipH="1">
            <a:off x="-71120" y="-129540"/>
            <a:ext cx="993775" cy="1003935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等腰三角形 17"/>
          <p:cNvSpPr/>
          <p:nvPr/>
        </p:nvSpPr>
        <p:spPr>
          <a:xfrm rot="20100000">
            <a:off x="654685" y="644525"/>
            <a:ext cx="548005" cy="471170"/>
          </a:xfrm>
          <a:prstGeom prst="triangle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" name="等腰三角形 18"/>
          <p:cNvSpPr/>
          <p:nvPr/>
        </p:nvSpPr>
        <p:spPr>
          <a:xfrm rot="4560000">
            <a:off x="866140" y="1127125"/>
            <a:ext cx="548005" cy="549275"/>
          </a:xfrm>
          <a:prstGeom prst="triangle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" name="等腰三角形 20"/>
          <p:cNvSpPr/>
          <p:nvPr/>
        </p:nvSpPr>
        <p:spPr>
          <a:xfrm rot="19380000">
            <a:off x="1017270" y="105410"/>
            <a:ext cx="791210" cy="962660"/>
          </a:xfrm>
          <a:prstGeom prst="triangle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" name="等腰三角形 21"/>
          <p:cNvSpPr/>
          <p:nvPr/>
        </p:nvSpPr>
        <p:spPr>
          <a:xfrm rot="20700000">
            <a:off x="1250950" y="502920"/>
            <a:ext cx="548005" cy="344805"/>
          </a:xfrm>
          <a:prstGeom prst="triangle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" name="等腰三角形 22"/>
          <p:cNvSpPr/>
          <p:nvPr/>
        </p:nvSpPr>
        <p:spPr>
          <a:xfrm rot="8400000">
            <a:off x="1769110" y="836295"/>
            <a:ext cx="386080" cy="418465"/>
          </a:xfrm>
          <a:prstGeom prst="triangle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矩形 3"/>
          <p:cNvSpPr/>
          <p:nvPr/>
        </p:nvSpPr>
        <p:spPr>
          <a:xfrm>
            <a:off x="2238467" y="1459232"/>
            <a:ext cx="323053" cy="4564440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custDataLst>
      <p:tags r:id="rId1"/>
    </p:custData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EMPLATE_THUMBS_INDEX" val="1、4、7、12、13、14、15、16、17、18、20、24、25、28、33、36、40、43、44"/>
  <p:tag name="KSO_WM_TEMPLATE_SUBCATEGORY" val="19"/>
  <p:tag name="KSO_WM_TAG_VERSION" val="1.0"/>
  <p:tag name="KSO_WM_BEAUTIFY_FLAG" val="#wm#"/>
  <p:tag name="KSO_WM_TEMPLATE_CATEGORY" val="custom"/>
  <p:tag name="KSO_WM_TEMPLATE_INDEX" val="20205081"/>
  <p:tag name="KSO_WM_TEMPLATE_MASTER_TYPE" val="0"/>
  <p:tag name="KSO_WM_TEMPLATE_COLOR_TYPE" val="1"/>
  <p:tag name="KSO_WM_UNIT_SHOW_EDIT_AREA_INDICATION" val="1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05081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05081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05081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05081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05081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05081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05081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05081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05081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05081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05081"/>
</p:tagLst>
</file>

<file path=ppt/tags/tag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05081"/>
</p:tagLst>
</file>

<file path=ppt/tags/tag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05081"/>
</p:tagLst>
</file>

<file path=ppt/theme/theme1.xml><?xml version="1.0" encoding="utf-8"?>
<a:theme xmlns:a="http://schemas.openxmlformats.org/drawingml/2006/main" name="Office 主题​​">
  <a:themeElements>
    <a:clrScheme name="新版空白演示配色">
      <a:dk1>
        <a:srgbClr val="000000"/>
      </a:dk1>
      <a:lt1>
        <a:srgbClr val="FFFFFF"/>
      </a:lt1>
      <a:dk2>
        <a:srgbClr val="0F1423"/>
      </a:dk2>
      <a:lt2>
        <a:srgbClr val="FFFFFF"/>
      </a:lt2>
      <a:accent1>
        <a:srgbClr val="6096E6"/>
      </a:accent1>
      <a:accent2>
        <a:srgbClr val="58B6E5"/>
      </a:accent2>
      <a:accent3>
        <a:srgbClr val="56CA95"/>
      </a:accent3>
      <a:accent4>
        <a:srgbClr val="FFBA55"/>
      </a:accent4>
      <a:accent5>
        <a:srgbClr val="F18870"/>
      </a:accent5>
      <a:accent6>
        <a:srgbClr val="EC5F74"/>
      </a:accent6>
      <a:hlink>
        <a:srgbClr val="0563C1"/>
      </a:hlink>
      <a:folHlink>
        <a:srgbClr val="954D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413</TotalTime>
  <Words>3053</Words>
  <Application>Microsoft Office PowerPoint</Application>
  <PresentationFormat>宽屏</PresentationFormat>
  <Paragraphs>535</Paragraphs>
  <Slides>31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31</vt:i4>
      </vt:variant>
    </vt:vector>
  </HeadingPairs>
  <TitlesOfParts>
    <vt:vector size="39" baseType="lpstr">
      <vt:lpstr>华文中宋</vt:lpstr>
      <vt:lpstr>微软雅黑</vt:lpstr>
      <vt:lpstr>Arial</vt:lpstr>
      <vt:lpstr>Calibri</vt:lpstr>
      <vt:lpstr>Consolas</vt:lpstr>
      <vt:lpstr>Fira Code Medium</vt:lpstr>
      <vt:lpstr>Wingdings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空白演示</dc:title>
  <dc:creator/>
  <cp:lastModifiedBy>Linkin Florenz</cp:lastModifiedBy>
  <cp:revision>209</cp:revision>
  <dcterms:created xsi:type="dcterms:W3CDTF">2019-06-19T02:08:00Z</dcterms:created>
  <dcterms:modified xsi:type="dcterms:W3CDTF">2025-06-03T04:05:19Z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2052-11.1.0.10495</vt:lpwstr>
  </property>
  <property fmtid="{D5CDD505-2E9C-101B-9397-08002B2CF9AE}" pid="3" name="ICV">
    <vt:lpwstr>FA201EB6352946E5B532584391D68877</vt:lpwstr>
  </property>
</Properties>
</file>